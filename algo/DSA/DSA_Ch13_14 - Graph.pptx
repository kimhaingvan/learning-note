
<file path=[Content_Types].xml><?xml version="1.0" encoding="utf-8"?>
<Types xmlns="http://schemas.openxmlformats.org/package/2006/content-types">
  <Default Extension="tmp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6"/>
  </p:notes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41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</p:sldIdLst>
  <p:sldSz cx="9144000" cy="6858000" type="screen4x3"/>
  <p:notesSz cx="7315200" cy="9601200"/>
  <p:custDataLst>
    <p:tags r:id="rId8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430" y="4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C67E5797-45B6-4CB8-82C5-74DC3F37C0FB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482C2C12-8C99-48BA-8293-4F93DA01C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731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2C2C12-8C99-48BA-8293-4F93DA01CFC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10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94A2A-44A6-4BA1-9A8A-DD886876E48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A2AD-05E8-4B4A-BA39-838C58508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382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94A2A-44A6-4BA1-9A8A-DD886876E48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A2AD-05E8-4B4A-BA39-838C58508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437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94A2A-44A6-4BA1-9A8A-DD886876E48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A2AD-05E8-4B4A-BA39-838C58508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31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94A2A-44A6-4BA1-9A8A-DD886876E48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A2AD-05E8-4B4A-BA39-838C58508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522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94A2A-44A6-4BA1-9A8A-DD886876E48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A2AD-05E8-4B4A-BA39-838C58508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19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94A2A-44A6-4BA1-9A8A-DD886876E48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A2AD-05E8-4B4A-BA39-838C58508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5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94A2A-44A6-4BA1-9A8A-DD886876E48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A2AD-05E8-4B4A-BA39-838C58508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32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94A2A-44A6-4BA1-9A8A-DD886876E48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A2AD-05E8-4B4A-BA39-838C58508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8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94A2A-44A6-4BA1-9A8A-DD886876E48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A2AD-05E8-4B4A-BA39-838C58508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40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94A2A-44A6-4BA1-9A8A-DD886876E48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A2AD-05E8-4B4A-BA39-838C58508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7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94A2A-44A6-4BA1-9A8A-DD886876E48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A2AD-05E8-4B4A-BA39-838C58508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907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94A2A-44A6-4BA1-9A8A-DD886876E48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6A2AD-05E8-4B4A-BA39-838C58508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40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tmp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tmp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tmp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tmp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tmp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tmp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tmp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tmp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tmp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tmp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tmp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tmp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tmp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tmp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tmp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tmp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tmp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tmp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tmp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tmp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tmp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tmp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tmp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gif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gif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tmp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tmp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tmp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tmp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tmp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tmp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tmp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tmp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tmp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tmp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tmp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tmp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tmp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tmp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tmp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tmp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tmp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tmp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tmp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tmp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tmp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tm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05100" y="279400"/>
            <a:ext cx="4140236" cy="92333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 dirty="0">
                <a:solidFill>
                  <a:srgbClr val="FF0000"/>
                </a:solidFill>
                <a:latin typeface="Calibri"/>
              </a:rPr>
              <a:t>Chapter 11 - Graph </a:t>
            </a:r>
          </a:p>
          <a:p>
            <a:pPr>
              <a:lnSpc>
                <a:spcPts val="3600"/>
              </a:lnSpc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4300" y="1155700"/>
            <a:ext cx="8858194" cy="170578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defTabSz="914400" eaLnBrk="1" fontAlgn="auto" latinLnBrk="0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42900" algn="l"/>
              </a:tabLst>
              <a:defRPr/>
            </a:pPr>
            <a:r>
              <a:rPr lang="en-US" dirty="0">
                <a:latin typeface="Arial"/>
                <a:cs typeface="Arial"/>
              </a:rPr>
              <a:t>•</a:t>
            </a:r>
            <a:r>
              <a:rPr lang="en-US" sz="2422" dirty="0">
                <a:solidFill>
                  <a:srgbClr val="000000"/>
                </a:solidFill>
                <a:latin typeface="Arial"/>
                <a:cs typeface="Arial"/>
              </a:rPr>
              <a:t> A </a:t>
            </a:r>
            <a:r>
              <a:rPr lang="en-US" sz="2422" dirty="0">
                <a:solidFill>
                  <a:srgbClr val="4742C4"/>
                </a:solidFill>
                <a:latin typeface="Arial"/>
                <a:cs typeface="Arial"/>
              </a:rPr>
              <a:t>Graph</a:t>
            </a:r>
            <a:r>
              <a:rPr lang="en-US" sz="2422" dirty="0">
                <a:solidFill>
                  <a:srgbClr val="000000"/>
                </a:solidFill>
                <a:latin typeface="Arial"/>
                <a:cs typeface="Arial"/>
              </a:rPr>
              <a:t> G consists of a set V, whose members are called the </a:t>
            </a:r>
            <a:br>
              <a:rPr lang="en-US" sz="2422" dirty="0">
                <a:solidFill>
                  <a:srgbClr val="4742C4"/>
                </a:solidFill>
                <a:latin typeface="Arial"/>
                <a:cs typeface="Arial"/>
              </a:rPr>
            </a:br>
            <a:r>
              <a:rPr lang="en-US" sz="2422" dirty="0">
                <a:solidFill>
                  <a:srgbClr val="4742C4"/>
                </a:solidFill>
                <a:latin typeface="Arial"/>
                <a:cs typeface="Arial"/>
              </a:rPr>
              <a:t>	vertices</a:t>
            </a:r>
            <a:r>
              <a:rPr lang="en-US" sz="2422" dirty="0">
                <a:solidFill>
                  <a:srgbClr val="000000"/>
                </a:solidFill>
                <a:latin typeface="Arial"/>
                <a:cs typeface="Arial"/>
              </a:rPr>
              <a:t> of G, together with a set E of pairs of distinct vertices </a:t>
            </a:r>
            <a:br>
              <a:rPr lang="en-US" sz="2422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US" sz="2422" dirty="0">
                <a:solidFill>
                  <a:srgbClr val="000000"/>
                </a:solidFill>
                <a:latin typeface="Arial"/>
                <a:cs typeface="Arial"/>
              </a:rPr>
              <a:t>	from V. </a:t>
            </a:r>
          </a:p>
          <a:p>
            <a:pPr marL="0" marR="0" lvl="0" defTabSz="914400" eaLnBrk="1" fontAlgn="auto" latinLnBrk="0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42900" algn="l"/>
              </a:tabLst>
              <a:defRPr/>
            </a:pPr>
            <a:endParaRPr lang="en-US" sz="2422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" y="2844800"/>
            <a:ext cx="5904630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dirty="0">
                <a:latin typeface="Arial"/>
                <a:cs typeface="Arial"/>
              </a:rPr>
              <a:t>•</a:t>
            </a:r>
            <a:r>
              <a:rPr lang="en-US" sz="2422" dirty="0">
                <a:solidFill>
                  <a:srgbClr val="000000"/>
                </a:solidFill>
                <a:latin typeface="Arial"/>
                <a:cs typeface="Arial"/>
              </a:rPr>
              <a:t>  The pairs in E are called the </a:t>
            </a:r>
            <a:r>
              <a:rPr lang="en-US" sz="2422" dirty="0">
                <a:solidFill>
                  <a:srgbClr val="4742C4"/>
                </a:solidFill>
                <a:latin typeface="Arial"/>
                <a:cs typeface="Arial"/>
              </a:rPr>
              <a:t>edges</a:t>
            </a:r>
            <a:r>
              <a:rPr lang="en-US" sz="2422" dirty="0">
                <a:solidFill>
                  <a:srgbClr val="000000"/>
                </a:solidFill>
                <a:latin typeface="Arial"/>
                <a:cs typeface="Arial"/>
              </a:rPr>
              <a:t> of G. </a:t>
            </a:r>
          </a:p>
          <a:p>
            <a:pPr>
              <a:lnSpc>
                <a:spcPts val="2700"/>
              </a:lnSpc>
            </a:pPr>
            <a:endParaRPr lang="en-US" sz="2422" dirty="0">
              <a:solidFill>
                <a:srgbClr val="4742C4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" y="3505200"/>
            <a:ext cx="8856592" cy="130503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defTabSz="914400" eaLnBrk="1" fontAlgn="auto" latinLnBrk="0" hangingPunct="1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42900" algn="l"/>
              </a:tabLst>
              <a:defRPr/>
            </a:pPr>
            <a:r>
              <a:rPr lang="en-US" dirty="0">
                <a:latin typeface="Arial"/>
                <a:cs typeface="Arial"/>
              </a:rPr>
              <a:t>•</a:t>
            </a:r>
            <a:r>
              <a:rPr lang="en-US" sz="2424" dirty="0">
                <a:solidFill>
                  <a:srgbClr val="000000"/>
                </a:solidFill>
                <a:latin typeface="Arial"/>
                <a:cs typeface="Arial"/>
              </a:rPr>
              <a:t> If the pairs are unordered, G is called an </a:t>
            </a:r>
            <a:r>
              <a:rPr lang="en-US" sz="2424" i="1" dirty="0">
                <a:solidFill>
                  <a:srgbClr val="4742C4"/>
                </a:solidFill>
                <a:latin typeface="Arial"/>
                <a:cs typeface="Arial"/>
              </a:rPr>
              <a:t>undirected graph </a:t>
            </a:r>
            <a:r>
              <a:rPr lang="en-US" sz="2424" dirty="0">
                <a:solidFill>
                  <a:srgbClr val="000000"/>
                </a:solidFill>
                <a:latin typeface="Arial"/>
                <a:cs typeface="Arial"/>
              </a:rPr>
              <a:t>or a </a:t>
            </a:r>
            <a:br>
              <a:rPr lang="en-US" sz="2422" i="1" dirty="0">
                <a:solidFill>
                  <a:srgbClr val="4742C4"/>
                </a:solidFill>
                <a:latin typeface="Arial"/>
                <a:cs typeface="Arial"/>
              </a:rPr>
            </a:br>
            <a:r>
              <a:rPr lang="en-US" sz="2422" i="1" dirty="0">
                <a:solidFill>
                  <a:srgbClr val="4742C4"/>
                </a:solidFill>
                <a:latin typeface="Arial"/>
                <a:cs typeface="Arial"/>
              </a:rPr>
              <a:t>	graph</a:t>
            </a:r>
            <a:r>
              <a:rPr lang="en-US" sz="2422" dirty="0">
                <a:solidFill>
                  <a:srgbClr val="000000"/>
                </a:solidFill>
                <a:latin typeface="Arial"/>
                <a:cs typeface="Arial"/>
              </a:rPr>
              <a:t>. Otherwise, G is called a </a:t>
            </a:r>
            <a:r>
              <a:rPr lang="en-US" sz="2422" i="1" dirty="0">
                <a:solidFill>
                  <a:srgbClr val="4742C4"/>
                </a:solidFill>
                <a:latin typeface="Arial"/>
                <a:cs typeface="Arial"/>
              </a:rPr>
              <a:t>directed graph or</a:t>
            </a:r>
            <a:r>
              <a:rPr lang="en-US" sz="2422" dirty="0">
                <a:solidFill>
                  <a:srgbClr val="000000"/>
                </a:solidFill>
                <a:latin typeface="Arial"/>
                <a:cs typeface="Arial"/>
              </a:rPr>
              <a:t> a </a:t>
            </a:r>
            <a:r>
              <a:rPr lang="en-US" sz="2422" i="1" dirty="0">
                <a:solidFill>
                  <a:srgbClr val="4742C4"/>
                </a:solidFill>
                <a:latin typeface="Arial"/>
                <a:cs typeface="Arial"/>
              </a:rPr>
              <a:t>digraph</a:t>
            </a:r>
            <a:r>
              <a:rPr lang="en-US" sz="2422" dirty="0">
                <a:solidFill>
                  <a:srgbClr val="000000"/>
                </a:solidFill>
                <a:latin typeface="Arial"/>
                <a:cs typeface="Arial"/>
              </a:rPr>
              <a:t>. </a:t>
            </a:r>
          </a:p>
          <a:p>
            <a:pPr marL="0" marR="0" lvl="0" indent="0" defTabSz="914400" eaLnBrk="1" fontAlgn="auto" latinLnBrk="0" hangingPunct="1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42900" algn="l"/>
              </a:tabLst>
              <a:defRPr/>
            </a:pPr>
            <a:endParaRPr lang="en-US" sz="2422" i="1" dirty="0">
              <a:solidFill>
                <a:srgbClr val="4742C4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" y="4711700"/>
            <a:ext cx="8899552" cy="12697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defTabSz="914400" eaLnBrk="1" fontAlgn="auto" latinLnBrk="0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42900" algn="l"/>
              </a:tabLst>
              <a:defRPr/>
            </a:pPr>
            <a:r>
              <a:rPr lang="en-US" dirty="0">
                <a:latin typeface="Arial"/>
                <a:cs typeface="Arial"/>
              </a:rPr>
              <a:t>•</a:t>
            </a:r>
            <a:r>
              <a:rPr lang="en-US" sz="2424" dirty="0">
                <a:solidFill>
                  <a:srgbClr val="000000"/>
                </a:solidFill>
                <a:latin typeface="Arial"/>
                <a:cs typeface="Arial"/>
              </a:rPr>
              <a:t> Two vertices in an undirected graph are called </a:t>
            </a:r>
            <a:r>
              <a:rPr lang="en-US" sz="2424" dirty="0">
                <a:solidFill>
                  <a:srgbClr val="4742C4"/>
                </a:solidFill>
                <a:latin typeface="Arial"/>
                <a:cs typeface="Arial"/>
              </a:rPr>
              <a:t>adjacent</a:t>
            </a:r>
            <a:r>
              <a:rPr lang="en-US" sz="2424" dirty="0">
                <a:solidFill>
                  <a:srgbClr val="000000"/>
                </a:solidFill>
                <a:latin typeface="Arial"/>
                <a:cs typeface="Arial"/>
              </a:rPr>
              <a:t> if there </a:t>
            </a:r>
            <a:br>
              <a:rPr lang="en-US" sz="2424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US" sz="2424" dirty="0">
                <a:solidFill>
                  <a:srgbClr val="000000"/>
                </a:solidFill>
                <a:latin typeface="Arial"/>
                <a:cs typeface="Arial"/>
              </a:rPr>
              <a:t>	is an edge from the first to the second. </a:t>
            </a:r>
          </a:p>
          <a:p>
            <a:pPr marL="0" marR="0" lvl="0" indent="0" defTabSz="914400" eaLnBrk="1" fontAlgn="auto" latinLnBrk="0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42900" algn="l"/>
              </a:tabLst>
              <a:defRPr/>
            </a:pPr>
            <a:endParaRPr lang="en-US" sz="2424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8419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05100" y="279400"/>
            <a:ext cx="4140236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 dirty="0">
                <a:solidFill>
                  <a:srgbClr val="FF0000"/>
                </a:solidFill>
                <a:latin typeface="Calibri"/>
              </a:rPr>
              <a:t>Chapter 11 - Graph </a:t>
            </a:r>
          </a:p>
          <a:p>
            <a:pPr>
              <a:lnSpc>
                <a:spcPts val="3600"/>
              </a:lnSpc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4300" y="1143000"/>
            <a:ext cx="8662051" cy="130503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defTabSz="914400" eaLnBrk="1" fontAlgn="auto" latinLnBrk="0" hangingPunct="1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42900" algn="l"/>
              </a:tabLst>
              <a:defRPr/>
            </a:pPr>
            <a:r>
              <a:rPr lang="en-US" dirty="0">
                <a:latin typeface="Arial"/>
                <a:cs typeface="Arial"/>
              </a:rPr>
              <a:t>•</a:t>
            </a:r>
            <a:r>
              <a:rPr lang="en-US" sz="2422" dirty="0">
                <a:solidFill>
                  <a:srgbClr val="000000"/>
                </a:solidFill>
                <a:latin typeface="Arial"/>
                <a:cs typeface="Arial"/>
              </a:rPr>
              <a:t> A </a:t>
            </a:r>
            <a:r>
              <a:rPr lang="en-US" sz="2422" dirty="0">
                <a:solidFill>
                  <a:srgbClr val="4742C4"/>
                </a:solidFill>
                <a:latin typeface="Arial"/>
                <a:cs typeface="Arial"/>
              </a:rPr>
              <a:t>path</a:t>
            </a:r>
            <a:r>
              <a:rPr lang="en-US" sz="2422" dirty="0">
                <a:solidFill>
                  <a:srgbClr val="000000"/>
                </a:solidFill>
                <a:latin typeface="Arial"/>
                <a:cs typeface="Arial"/>
              </a:rPr>
              <a:t> is a sequence of distinct vertices, each adjacent to the </a:t>
            </a:r>
            <a:br>
              <a:rPr lang="en-US" sz="2422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US" sz="2422" dirty="0">
                <a:solidFill>
                  <a:srgbClr val="000000"/>
                </a:solidFill>
                <a:latin typeface="Arial"/>
                <a:cs typeface="Arial"/>
              </a:rPr>
              <a:t>	next. </a:t>
            </a:r>
          </a:p>
          <a:p>
            <a:pPr marL="0" marR="0" lvl="0" indent="0" defTabSz="914400" eaLnBrk="1" fontAlgn="auto" latinLnBrk="0" hangingPunct="1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42900" algn="l"/>
              </a:tabLst>
              <a:defRPr/>
            </a:pPr>
            <a:endParaRPr lang="en-US" sz="2422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" y="2324100"/>
            <a:ext cx="8904104" cy="130503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defTabSz="914400" eaLnBrk="1" fontAlgn="auto" latinLnBrk="0" hangingPunct="1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42900" algn="l"/>
              </a:tabLst>
              <a:defRPr/>
            </a:pPr>
            <a:r>
              <a:rPr lang="en-US" dirty="0">
                <a:latin typeface="Arial"/>
                <a:cs typeface="Arial"/>
              </a:rPr>
              <a:t>•</a:t>
            </a:r>
            <a:r>
              <a:rPr lang="en-US" sz="2422" dirty="0">
                <a:solidFill>
                  <a:srgbClr val="000000"/>
                </a:solidFill>
                <a:latin typeface="Arial"/>
                <a:cs typeface="Arial"/>
              </a:rPr>
              <a:t> A </a:t>
            </a:r>
            <a:r>
              <a:rPr lang="en-US" sz="2422" dirty="0">
                <a:solidFill>
                  <a:srgbClr val="4742C4"/>
                </a:solidFill>
                <a:latin typeface="Arial"/>
                <a:cs typeface="Arial"/>
              </a:rPr>
              <a:t>cycle</a:t>
            </a:r>
            <a:r>
              <a:rPr lang="en-US" sz="2422" dirty="0">
                <a:solidFill>
                  <a:srgbClr val="000000"/>
                </a:solidFill>
                <a:latin typeface="Arial"/>
                <a:cs typeface="Arial"/>
              </a:rPr>
              <a:t> is a path containing at least three vertices such that the </a:t>
            </a:r>
            <a:br>
              <a:rPr lang="en-US" sz="2424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US" sz="2424" dirty="0">
                <a:solidFill>
                  <a:srgbClr val="000000"/>
                </a:solidFill>
                <a:latin typeface="Arial"/>
                <a:cs typeface="Arial"/>
              </a:rPr>
              <a:t>	last vertex on the path is adjacent to the first. </a:t>
            </a:r>
          </a:p>
          <a:p>
            <a:pPr marL="0" marR="0" lvl="0" indent="0" defTabSz="914400" eaLnBrk="1" fontAlgn="auto" latinLnBrk="0" hangingPunct="1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42900" algn="l"/>
              </a:tabLst>
              <a:defRPr/>
            </a:pPr>
            <a:endParaRPr lang="en-US" sz="2422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" y="3505200"/>
            <a:ext cx="8923340" cy="130503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defTabSz="914400" eaLnBrk="1" fontAlgn="auto" latinLnBrk="0" hangingPunct="1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42900" algn="l"/>
              </a:tabLst>
              <a:defRPr/>
            </a:pPr>
            <a:r>
              <a:rPr lang="en-US" dirty="0">
                <a:latin typeface="Arial"/>
                <a:cs typeface="Arial"/>
              </a:rPr>
              <a:t>•</a:t>
            </a:r>
            <a:r>
              <a:rPr lang="en-US" sz="2424" dirty="0">
                <a:solidFill>
                  <a:srgbClr val="000000"/>
                </a:solidFill>
                <a:latin typeface="Arial"/>
                <a:cs typeface="Arial"/>
              </a:rPr>
              <a:t> A graph is called </a:t>
            </a:r>
            <a:r>
              <a:rPr lang="en-US" sz="2424" dirty="0">
                <a:solidFill>
                  <a:srgbClr val="4742C4"/>
                </a:solidFill>
                <a:latin typeface="Arial"/>
                <a:cs typeface="Arial"/>
              </a:rPr>
              <a:t>connected</a:t>
            </a:r>
            <a:r>
              <a:rPr lang="en-US" sz="2424" dirty="0">
                <a:solidFill>
                  <a:srgbClr val="000000"/>
                </a:solidFill>
                <a:latin typeface="Arial"/>
                <a:cs typeface="Arial"/>
              </a:rPr>
              <a:t> if there is a path from any vertex to </a:t>
            </a:r>
            <a:br>
              <a:rPr lang="en-US" sz="2422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US" sz="2422" dirty="0">
                <a:solidFill>
                  <a:srgbClr val="000000"/>
                </a:solidFill>
                <a:latin typeface="Arial"/>
                <a:cs typeface="Arial"/>
              </a:rPr>
              <a:t>	any other vertex. </a:t>
            </a:r>
          </a:p>
          <a:p>
            <a:pPr marL="0" marR="0" lvl="0" indent="0" defTabSz="914400" eaLnBrk="1" fontAlgn="auto" latinLnBrk="0" hangingPunct="1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42900" algn="l"/>
              </a:tabLst>
              <a:defRPr/>
            </a:pPr>
            <a:endParaRPr lang="en-US" sz="2424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" y="4711700"/>
            <a:ext cx="8785482" cy="12697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defTabSz="914400" eaLnBrk="1" fontAlgn="auto" latinLnBrk="0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42900" algn="l"/>
              </a:tabLst>
              <a:defRPr/>
            </a:pPr>
            <a:r>
              <a:rPr lang="en-US" dirty="0">
                <a:latin typeface="Arial"/>
                <a:cs typeface="Arial"/>
              </a:rPr>
              <a:t>•</a:t>
            </a:r>
            <a:r>
              <a:rPr lang="en-US" sz="2424" dirty="0">
                <a:solidFill>
                  <a:srgbClr val="000000"/>
                </a:solidFill>
                <a:latin typeface="Arial"/>
                <a:cs typeface="Arial"/>
              </a:rPr>
              <a:t> A </a:t>
            </a:r>
            <a:r>
              <a:rPr lang="en-US" sz="2424" dirty="0">
                <a:solidFill>
                  <a:srgbClr val="4742C4"/>
                </a:solidFill>
                <a:latin typeface="Arial"/>
                <a:cs typeface="Arial"/>
              </a:rPr>
              <a:t>free tree </a:t>
            </a:r>
            <a:r>
              <a:rPr lang="en-US" sz="2424" dirty="0">
                <a:solidFill>
                  <a:srgbClr val="000000"/>
                </a:solidFill>
                <a:latin typeface="Arial"/>
                <a:cs typeface="Arial"/>
              </a:rPr>
              <a:t>is defined as a connected undirected graph with no </a:t>
            </a:r>
            <a:br>
              <a:rPr lang="en-US" sz="2424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US" sz="2424" dirty="0">
                <a:solidFill>
                  <a:srgbClr val="000000"/>
                </a:solidFill>
                <a:latin typeface="Arial"/>
                <a:cs typeface="Arial"/>
              </a:rPr>
              <a:t>	cycles. </a:t>
            </a:r>
          </a:p>
          <a:p>
            <a:pPr marL="0" marR="0" lvl="0" indent="0" defTabSz="914400" eaLnBrk="1" fontAlgn="auto" latinLnBrk="0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42900" algn="l"/>
              </a:tabLst>
              <a:defRPr/>
            </a:pPr>
            <a:endParaRPr lang="en-US" sz="2424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0310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90800" y="279400"/>
            <a:ext cx="4113242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000000"/>
                </a:solidFill>
                <a:latin typeface="Calibri"/>
              </a:rPr>
              <a:t>Examples of Graph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80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35100" y="279400"/>
            <a:ext cx="6453433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000000"/>
                </a:solidFill>
                <a:latin typeface="Calibri"/>
              </a:rPr>
              <a:t>Digraph as an adjacency table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74700" y="3568700"/>
            <a:ext cx="1854675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FF0000"/>
                </a:solidFill>
                <a:latin typeface="Arial"/>
              </a:rPr>
              <a:t>Directed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76700" y="3568700"/>
            <a:ext cx="1758495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FF0000"/>
                </a:solidFill>
                <a:latin typeface="Arial"/>
              </a:rPr>
              <a:t>Adjacency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9600" y="3568700"/>
            <a:ext cx="1994136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FF0000"/>
                </a:solidFill>
                <a:latin typeface="Arial"/>
              </a:rPr>
              <a:t>Adjacency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00" y="5067300"/>
            <a:ext cx="1011046" cy="37305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424" b="1" dirty="0">
                <a:solidFill>
                  <a:srgbClr val="000000"/>
                </a:solidFill>
                <a:latin typeface="Calibri"/>
              </a:rPr>
              <a:t>Digraph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6100" y="5435600"/>
            <a:ext cx="1995931" cy="37305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424">
                <a:solidFill>
                  <a:srgbClr val="FF3399"/>
                </a:solidFill>
                <a:latin typeface="Calibri"/>
              </a:rPr>
              <a:t>count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&lt;integer&gt;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5300" y="5435600"/>
            <a:ext cx="2733312" cy="37305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424">
                <a:solidFill>
                  <a:srgbClr val="E36C09"/>
                </a:solidFill>
                <a:latin typeface="Calibri"/>
              </a:rPr>
              <a:t>//</a:t>
            </a:r>
            <a:r>
              <a:rPr lang="en-US" sz="2424" i="1">
                <a:solidFill>
                  <a:srgbClr val="E36C09"/>
                </a:solidFill>
                <a:latin typeface="Calibri"/>
              </a:rPr>
              <a:t> Number of vertices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6100" y="5803900"/>
            <a:ext cx="4945713" cy="37273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422" dirty="0">
                <a:solidFill>
                  <a:srgbClr val="FF3399"/>
                </a:solidFill>
                <a:latin typeface="Calibri"/>
              </a:rPr>
              <a:t>edge</a:t>
            </a:r>
            <a:r>
              <a:rPr lang="en-US" sz="2422" dirty="0">
                <a:solidFill>
                  <a:srgbClr val="000000"/>
                </a:solidFill>
                <a:latin typeface="Calibri"/>
              </a:rPr>
              <a:t> &lt;array of  &lt;array of &lt;</a:t>
            </a:r>
            <a:r>
              <a:rPr lang="en-US" sz="2422" dirty="0" err="1">
                <a:solidFill>
                  <a:srgbClr val="000000"/>
                </a:solidFill>
                <a:latin typeface="Calibri"/>
              </a:rPr>
              <a:t>boolean</a:t>
            </a:r>
            <a:r>
              <a:rPr lang="en-US" sz="2422" dirty="0">
                <a:solidFill>
                  <a:srgbClr val="000000"/>
                </a:solidFill>
                <a:latin typeface="Calibri"/>
              </a:rPr>
              <a:t>&gt; &gt; 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5300" y="5803900"/>
            <a:ext cx="2306144" cy="37273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422">
                <a:solidFill>
                  <a:srgbClr val="E36C09"/>
                </a:solidFill>
                <a:latin typeface="Calibri"/>
              </a:rPr>
              <a:t>//</a:t>
            </a:r>
            <a:r>
              <a:rPr lang="en-US" sz="2422" i="1">
                <a:solidFill>
                  <a:srgbClr val="E36C09"/>
                </a:solidFill>
                <a:latin typeface="Calibri"/>
              </a:rPr>
              <a:t> Adjacency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" y="6172200"/>
            <a:ext cx="1567352" cy="37273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422" b="1">
                <a:solidFill>
                  <a:srgbClr val="000000"/>
                </a:solidFill>
                <a:latin typeface="Calibri"/>
              </a:rPr>
              <a:t>End Digraph</a:t>
            </a:r>
          </a:p>
        </p:txBody>
      </p:sp>
    </p:spTree>
    <p:extLst>
      <p:ext uri="{BB962C8B-B14F-4D97-AF65-F5344CB8AC3E}">
        <p14:creationId xmlns:p14="http://schemas.microsoft.com/office/powerpoint/2010/main" val="579434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800" y="165100"/>
            <a:ext cx="8201797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08" b="1">
                <a:solidFill>
                  <a:srgbClr val="000000"/>
                </a:solidFill>
                <a:latin typeface="Calibri"/>
              </a:rPr>
              <a:t>Weighted-graph as an adjacency table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03300" y="3111500"/>
            <a:ext cx="2006640" cy="3394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6">
                <a:solidFill>
                  <a:srgbClr val="FF0000"/>
                </a:solidFill>
                <a:latin typeface="Arial"/>
              </a:rPr>
              <a:t>Weighted-graph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05300" y="3111500"/>
            <a:ext cx="1617430" cy="3394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6">
                <a:solidFill>
                  <a:srgbClr val="FF0000"/>
                </a:solidFill>
                <a:latin typeface="Arial"/>
              </a:rPr>
              <a:t>vertex vector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9100" y="3086100"/>
            <a:ext cx="2162451" cy="37273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422">
                <a:solidFill>
                  <a:srgbClr val="FF0000"/>
                </a:solidFill>
                <a:latin typeface="Arial"/>
              </a:rPr>
              <a:t>adjacency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00" y="4991100"/>
            <a:ext cx="2033634" cy="37305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424" b="1">
                <a:solidFill>
                  <a:srgbClr val="000000"/>
                </a:solidFill>
                <a:latin typeface="Calibri"/>
              </a:rPr>
              <a:t>WeightedGraph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800" y="5359400"/>
            <a:ext cx="1994329" cy="37273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422" dirty="0">
                <a:solidFill>
                  <a:srgbClr val="FF3399"/>
                </a:solidFill>
                <a:latin typeface="Calibri"/>
              </a:rPr>
              <a:t>count</a:t>
            </a:r>
            <a:r>
              <a:rPr lang="en-US" sz="2422" dirty="0">
                <a:solidFill>
                  <a:srgbClr val="000000"/>
                </a:solidFill>
                <a:latin typeface="Calibri"/>
              </a:rPr>
              <a:t> &lt;integer&gt;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5300" y="5359400"/>
            <a:ext cx="2731710" cy="37273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422">
                <a:solidFill>
                  <a:srgbClr val="E36C09"/>
                </a:solidFill>
                <a:latin typeface="Calibri"/>
              </a:rPr>
              <a:t>//</a:t>
            </a:r>
            <a:r>
              <a:rPr lang="en-US" sz="2422" i="1">
                <a:solidFill>
                  <a:srgbClr val="E36C09"/>
                </a:solidFill>
                <a:latin typeface="Calibri"/>
              </a:rPr>
              <a:t> Number of vertices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800" y="5727700"/>
            <a:ext cx="4989507" cy="37273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422">
                <a:solidFill>
                  <a:srgbClr val="FF3399"/>
                </a:solidFill>
                <a:latin typeface="Calibri"/>
              </a:rPr>
              <a:t>edge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&lt;array of&lt;array of&lt;WeightType&gt;&gt;&gt;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9900" y="5727700"/>
            <a:ext cx="2306144" cy="37273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422">
                <a:solidFill>
                  <a:srgbClr val="E36C09"/>
                </a:solidFill>
                <a:latin typeface="Calibri"/>
              </a:rPr>
              <a:t>//</a:t>
            </a:r>
            <a:r>
              <a:rPr lang="en-US" sz="2422" i="1">
                <a:solidFill>
                  <a:srgbClr val="E36C09"/>
                </a:solidFill>
                <a:latin typeface="Calibri"/>
              </a:rPr>
              <a:t> Adjacency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" y="6108700"/>
            <a:ext cx="2660408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 b="1">
                <a:solidFill>
                  <a:srgbClr val="000000"/>
                </a:solidFill>
                <a:latin typeface="Calibri"/>
              </a:rPr>
              <a:t>End WeightedGraph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053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7400" y="127000"/>
            <a:ext cx="7745775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08" b="1">
                <a:solidFill>
                  <a:srgbClr val="000000"/>
                </a:solidFill>
                <a:latin typeface="Calibri"/>
              </a:rPr>
              <a:t>Weighted-graph as an adjacency list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013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3700" y="165100"/>
            <a:ext cx="5986191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08" b="1">
                <a:solidFill>
                  <a:srgbClr val="000000"/>
                </a:solidFill>
                <a:latin typeface="Calibri"/>
              </a:rPr>
              <a:t>Digraph as an adjacency list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04900" y="2590800"/>
            <a:ext cx="1931619" cy="6219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6">
                <a:solidFill>
                  <a:srgbClr val="FF0000"/>
                </a:solidFill>
                <a:latin typeface="Arial"/>
              </a:rPr>
              <a:t>Directed graph </a:t>
            </a:r>
          </a:p>
          <a:p>
            <a:pPr>
              <a:lnSpc>
                <a:spcPts val="2500"/>
              </a:lnSpc>
            </a:pP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803900" y="3556000"/>
            <a:ext cx="2622513" cy="6219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6">
                <a:solidFill>
                  <a:srgbClr val="FF0000"/>
                </a:solidFill>
                <a:latin typeface="Arial"/>
              </a:rPr>
              <a:t>contiguous structure </a:t>
            </a:r>
          </a:p>
          <a:p>
            <a:pPr>
              <a:lnSpc>
                <a:spcPts val="2500"/>
              </a:lnSpc>
            </a:pP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308100" y="6464300"/>
            <a:ext cx="1915589" cy="3394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6">
                <a:solidFill>
                  <a:srgbClr val="FF0000"/>
                </a:solidFill>
                <a:latin typeface="Arial"/>
              </a:rPr>
              <a:t>linked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80100" y="6464300"/>
            <a:ext cx="1931619" cy="3394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6">
                <a:solidFill>
                  <a:srgbClr val="FF0000"/>
                </a:solidFill>
                <a:latin typeface="Arial"/>
              </a:rPr>
              <a:t>mixed structure</a:t>
            </a:r>
          </a:p>
        </p:txBody>
      </p:sp>
    </p:spTree>
    <p:extLst>
      <p:ext uri="{BB962C8B-B14F-4D97-AF65-F5344CB8AC3E}">
        <p14:creationId xmlns:p14="http://schemas.microsoft.com/office/powerpoint/2010/main" val="1376357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800" y="127000"/>
            <a:ext cx="8212120" cy="75969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900"/>
              </a:lnSpc>
            </a:pPr>
            <a:r>
              <a:rPr lang="en-US" sz="3216" b="1">
                <a:solidFill>
                  <a:srgbClr val="000000"/>
                </a:solidFill>
                <a:latin typeface="Calibri"/>
              </a:rPr>
              <a:t>Digraph as an adjacency list </a:t>
            </a:r>
            <a:r>
              <a:rPr lang="en-US" sz="3216" b="1">
                <a:solidFill>
                  <a:srgbClr val="FF0000"/>
                </a:solidFill>
                <a:latin typeface="Calibri"/>
              </a:rPr>
              <a:t>(not using List ADT) </a:t>
            </a:r>
          </a:p>
          <a:p>
            <a:pPr>
              <a:lnSpc>
                <a:spcPts val="2900"/>
              </a:lnSpc>
            </a:pPr>
            <a:endParaRPr lang="en-US" sz="3216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18100" y="1447800"/>
            <a:ext cx="219612" cy="53860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US" sz="1812" b="1">
                <a:solidFill>
                  <a:srgbClr val="000000"/>
                </a:solidFill>
                <a:latin typeface="Arial"/>
              </a:rPr>
              <a:t>V </a:t>
            </a:r>
          </a:p>
          <a:p>
            <a:pPr>
              <a:lnSpc>
                <a:spcPts val="2100"/>
              </a:lnSpc>
            </a:pP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04900" y="2514600"/>
            <a:ext cx="1931619" cy="6219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6">
                <a:solidFill>
                  <a:srgbClr val="FF0000"/>
                </a:solidFill>
                <a:latin typeface="Arial"/>
              </a:rPr>
              <a:t>Directed graph </a:t>
            </a:r>
          </a:p>
          <a:p>
            <a:pPr>
              <a:lnSpc>
                <a:spcPts val="2500"/>
              </a:lnSpc>
            </a:pP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2700" y="3162300"/>
            <a:ext cx="1029128" cy="44242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700"/>
              </a:lnSpc>
            </a:pPr>
            <a:r>
              <a:rPr lang="en-US" sz="1416" b="1">
                <a:solidFill>
                  <a:srgbClr val="FF3399"/>
                </a:solidFill>
                <a:latin typeface="Arial"/>
              </a:rPr>
              <a:t>first_vertex </a:t>
            </a:r>
          </a:p>
          <a:p>
            <a:pPr>
              <a:lnSpc>
                <a:spcPts val="1700"/>
              </a:lnSpc>
            </a:pP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118100" y="4737100"/>
            <a:ext cx="982641" cy="53860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US" sz="1812" b="1">
                <a:solidFill>
                  <a:srgbClr val="FF0000"/>
                </a:solidFill>
                <a:latin typeface="Arial"/>
              </a:rPr>
              <a:t>DiGraph </a:t>
            </a:r>
          </a:p>
          <a:p>
            <a:pPr>
              <a:lnSpc>
                <a:spcPts val="2100"/>
              </a:lnSpc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118100" y="5003800"/>
            <a:ext cx="4039247" cy="96981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indent="251841">
              <a:lnSpc>
                <a:spcPts val="2600"/>
              </a:lnSpc>
            </a:pPr>
            <a:r>
              <a:rPr lang="en-US" sz="1812">
                <a:solidFill>
                  <a:srgbClr val="FF3399"/>
                </a:solidFill>
                <a:latin typeface="Arial"/>
              </a:rPr>
              <a:t>first_vertex</a:t>
            </a:r>
            <a:r>
              <a:rPr lang="en-US" sz="1812">
                <a:solidFill>
                  <a:srgbClr val="000000"/>
                </a:solidFill>
                <a:latin typeface="Arial"/>
              </a:rPr>
              <a:t> &lt;pointer to VertexNode&gt; </a:t>
            </a:r>
            <a:br>
              <a:rPr lang="en-US" sz="1810" b="1">
                <a:solidFill>
                  <a:srgbClr val="FF0000"/>
                </a:solidFill>
                <a:latin typeface="Arial"/>
              </a:rPr>
            </a:br>
            <a:r>
              <a:rPr lang="en-US" sz="1810" b="1">
                <a:solidFill>
                  <a:srgbClr val="FF0000"/>
                </a:solidFill>
                <a:latin typeface="Arial"/>
              </a:rPr>
              <a:t>End DiGraph </a:t>
            </a:r>
          </a:p>
          <a:p>
            <a:pPr indent="251841">
              <a:lnSpc>
                <a:spcPts val="2600"/>
              </a:lnSpc>
            </a:pPr>
            <a:endParaRPr lang="en-US" sz="1812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89100" y="6464300"/>
            <a:ext cx="1915589" cy="3394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6">
                <a:solidFill>
                  <a:srgbClr val="FF0000"/>
                </a:solidFill>
                <a:latin typeface="Arial"/>
              </a:rPr>
              <a:t>linked structure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100" y="1447800"/>
            <a:ext cx="3887638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533" y="3167738"/>
            <a:ext cx="3744771" cy="1218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0989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89000" y="88900"/>
            <a:ext cx="7534050" cy="75969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900"/>
              </a:lnSpc>
            </a:pPr>
            <a:r>
              <a:rPr lang="en-US" sz="3216" b="1">
                <a:solidFill>
                  <a:srgbClr val="000000"/>
                </a:solidFill>
                <a:latin typeface="Calibri"/>
              </a:rPr>
              <a:t>Digraph as an adjacency list </a:t>
            </a:r>
            <a:r>
              <a:rPr lang="en-US" sz="3216" b="1">
                <a:solidFill>
                  <a:srgbClr val="FF0000"/>
                </a:solidFill>
                <a:latin typeface="Calibri"/>
              </a:rPr>
              <a:t>(using List ADT) </a:t>
            </a:r>
          </a:p>
          <a:p>
            <a:pPr>
              <a:lnSpc>
                <a:spcPts val="2900"/>
              </a:lnSpc>
            </a:pPr>
            <a:endParaRPr lang="en-US" sz="3216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5100" y="838200"/>
            <a:ext cx="522579" cy="53860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US" sz="1812">
                <a:solidFill>
                  <a:srgbClr val="FF0000"/>
                </a:solidFill>
                <a:latin typeface="Calibri"/>
              </a:rPr>
              <a:t>head </a:t>
            </a:r>
          </a:p>
          <a:p>
            <a:pPr>
              <a:lnSpc>
                <a:spcPts val="2100"/>
              </a:lnSpc>
            </a:pP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65200" y="1689100"/>
            <a:ext cx="264496" cy="77905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sz="2820" b="1">
                <a:solidFill>
                  <a:srgbClr val="000000"/>
                </a:solidFill>
                <a:latin typeface="Calibri"/>
              </a:rPr>
              <a:t>0 </a:t>
            </a:r>
          </a:p>
          <a:p>
            <a:pPr>
              <a:lnSpc>
                <a:spcPts val="3200"/>
              </a:lnSpc>
            </a:pP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52500" y="2476500"/>
            <a:ext cx="264496" cy="77905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sz="2820" b="1">
                <a:solidFill>
                  <a:srgbClr val="000000"/>
                </a:solidFill>
                <a:latin typeface="Calibri"/>
              </a:rPr>
              <a:t>1 </a:t>
            </a:r>
          </a:p>
          <a:p>
            <a:pPr>
              <a:lnSpc>
                <a:spcPts val="3200"/>
              </a:lnSpc>
            </a:pP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65200" y="3238500"/>
            <a:ext cx="264496" cy="77905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sz="2820" b="1">
                <a:solidFill>
                  <a:srgbClr val="000000"/>
                </a:solidFill>
                <a:latin typeface="Calibri"/>
              </a:rPr>
              <a:t>2 </a:t>
            </a:r>
          </a:p>
          <a:p>
            <a:pPr>
              <a:lnSpc>
                <a:spcPts val="3200"/>
              </a:lnSpc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65200" y="4000500"/>
            <a:ext cx="264496" cy="77905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sz="2820" b="1">
                <a:solidFill>
                  <a:srgbClr val="000000"/>
                </a:solidFill>
                <a:latin typeface="Calibri"/>
              </a:rPr>
              <a:t>3 </a:t>
            </a:r>
          </a:p>
          <a:p>
            <a:pPr>
              <a:lnSpc>
                <a:spcPts val="3200"/>
              </a:lnSpc>
            </a:pP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460500" y="914400"/>
            <a:ext cx="1104020" cy="73417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sz="2604">
                <a:solidFill>
                  <a:srgbClr val="FF3399"/>
                </a:solidFill>
                <a:latin typeface="Calibri"/>
              </a:rPr>
              <a:t>digraph </a:t>
            </a:r>
          </a:p>
          <a:p>
            <a:pPr>
              <a:lnSpc>
                <a:spcPts val="3000"/>
              </a:lnSpc>
            </a:pP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422400" y="1803400"/>
            <a:ext cx="522579" cy="53860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US" sz="1812">
                <a:solidFill>
                  <a:srgbClr val="FF0000"/>
                </a:solidFill>
                <a:latin typeface="Calibri"/>
              </a:rPr>
              <a:t>head </a:t>
            </a:r>
          </a:p>
          <a:p>
            <a:pPr>
              <a:lnSpc>
                <a:spcPts val="2100"/>
              </a:lnSpc>
            </a:pPr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384300" y="2565400"/>
            <a:ext cx="522579" cy="53860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US" sz="1810">
                <a:solidFill>
                  <a:srgbClr val="FF0000"/>
                </a:solidFill>
                <a:latin typeface="Calibri"/>
              </a:rPr>
              <a:t>head </a:t>
            </a:r>
          </a:p>
          <a:p>
            <a:pPr>
              <a:lnSpc>
                <a:spcPts val="2100"/>
              </a:lnSpc>
            </a:pPr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397000" y="3327400"/>
            <a:ext cx="522579" cy="53860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US" sz="1810">
                <a:solidFill>
                  <a:srgbClr val="FF0000"/>
                </a:solidFill>
                <a:latin typeface="Calibri"/>
              </a:rPr>
              <a:t>head </a:t>
            </a:r>
          </a:p>
          <a:p>
            <a:pPr>
              <a:lnSpc>
                <a:spcPts val="2100"/>
              </a:lnSpc>
            </a:pPr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384300" y="4089400"/>
            <a:ext cx="522579" cy="53860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US" sz="1812">
                <a:solidFill>
                  <a:srgbClr val="FF0000"/>
                </a:solidFill>
                <a:latin typeface="Calibri"/>
              </a:rPr>
              <a:t>head </a:t>
            </a:r>
          </a:p>
          <a:p>
            <a:pPr>
              <a:lnSpc>
                <a:spcPts val="2100"/>
              </a:lnSpc>
            </a:pPr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603500" y="1778000"/>
            <a:ext cx="1264770" cy="82073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990600" algn="l"/>
              </a:tabLst>
              <a:defRPr/>
            </a:pPr>
            <a:r>
              <a:rPr lang="en-US" sz="2818" b="1">
                <a:solidFill>
                  <a:srgbClr val="00AF50"/>
                </a:solidFill>
                <a:latin typeface="Calibri"/>
              </a:rPr>
              <a:t>1 </a:t>
            </a:r>
            <a:r>
              <a:rPr lang="en-US" sz="2820" b="1">
                <a:solidFill>
                  <a:srgbClr val="00AF50"/>
                </a:solidFill>
                <a:latin typeface="Calibri"/>
              </a:rPr>
              <a:t>	2 </a:t>
            </a:r>
          </a:p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990600" algn="l"/>
              </a:tabLst>
              <a:defRPr/>
            </a:pPr>
            <a:endParaRPr lang="en-US" sz="2818" b="1">
              <a:solidFill>
                <a:srgbClr val="00AF50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28900" y="2501900"/>
            <a:ext cx="1264770" cy="82073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990600" algn="l"/>
              </a:tabLst>
              <a:defRPr/>
            </a:pPr>
            <a:r>
              <a:rPr lang="en-US" sz="2818" b="1">
                <a:solidFill>
                  <a:srgbClr val="00AF50"/>
                </a:solidFill>
                <a:latin typeface="Calibri"/>
              </a:rPr>
              <a:t>2 </a:t>
            </a:r>
            <a:r>
              <a:rPr lang="en-US" sz="2820" b="1">
                <a:solidFill>
                  <a:srgbClr val="00AF50"/>
                </a:solidFill>
                <a:latin typeface="Calibri"/>
              </a:rPr>
              <a:t>	3 </a:t>
            </a:r>
          </a:p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990600" algn="l"/>
              </a:tabLst>
              <a:defRPr/>
            </a:pPr>
            <a:endParaRPr lang="en-US" sz="2818" b="1">
              <a:solidFill>
                <a:srgbClr val="00AF50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03500" y="4013200"/>
            <a:ext cx="1264770" cy="82073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990600" algn="l"/>
              </a:tabLst>
              <a:defRPr/>
            </a:pPr>
            <a:r>
              <a:rPr lang="en-US" sz="2820" b="1">
                <a:solidFill>
                  <a:srgbClr val="00AF50"/>
                </a:solidFill>
                <a:latin typeface="Calibri"/>
              </a:rPr>
              <a:t>0 	1 </a:t>
            </a:r>
          </a:p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990600" algn="l"/>
              </a:tabLst>
              <a:defRPr/>
            </a:pPr>
            <a:endParaRPr lang="en-US" sz="2820" b="1">
              <a:solidFill>
                <a:srgbClr val="00AF50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33900" y="1104900"/>
            <a:ext cx="1417247" cy="6219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8" b="1">
                <a:solidFill>
                  <a:srgbClr val="000000"/>
                </a:solidFill>
                <a:latin typeface="Calibri"/>
              </a:rPr>
              <a:t>GraphNode </a:t>
            </a:r>
          </a:p>
          <a:p>
            <a:pPr>
              <a:lnSpc>
                <a:spcPts val="2500"/>
              </a:lnSpc>
            </a:pPr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622800" y="1435100"/>
            <a:ext cx="4528163" cy="156555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2984500" algn="l"/>
              </a:tabLst>
              <a:defRPr/>
            </a:pPr>
            <a:r>
              <a:rPr lang="en-US" sz="2208">
                <a:solidFill>
                  <a:srgbClr val="4742C4"/>
                </a:solidFill>
                <a:latin typeface="Calibri"/>
              </a:rPr>
              <a:t>vertex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 &lt;VertexType&gt; </a:t>
            </a:r>
            <a:r>
              <a:rPr lang="en-US" sz="2208">
                <a:solidFill>
                  <a:srgbClr val="E36C09"/>
                </a:solidFill>
                <a:latin typeface="Calibri"/>
              </a:rPr>
              <a:t>// (</a:t>
            </a:r>
            <a:r>
              <a:rPr lang="en-US" sz="2208" i="1">
                <a:solidFill>
                  <a:srgbClr val="E36C09"/>
                </a:solidFill>
                <a:latin typeface="Calibri"/>
              </a:rPr>
              <a:t>key field</a:t>
            </a:r>
            <a:r>
              <a:rPr lang="en-US" sz="2208">
                <a:solidFill>
                  <a:srgbClr val="E36C09"/>
                </a:solidFill>
                <a:latin typeface="Calibri"/>
              </a:rPr>
              <a:t>) </a:t>
            </a:r>
            <a:br>
              <a:rPr lang="en-US" sz="2208">
                <a:solidFill>
                  <a:srgbClr val="4742C4"/>
                </a:solidFill>
                <a:latin typeface="Calibri"/>
              </a:rPr>
            </a:br>
            <a:r>
              <a:rPr lang="en-US" sz="2208">
                <a:solidFill>
                  <a:srgbClr val="4742C4"/>
                </a:solidFill>
                <a:latin typeface="Calibri"/>
              </a:rPr>
              <a:t>adjVertex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&lt;</a:t>
            </a:r>
            <a:r>
              <a:rPr lang="en-US" sz="2028" b="1">
                <a:solidFill>
                  <a:srgbClr val="FF0000"/>
                </a:solidFill>
                <a:latin typeface="Calibri"/>
              </a:rPr>
              <a:t>Linked</a:t>
            </a:r>
            <a:r>
              <a:rPr lang="en-US" sz="2208" b="1">
                <a:solidFill>
                  <a:srgbClr val="FF0000"/>
                </a:solidFill>
                <a:latin typeface="Calibri"/>
              </a:rPr>
              <a:t>List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 of&lt; VertexType &gt;&gt; </a:t>
            </a:r>
            <a:br>
              <a:rPr lang="en-US" sz="2208">
                <a:solidFill>
                  <a:srgbClr val="4742C4"/>
                </a:solidFill>
                <a:latin typeface="Calibri"/>
              </a:rPr>
            </a:br>
            <a:r>
              <a:rPr lang="en-US" sz="2208">
                <a:solidFill>
                  <a:srgbClr val="4742C4"/>
                </a:solidFill>
                <a:latin typeface="Calibri"/>
              </a:rPr>
              <a:t>indegree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 &lt;int&gt; </a:t>
            </a:r>
            <a:r>
              <a:rPr lang="en-US" sz="2028" i="1">
                <a:solidFill>
                  <a:srgbClr val="00AF50"/>
                </a:solidFill>
                <a:latin typeface="Calibri"/>
              </a:rPr>
              <a:t>	are hidden </a:t>
            </a:r>
          </a:p>
          <a:p>
            <a:pPr marL="0" marR="0" lvl="0" indent="0" defTabSz="914400" eaLnBrk="1" fontAlgn="auto" latinLnBrk="0" hangingPunct="1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2984500" algn="l"/>
              </a:tabLst>
              <a:defRPr/>
            </a:pPr>
            <a:endParaRPr lang="en-US" sz="2208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22800" y="2705100"/>
            <a:ext cx="4185698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086100" algn="l"/>
              </a:tabLst>
              <a:defRPr/>
            </a:pPr>
            <a:r>
              <a:rPr lang="en-US" sz="2206">
                <a:solidFill>
                  <a:srgbClr val="4742C4"/>
                </a:solidFill>
                <a:latin typeface="Calibri"/>
              </a:rPr>
              <a:t>outdegree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&lt;int&gt; </a:t>
            </a:r>
            <a:r>
              <a:rPr lang="en-US" sz="2026" i="1">
                <a:solidFill>
                  <a:srgbClr val="00AF50"/>
                </a:solidFill>
                <a:latin typeface="Calibri"/>
              </a:rPr>
              <a:t>	from the </a:t>
            </a:r>
          </a:p>
          <a:p>
            <a:pPr marL="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086100" algn="l"/>
              </a:tabLst>
              <a:defRPr/>
            </a:pPr>
            <a:endParaRPr lang="en-US" sz="2206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22800" y="3111500"/>
            <a:ext cx="4560287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2997200" algn="l"/>
              </a:tabLst>
              <a:defRPr/>
            </a:pPr>
            <a:r>
              <a:rPr lang="en-US" sz="2206">
                <a:solidFill>
                  <a:srgbClr val="0000CC"/>
                </a:solidFill>
                <a:latin typeface="Calibri"/>
              </a:rPr>
              <a:t>isMarked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&lt;boolean&gt; </a:t>
            </a:r>
            <a:r>
              <a:rPr lang="en-US" sz="2026" i="1">
                <a:solidFill>
                  <a:srgbClr val="00AF50"/>
                </a:solidFill>
                <a:latin typeface="Calibri"/>
              </a:rPr>
              <a:t>	image below </a:t>
            </a:r>
          </a:p>
          <a:p>
            <a:pPr marL="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2997200" algn="l"/>
              </a:tabLst>
              <a:defRPr/>
            </a:pPr>
            <a:endParaRPr lang="en-US" sz="2206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33900" y="3517900"/>
            <a:ext cx="1922193" cy="6219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6" b="1">
                <a:solidFill>
                  <a:srgbClr val="000000"/>
                </a:solidFill>
                <a:latin typeface="Calibri"/>
              </a:rPr>
              <a:t>End GraphNode </a:t>
            </a:r>
          </a:p>
          <a:p>
            <a:pPr>
              <a:lnSpc>
                <a:spcPts val="2500"/>
              </a:lnSpc>
            </a:pPr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4610100" y="4013200"/>
            <a:ext cx="264496" cy="77905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sz="2820" b="1">
                <a:solidFill>
                  <a:srgbClr val="00AF50"/>
                </a:solidFill>
                <a:latin typeface="Calibri"/>
              </a:rPr>
              <a:t>2 </a:t>
            </a:r>
          </a:p>
          <a:p>
            <a:pPr>
              <a:lnSpc>
                <a:spcPts val="3200"/>
              </a:lnSpc>
            </a:pPr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413500" y="4533900"/>
            <a:ext cx="1526123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00"/>
                </a:solidFill>
                <a:latin typeface="Calibri"/>
              </a:rPr>
              <a:t>GraphNode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65100" y="4991100"/>
            <a:ext cx="2957541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 b="1" i="1">
                <a:solidFill>
                  <a:srgbClr val="000099"/>
                </a:solidFill>
                <a:latin typeface="Arial"/>
              </a:rPr>
              <a:t>ADT List is linked list</a:t>
            </a:r>
            <a:r>
              <a:rPr lang="en-US" sz="2208" b="1">
                <a:solidFill>
                  <a:srgbClr val="000099"/>
                </a:solidFill>
                <a:latin typeface="Arial"/>
              </a:rPr>
              <a:t>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3500" y="5245100"/>
            <a:ext cx="2192075" cy="37305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424">
                <a:solidFill>
                  <a:srgbClr val="4742C4"/>
                </a:solidFill>
                <a:latin typeface="Calibri"/>
              </a:rPr>
              <a:t>vertex   adjVertex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5100" y="5664200"/>
            <a:ext cx="5689058" cy="108715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533400" algn="l"/>
              </a:tabLst>
              <a:defRPr/>
            </a:pPr>
            <a:r>
              <a:rPr lang="en-US" sz="2208" b="1">
                <a:solidFill>
                  <a:srgbClr val="000000"/>
                </a:solidFill>
                <a:latin typeface="Arial"/>
              </a:rPr>
              <a:t>DiGraph </a:t>
            </a:r>
            <a:br>
              <a:rPr lang="en-US" sz="2208">
                <a:solidFill>
                  <a:srgbClr val="FF3399"/>
                </a:solidFill>
                <a:latin typeface="Arial"/>
              </a:rPr>
            </a:br>
            <a:r>
              <a:rPr lang="en-US" sz="2208">
                <a:solidFill>
                  <a:srgbClr val="FF3399"/>
                </a:solidFill>
                <a:latin typeface="Arial"/>
              </a:rPr>
              <a:t>	digraph</a:t>
            </a:r>
            <a:r>
              <a:rPr lang="en-US" sz="2208">
                <a:solidFill>
                  <a:srgbClr val="000000"/>
                </a:solidFill>
                <a:latin typeface="Arial"/>
              </a:rPr>
              <a:t> &lt;</a:t>
            </a:r>
            <a:r>
              <a:rPr lang="en-US" sz="2208" b="1">
                <a:solidFill>
                  <a:srgbClr val="FF0000"/>
                </a:solidFill>
                <a:latin typeface="Arial"/>
              </a:rPr>
              <a:t>LinkedList</a:t>
            </a:r>
            <a:r>
              <a:rPr lang="en-US" sz="2208">
                <a:solidFill>
                  <a:srgbClr val="000000"/>
                </a:solidFill>
                <a:latin typeface="Arial"/>
              </a:rPr>
              <a:t>&lt;of&lt;GraphNode&gt;&gt; </a:t>
            </a:r>
          </a:p>
          <a:p>
            <a:pPr marL="0" marR="0" lvl="0" indent="0" defTabSz="914400" eaLnBrk="1" fontAlgn="auto" latinLnBrk="0" hangingPunct="1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533400" algn="l"/>
              </a:tabLst>
              <a:defRPr/>
            </a:pPr>
            <a:endParaRPr lang="en-US" sz="2208" b="1">
              <a:solidFill>
                <a:srgbClr val="FF0000"/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0" y="5765800"/>
            <a:ext cx="1292020" cy="82073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749300" algn="l"/>
              </a:tabLst>
              <a:defRPr/>
            </a:pPr>
            <a:r>
              <a:rPr lang="en-US" sz="2820" b="1">
                <a:solidFill>
                  <a:srgbClr val="000000"/>
                </a:solidFill>
                <a:latin typeface="Calibri"/>
              </a:rPr>
              <a:t>2 </a:t>
            </a:r>
            <a:r>
              <a:rPr lang="en-US" sz="1812">
                <a:solidFill>
                  <a:srgbClr val="FF0000"/>
                </a:solidFill>
                <a:latin typeface="Calibri"/>
              </a:rPr>
              <a:t>	head </a:t>
            </a:r>
          </a:p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749300" algn="l"/>
              </a:tabLst>
              <a:defRPr/>
            </a:pPr>
            <a:endParaRPr lang="en-US" sz="282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65100" y="6426200"/>
            <a:ext cx="1731243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 b="1">
                <a:solidFill>
                  <a:srgbClr val="000000"/>
                </a:solidFill>
                <a:latin typeface="Arial"/>
              </a:rPr>
              <a:t>End DiGraph</a:t>
            </a:r>
          </a:p>
        </p:txBody>
      </p:sp>
    </p:spTree>
    <p:extLst>
      <p:ext uri="{BB962C8B-B14F-4D97-AF65-F5344CB8AC3E}">
        <p14:creationId xmlns:p14="http://schemas.microsoft.com/office/powerpoint/2010/main" val="2132307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89000" y="88900"/>
            <a:ext cx="7534050" cy="75969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900"/>
              </a:lnSpc>
            </a:pPr>
            <a:r>
              <a:rPr lang="en-US" sz="3216" b="1">
                <a:solidFill>
                  <a:srgbClr val="000000"/>
                </a:solidFill>
                <a:latin typeface="Calibri"/>
              </a:rPr>
              <a:t>Digraph as an adjacency list </a:t>
            </a:r>
            <a:r>
              <a:rPr lang="en-US" sz="3216" b="1">
                <a:solidFill>
                  <a:srgbClr val="FF0000"/>
                </a:solidFill>
                <a:latin typeface="Calibri"/>
              </a:rPr>
              <a:t>(using List ADT) </a:t>
            </a:r>
          </a:p>
          <a:p>
            <a:pPr>
              <a:lnSpc>
                <a:spcPts val="2900"/>
              </a:lnSpc>
            </a:pPr>
            <a:endParaRPr lang="en-US" sz="3216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98900" y="876300"/>
            <a:ext cx="1415644" cy="6219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6" b="1">
                <a:solidFill>
                  <a:srgbClr val="000000"/>
                </a:solidFill>
                <a:latin typeface="Calibri"/>
              </a:rPr>
              <a:t>GraphNode </a:t>
            </a:r>
          </a:p>
          <a:p>
            <a:pPr>
              <a:lnSpc>
                <a:spcPts val="2500"/>
              </a:lnSpc>
            </a:pP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987800" y="1270000"/>
            <a:ext cx="3867084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6" dirty="0">
                <a:solidFill>
                  <a:srgbClr val="4742C4"/>
                </a:solidFill>
                <a:latin typeface="Calibri"/>
              </a:rPr>
              <a:t>vertex</a:t>
            </a:r>
            <a:r>
              <a:rPr lang="en-US" sz="2206" dirty="0">
                <a:solidFill>
                  <a:srgbClr val="000000"/>
                </a:solidFill>
                <a:latin typeface="Calibri"/>
              </a:rPr>
              <a:t> &lt;</a:t>
            </a:r>
            <a:r>
              <a:rPr lang="en-US" sz="2206" dirty="0" err="1">
                <a:solidFill>
                  <a:srgbClr val="000000"/>
                </a:solidFill>
                <a:latin typeface="Calibri"/>
              </a:rPr>
              <a:t>VertexType</a:t>
            </a:r>
            <a:r>
              <a:rPr lang="en-US" sz="2206" dirty="0">
                <a:solidFill>
                  <a:srgbClr val="000000"/>
                </a:solidFill>
                <a:latin typeface="Calibri"/>
              </a:rPr>
              <a:t>&gt; // (</a:t>
            </a:r>
            <a:r>
              <a:rPr lang="en-US" sz="2206" i="1" dirty="0">
                <a:solidFill>
                  <a:srgbClr val="000000"/>
                </a:solidFill>
                <a:latin typeface="Calibri"/>
              </a:rPr>
              <a:t>key field</a:t>
            </a:r>
            <a:r>
              <a:rPr lang="en-US" sz="2206" dirty="0">
                <a:solidFill>
                  <a:srgbClr val="000000"/>
                </a:solidFill>
                <a:latin typeface="Calibri"/>
              </a:rPr>
              <a:t>) </a:t>
            </a:r>
          </a:p>
          <a:p>
            <a:pPr>
              <a:lnSpc>
                <a:spcPts val="2500"/>
              </a:lnSpc>
            </a:pPr>
            <a:endParaRPr lang="en-US" sz="2206" i="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87800" y="1600200"/>
            <a:ext cx="4525021" cy="12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sz="2206">
                <a:solidFill>
                  <a:srgbClr val="4742C4"/>
                </a:solidFill>
                <a:latin typeface="Calibri"/>
              </a:rPr>
              <a:t>adjVertex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&lt;</a:t>
            </a:r>
            <a:r>
              <a:rPr lang="en-US" sz="2026" b="1">
                <a:solidFill>
                  <a:srgbClr val="FF0000"/>
                </a:solidFill>
                <a:latin typeface="Calibri"/>
              </a:rPr>
              <a:t>Linked</a:t>
            </a:r>
            <a:r>
              <a:rPr lang="en-US" sz="2206" b="1">
                <a:solidFill>
                  <a:srgbClr val="FF0000"/>
                </a:solidFill>
                <a:latin typeface="Calibri"/>
              </a:rPr>
              <a:t>List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of&lt; VertexType &gt;&gt; </a:t>
            </a:r>
            <a:br>
              <a:rPr lang="en-US" sz="2206">
                <a:solidFill>
                  <a:srgbClr val="4742C4"/>
                </a:solidFill>
                <a:latin typeface="Calibri"/>
              </a:rPr>
            </a:br>
            <a:r>
              <a:rPr lang="en-US" sz="2206">
                <a:solidFill>
                  <a:srgbClr val="4742C4"/>
                </a:solidFill>
                <a:latin typeface="Calibri"/>
              </a:rPr>
              <a:t>indegree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&lt;int&gt; </a:t>
            </a:r>
          </a:p>
          <a:p>
            <a:pPr>
              <a:lnSpc>
                <a:spcPts val="3200"/>
              </a:lnSpc>
            </a:pPr>
            <a:endParaRPr lang="en-US" sz="2206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87800" y="2476500"/>
            <a:ext cx="1907638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8">
                <a:solidFill>
                  <a:srgbClr val="4742C4"/>
                </a:solidFill>
                <a:latin typeface="Calibri"/>
              </a:rPr>
              <a:t>outdegree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 &lt;int&gt; </a:t>
            </a:r>
          </a:p>
          <a:p>
            <a:pPr>
              <a:lnSpc>
                <a:spcPts val="2500"/>
              </a:lnSpc>
            </a:pPr>
            <a:endParaRPr lang="en-US" sz="2208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98900" y="2819400"/>
            <a:ext cx="2506007" cy="120327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indent="91821">
              <a:lnSpc>
                <a:spcPts val="3200"/>
              </a:lnSpc>
            </a:pPr>
            <a:r>
              <a:rPr lang="en-US" sz="2208" dirty="0" err="1">
                <a:solidFill>
                  <a:srgbClr val="0000CC"/>
                </a:solidFill>
                <a:latin typeface="Calibri"/>
              </a:rPr>
              <a:t>isMarked</a:t>
            </a:r>
            <a:r>
              <a:rPr lang="en-US" sz="2208" dirty="0">
                <a:solidFill>
                  <a:srgbClr val="000000"/>
                </a:solidFill>
                <a:latin typeface="Calibri"/>
              </a:rPr>
              <a:t> &lt;</a:t>
            </a:r>
            <a:r>
              <a:rPr lang="en-US" sz="2208" dirty="0" err="1">
                <a:solidFill>
                  <a:srgbClr val="000000"/>
                </a:solidFill>
                <a:latin typeface="Calibri"/>
              </a:rPr>
              <a:t>boolean</a:t>
            </a:r>
            <a:r>
              <a:rPr lang="en-US" sz="2208" dirty="0">
                <a:solidFill>
                  <a:srgbClr val="000000"/>
                </a:solidFill>
                <a:latin typeface="Calibri"/>
              </a:rPr>
              <a:t>&gt; </a:t>
            </a:r>
            <a:br>
              <a:rPr lang="en-US" sz="2208" b="1" dirty="0">
                <a:solidFill>
                  <a:srgbClr val="000000"/>
                </a:solidFill>
                <a:latin typeface="Calibri"/>
              </a:rPr>
            </a:br>
            <a:r>
              <a:rPr lang="en-US" sz="2208" b="1" dirty="0">
                <a:solidFill>
                  <a:srgbClr val="000000"/>
                </a:solidFill>
                <a:latin typeface="Calibri"/>
              </a:rPr>
              <a:t>End </a:t>
            </a:r>
            <a:r>
              <a:rPr lang="en-US" sz="2208" b="1" dirty="0" err="1">
                <a:solidFill>
                  <a:srgbClr val="000000"/>
                </a:solidFill>
                <a:latin typeface="Calibri"/>
              </a:rPr>
              <a:t>GraphNode</a:t>
            </a:r>
            <a:r>
              <a:rPr lang="en-US" sz="2208" b="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indent="91821">
              <a:lnSpc>
                <a:spcPts val="3200"/>
              </a:lnSpc>
            </a:pPr>
            <a:endParaRPr lang="en-US" sz="2208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5200" y="3606800"/>
            <a:ext cx="1255152" cy="51296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2206">
                <a:solidFill>
                  <a:srgbClr val="FF0000"/>
                </a:solidFill>
                <a:latin typeface="Arial"/>
              </a:rPr>
              <a:t>mixed list </a:t>
            </a:r>
          </a:p>
          <a:p>
            <a:pPr>
              <a:lnSpc>
                <a:spcPts val="2000"/>
              </a:lnSpc>
            </a:pP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65100" y="4470400"/>
            <a:ext cx="3744615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8" b="1" i="1" dirty="0">
                <a:solidFill>
                  <a:srgbClr val="000099"/>
                </a:solidFill>
                <a:latin typeface="Arial"/>
              </a:rPr>
              <a:t>ADT List is contiguous list</a:t>
            </a:r>
            <a:r>
              <a:rPr lang="en-US" sz="2208" b="1" dirty="0">
                <a:solidFill>
                  <a:srgbClr val="000099"/>
                </a:solidFill>
                <a:latin typeface="Arial"/>
              </a:rPr>
              <a:t>: </a:t>
            </a:r>
          </a:p>
          <a:p>
            <a:pPr>
              <a:lnSpc>
                <a:spcPts val="2500"/>
              </a:lnSpc>
            </a:pPr>
            <a:endParaRPr lang="en-US" sz="2208" b="1" i="1" dirty="0">
              <a:solidFill>
                <a:srgbClr val="000099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5100" y="5245100"/>
            <a:ext cx="1194238" cy="6219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6" b="1" dirty="0" err="1">
                <a:solidFill>
                  <a:srgbClr val="000000"/>
                </a:solidFill>
                <a:latin typeface="Arial"/>
              </a:rPr>
              <a:t>DiGraph</a:t>
            </a:r>
            <a:r>
              <a:rPr lang="en-US" sz="2206" b="1" dirty="0">
                <a:solidFill>
                  <a:srgbClr val="000000"/>
                </a:solidFill>
                <a:latin typeface="Arial"/>
              </a:rPr>
              <a:t> </a:t>
            </a:r>
          </a:p>
          <a:p>
            <a:pPr>
              <a:lnSpc>
                <a:spcPts val="2500"/>
              </a:lnSpc>
            </a:pP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65100" y="5613400"/>
            <a:ext cx="6242093" cy="100027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indent="539801">
              <a:lnSpc>
                <a:spcPts val="2600"/>
              </a:lnSpc>
            </a:pPr>
            <a:r>
              <a:rPr lang="en-US" sz="2206" dirty="0">
                <a:solidFill>
                  <a:srgbClr val="FF3399"/>
                </a:solidFill>
                <a:latin typeface="Arial"/>
              </a:rPr>
              <a:t>digraph</a:t>
            </a:r>
            <a:r>
              <a:rPr lang="en-US" sz="2206" dirty="0">
                <a:solidFill>
                  <a:srgbClr val="000000"/>
                </a:solidFill>
                <a:latin typeface="Arial"/>
              </a:rPr>
              <a:t> &lt;</a:t>
            </a:r>
            <a:r>
              <a:rPr lang="en-US" sz="2206" b="1" dirty="0" err="1">
                <a:solidFill>
                  <a:srgbClr val="FF0000"/>
                </a:solidFill>
                <a:latin typeface="Arial"/>
              </a:rPr>
              <a:t>ContiguousList</a:t>
            </a:r>
            <a:r>
              <a:rPr lang="en-US" sz="2206" dirty="0">
                <a:solidFill>
                  <a:srgbClr val="000000"/>
                </a:solidFill>
                <a:latin typeface="Arial"/>
              </a:rPr>
              <a:t>&lt;of&lt;</a:t>
            </a:r>
            <a:r>
              <a:rPr lang="en-US" sz="2206" dirty="0" err="1">
                <a:solidFill>
                  <a:srgbClr val="000000"/>
                </a:solidFill>
                <a:latin typeface="Arial"/>
              </a:rPr>
              <a:t>GraphNode</a:t>
            </a:r>
            <a:r>
              <a:rPr lang="en-US" sz="2206" dirty="0">
                <a:solidFill>
                  <a:srgbClr val="000000"/>
                </a:solidFill>
                <a:latin typeface="Arial"/>
              </a:rPr>
              <a:t>&gt;&gt; </a:t>
            </a:r>
            <a:br>
              <a:rPr lang="en-US" sz="2208" b="1" dirty="0">
                <a:solidFill>
                  <a:srgbClr val="000000"/>
                </a:solidFill>
                <a:latin typeface="Arial"/>
              </a:rPr>
            </a:br>
            <a:r>
              <a:rPr lang="en-US" sz="2208" b="1" dirty="0">
                <a:solidFill>
                  <a:srgbClr val="000000"/>
                </a:solidFill>
                <a:latin typeface="Arial"/>
              </a:rPr>
              <a:t>End </a:t>
            </a:r>
            <a:r>
              <a:rPr lang="en-US" sz="2208" b="1" dirty="0" err="1">
                <a:solidFill>
                  <a:srgbClr val="000000"/>
                </a:solidFill>
                <a:latin typeface="Arial"/>
              </a:rPr>
              <a:t>DiGraph</a:t>
            </a:r>
            <a:r>
              <a:rPr lang="en-US" sz="2208" b="1" dirty="0">
                <a:solidFill>
                  <a:srgbClr val="000000"/>
                </a:solidFill>
                <a:latin typeface="Arial"/>
              </a:rPr>
              <a:t> </a:t>
            </a:r>
          </a:p>
          <a:p>
            <a:pPr indent="539801">
              <a:lnSpc>
                <a:spcPts val="2600"/>
              </a:lnSpc>
            </a:pPr>
            <a:endParaRPr lang="en-US" sz="2206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7840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89000" y="88900"/>
            <a:ext cx="7534050" cy="75969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900"/>
              </a:lnSpc>
            </a:pPr>
            <a:r>
              <a:rPr lang="en-US" sz="3216" b="1">
                <a:solidFill>
                  <a:srgbClr val="000000"/>
                </a:solidFill>
                <a:latin typeface="Calibri"/>
              </a:rPr>
              <a:t>Digraph as an adjacency list </a:t>
            </a:r>
            <a:r>
              <a:rPr lang="en-US" sz="3216" b="1">
                <a:solidFill>
                  <a:srgbClr val="FF0000"/>
                </a:solidFill>
                <a:latin typeface="Calibri"/>
              </a:rPr>
              <a:t>(using List ADT) </a:t>
            </a:r>
          </a:p>
          <a:p>
            <a:pPr>
              <a:lnSpc>
                <a:spcPts val="2900"/>
              </a:lnSpc>
            </a:pPr>
            <a:endParaRPr lang="en-US" sz="3216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98900" y="876300"/>
            <a:ext cx="1415644" cy="6219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6" b="1">
                <a:solidFill>
                  <a:srgbClr val="000000"/>
                </a:solidFill>
                <a:latin typeface="Calibri"/>
              </a:rPr>
              <a:t>GraphNode </a:t>
            </a:r>
          </a:p>
          <a:p>
            <a:pPr>
              <a:lnSpc>
                <a:spcPts val="2500"/>
              </a:lnSpc>
            </a:pP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987800" y="1270000"/>
            <a:ext cx="3867084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6">
                <a:solidFill>
                  <a:srgbClr val="4742C4"/>
                </a:solidFill>
                <a:latin typeface="Calibri"/>
              </a:rPr>
              <a:t>vertex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&lt;VertexType&gt; // (</a:t>
            </a:r>
            <a:r>
              <a:rPr lang="en-US" sz="2206" i="1">
                <a:solidFill>
                  <a:srgbClr val="000000"/>
                </a:solidFill>
                <a:latin typeface="Calibri"/>
              </a:rPr>
              <a:t>key field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) </a:t>
            </a:r>
          </a:p>
          <a:p>
            <a:pPr>
              <a:lnSpc>
                <a:spcPts val="2500"/>
              </a:lnSpc>
            </a:pPr>
            <a:endParaRPr lang="en-US" sz="2206" i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87800" y="1600200"/>
            <a:ext cx="5036250" cy="12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sz="2206">
                <a:solidFill>
                  <a:srgbClr val="4742C4"/>
                </a:solidFill>
                <a:latin typeface="Calibri"/>
              </a:rPr>
              <a:t>adjVertex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&lt;</a:t>
            </a:r>
            <a:r>
              <a:rPr lang="en-US" sz="2026" b="1">
                <a:solidFill>
                  <a:srgbClr val="FF0000"/>
                </a:solidFill>
                <a:latin typeface="Calibri"/>
              </a:rPr>
              <a:t>Contiguous</a:t>
            </a:r>
            <a:r>
              <a:rPr lang="en-US" sz="2206" b="1">
                <a:solidFill>
                  <a:srgbClr val="FF0000"/>
                </a:solidFill>
                <a:latin typeface="Calibri"/>
              </a:rPr>
              <a:t>List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of&lt; VertexType &gt;&gt; </a:t>
            </a:r>
            <a:br>
              <a:rPr lang="en-US" sz="2206">
                <a:solidFill>
                  <a:srgbClr val="4742C4"/>
                </a:solidFill>
                <a:latin typeface="Calibri"/>
              </a:rPr>
            </a:br>
            <a:r>
              <a:rPr lang="en-US" sz="2206">
                <a:solidFill>
                  <a:srgbClr val="4742C4"/>
                </a:solidFill>
                <a:latin typeface="Calibri"/>
              </a:rPr>
              <a:t>indegree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&lt;int&gt; </a:t>
            </a:r>
          </a:p>
          <a:p>
            <a:pPr>
              <a:lnSpc>
                <a:spcPts val="3200"/>
              </a:lnSpc>
            </a:pPr>
            <a:endParaRPr lang="en-US" sz="2206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87800" y="2476500"/>
            <a:ext cx="1907638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8">
                <a:solidFill>
                  <a:srgbClr val="4742C4"/>
                </a:solidFill>
                <a:latin typeface="Calibri"/>
              </a:rPr>
              <a:t>outdegree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 &lt;int&gt; </a:t>
            </a:r>
          </a:p>
          <a:p>
            <a:pPr>
              <a:lnSpc>
                <a:spcPts val="2500"/>
              </a:lnSpc>
            </a:pPr>
            <a:endParaRPr lang="en-US" sz="2208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98900" y="2819400"/>
            <a:ext cx="2506007" cy="120327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indent="91821">
              <a:lnSpc>
                <a:spcPts val="3200"/>
              </a:lnSpc>
            </a:pPr>
            <a:r>
              <a:rPr lang="en-US" sz="2208">
                <a:solidFill>
                  <a:srgbClr val="0000CC"/>
                </a:solidFill>
                <a:latin typeface="Calibri"/>
              </a:rPr>
              <a:t>isMarked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 &lt;boolean&gt; </a:t>
            </a:r>
            <a:br>
              <a:rPr lang="en-US" sz="2208" b="1">
                <a:solidFill>
                  <a:srgbClr val="000000"/>
                </a:solidFill>
                <a:latin typeface="Calibri"/>
              </a:rPr>
            </a:br>
            <a:r>
              <a:rPr lang="en-US" sz="2208" b="1">
                <a:solidFill>
                  <a:srgbClr val="000000"/>
                </a:solidFill>
                <a:latin typeface="Calibri"/>
              </a:rPr>
              <a:t>End GraphNode </a:t>
            </a:r>
          </a:p>
          <a:p>
            <a:pPr indent="91821">
              <a:lnSpc>
                <a:spcPts val="3200"/>
              </a:lnSpc>
            </a:pPr>
            <a:endParaRPr lang="en-US" sz="2208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5200" y="3606800"/>
            <a:ext cx="1867499" cy="51296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2206">
                <a:solidFill>
                  <a:srgbClr val="FF0000"/>
                </a:solidFill>
                <a:latin typeface="Arial"/>
              </a:rPr>
              <a:t>contiguous list </a:t>
            </a:r>
          </a:p>
          <a:p>
            <a:pPr>
              <a:lnSpc>
                <a:spcPts val="2000"/>
              </a:lnSpc>
            </a:pP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65100" y="4470400"/>
            <a:ext cx="3744615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8" b="1" i="1">
                <a:solidFill>
                  <a:srgbClr val="000099"/>
                </a:solidFill>
                <a:latin typeface="Arial"/>
              </a:rPr>
              <a:t>ADT List is contiguous list</a:t>
            </a:r>
            <a:r>
              <a:rPr lang="en-US" sz="2208" b="1">
                <a:solidFill>
                  <a:srgbClr val="000099"/>
                </a:solidFill>
                <a:latin typeface="Arial"/>
              </a:rPr>
              <a:t>: </a:t>
            </a:r>
          </a:p>
          <a:p>
            <a:pPr>
              <a:lnSpc>
                <a:spcPts val="2500"/>
              </a:lnSpc>
            </a:pPr>
            <a:endParaRPr lang="en-US" sz="2208" b="1" i="1">
              <a:solidFill>
                <a:srgbClr val="000099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5100" y="5245100"/>
            <a:ext cx="1194238" cy="6219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6" b="1">
                <a:solidFill>
                  <a:srgbClr val="000000"/>
                </a:solidFill>
                <a:latin typeface="Arial"/>
              </a:rPr>
              <a:t>DiGraph </a:t>
            </a:r>
          </a:p>
          <a:p>
            <a:pPr>
              <a:lnSpc>
                <a:spcPts val="2500"/>
              </a:lnSpc>
            </a:pPr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65100" y="5613400"/>
            <a:ext cx="6242093" cy="100027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indent="539801">
              <a:lnSpc>
                <a:spcPts val="2600"/>
              </a:lnSpc>
            </a:pPr>
            <a:r>
              <a:rPr lang="en-US" sz="2206">
                <a:solidFill>
                  <a:srgbClr val="FF3399"/>
                </a:solidFill>
                <a:latin typeface="Arial"/>
              </a:rPr>
              <a:t>digraph</a:t>
            </a:r>
            <a:r>
              <a:rPr lang="en-US" sz="2206">
                <a:solidFill>
                  <a:srgbClr val="000000"/>
                </a:solidFill>
                <a:latin typeface="Arial"/>
              </a:rPr>
              <a:t> &lt;</a:t>
            </a:r>
            <a:r>
              <a:rPr lang="en-US" sz="2206" b="1">
                <a:solidFill>
                  <a:srgbClr val="FF0000"/>
                </a:solidFill>
                <a:latin typeface="Arial"/>
              </a:rPr>
              <a:t>ContiguousList</a:t>
            </a:r>
            <a:r>
              <a:rPr lang="en-US" sz="2206">
                <a:solidFill>
                  <a:srgbClr val="000000"/>
                </a:solidFill>
                <a:latin typeface="Arial"/>
              </a:rPr>
              <a:t>&lt;of&lt;GraphNode&gt;&gt; </a:t>
            </a:r>
            <a:br>
              <a:rPr lang="en-US" sz="2208" b="1">
                <a:solidFill>
                  <a:srgbClr val="000000"/>
                </a:solidFill>
                <a:latin typeface="Arial"/>
              </a:rPr>
            </a:br>
            <a:r>
              <a:rPr lang="en-US" sz="2208" b="1">
                <a:solidFill>
                  <a:srgbClr val="000000"/>
                </a:solidFill>
                <a:latin typeface="Arial"/>
              </a:rPr>
              <a:t>End DiGraph </a:t>
            </a:r>
          </a:p>
          <a:p>
            <a:pPr indent="539801">
              <a:lnSpc>
                <a:spcPts val="2600"/>
              </a:lnSpc>
            </a:pPr>
            <a:endParaRPr lang="en-US" sz="2206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4215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40100" y="279400"/>
            <a:ext cx="2571153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000000"/>
                </a:solidFill>
                <a:latin typeface="Calibri"/>
              </a:rPr>
              <a:t>GraphNode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4300" y="1066800"/>
            <a:ext cx="6397008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00"/>
                </a:solidFill>
                <a:latin typeface="Calibri"/>
              </a:rPr>
              <a:t>&lt;void&gt; GraphNode()  </a:t>
            </a:r>
            <a:r>
              <a:rPr lang="en-US" sz="2424">
                <a:solidFill>
                  <a:srgbClr val="E36C09"/>
                </a:solidFill>
                <a:latin typeface="Calibri"/>
              </a:rPr>
              <a:t>//</a:t>
            </a:r>
            <a:r>
              <a:rPr lang="en-US" sz="2424" i="1">
                <a:solidFill>
                  <a:srgbClr val="E36C09"/>
                </a:solidFill>
                <a:latin typeface="Calibri"/>
              </a:rPr>
              <a:t> constructor of GraphNode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E36C09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0700" y="1511300"/>
            <a:ext cx="2012474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4742C4"/>
                </a:solidFill>
                <a:latin typeface="Calibri"/>
              </a:rPr>
              <a:t>1.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 indegree = 0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0700" y="1943100"/>
            <a:ext cx="2204578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4742C4"/>
                </a:solidFill>
                <a:latin typeface="Calibri"/>
              </a:rPr>
              <a:t>2.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 outdegree = 0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0700" y="2324100"/>
            <a:ext cx="7340727" cy="128112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defTabSz="914400" eaLnBrk="1" fontAlgn="auto" latinLnBrk="0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251200" algn="l"/>
              </a:tabLst>
              <a:defRPr/>
            </a:pPr>
            <a:r>
              <a:rPr lang="en-US" sz="2424">
                <a:solidFill>
                  <a:srgbClr val="4742C4"/>
                </a:solidFill>
                <a:latin typeface="Calibri"/>
              </a:rPr>
              <a:t>3.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 adjVertex.clear() </a:t>
            </a:r>
            <a:r>
              <a:rPr lang="en-US" sz="2424">
                <a:solidFill>
                  <a:srgbClr val="E36C09"/>
                </a:solidFill>
                <a:latin typeface="Calibri"/>
              </a:rPr>
              <a:t>//</a:t>
            </a:r>
            <a:r>
              <a:rPr lang="en-US" sz="2424" i="1">
                <a:solidFill>
                  <a:srgbClr val="E36C09"/>
                </a:solidFill>
                <a:latin typeface="Calibri"/>
              </a:rPr>
              <a:t> By default, constructor of adjVertex </a:t>
            </a:r>
            <a:br>
              <a:rPr lang="en-US" sz="2424" i="1">
                <a:solidFill>
                  <a:srgbClr val="E36C09"/>
                </a:solidFill>
                <a:latin typeface="Calibri"/>
              </a:rPr>
            </a:br>
            <a:r>
              <a:rPr lang="en-US" sz="2424" i="1">
                <a:solidFill>
                  <a:srgbClr val="E36C09"/>
                </a:solidFill>
                <a:latin typeface="Calibri"/>
              </a:rPr>
              <a:t>	made it empty. </a:t>
            </a:r>
          </a:p>
          <a:p>
            <a:pPr marL="0" marR="0" lvl="0" indent="0" defTabSz="914400" eaLnBrk="1" fontAlgn="auto" latinLnBrk="0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251200" algn="l"/>
              </a:tabLst>
              <a:defRPr/>
            </a:pPr>
            <a:endParaRPr lang="en-US" sz="2424" i="1">
              <a:solidFill>
                <a:srgbClr val="E36C09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" y="3263900"/>
            <a:ext cx="2075953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00"/>
                </a:solidFill>
                <a:latin typeface="Calibri"/>
              </a:rPr>
              <a:t>End GraphNode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337300" y="4381500"/>
            <a:ext cx="1526123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2">
                <a:solidFill>
                  <a:srgbClr val="000000"/>
                </a:solidFill>
                <a:latin typeface="Calibri"/>
              </a:rPr>
              <a:t>GraphNode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337300" y="5118100"/>
            <a:ext cx="2262607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4742C4"/>
                </a:solidFill>
                <a:latin typeface="Calibri"/>
              </a:rPr>
              <a:t>vertex   adjVertex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543800" y="5676900"/>
            <a:ext cx="522579" cy="53860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US" sz="1812">
                <a:solidFill>
                  <a:srgbClr val="FF0000"/>
                </a:solidFill>
                <a:latin typeface="Calibri"/>
              </a:rPr>
              <a:t>head </a:t>
            </a:r>
          </a:p>
          <a:p>
            <a:pPr>
              <a:lnSpc>
                <a:spcPts val="21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631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6300" y="279400"/>
            <a:ext cx="5003165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000000"/>
                </a:solidFill>
                <a:latin typeface="Calibri"/>
              </a:rPr>
              <a:t>Operations for Digraph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781300" y="1460500"/>
            <a:ext cx="2043445" cy="77905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>
                <a:sym typeface="Wingdings"/>
              </a:rPr>
              <a:t></a:t>
            </a:r>
            <a:r>
              <a:rPr lang="en-US" sz="2680">
                <a:solidFill>
                  <a:srgbClr val="000000"/>
                </a:solidFill>
                <a:latin typeface="Calibri"/>
                <a:sym typeface="Wingdings"/>
              </a:rPr>
              <a:t>Insert Vertex </a:t>
            </a:r>
          </a:p>
          <a:p>
            <a:pPr>
              <a:lnSpc>
                <a:spcPts val="3200"/>
              </a:lnSpc>
            </a:pP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781300" y="1943100"/>
            <a:ext cx="2225417" cy="398923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6400"/>
              </a:lnSpc>
            </a:pPr>
            <a:r>
              <a:rPr lang="en-US">
                <a:sym typeface="Wingdings"/>
              </a:rPr>
              <a:t></a:t>
            </a:r>
            <a:r>
              <a:rPr lang="en-US" sz="2680">
                <a:solidFill>
                  <a:srgbClr val="000000"/>
                </a:solidFill>
                <a:latin typeface="Calibri"/>
                <a:sym typeface="Wingdings"/>
              </a:rPr>
              <a:t> Delete Vertex </a:t>
            </a:r>
            <a:br>
              <a:rPr lang="en-US" sz="2680">
                <a:solidFill>
                  <a:srgbClr val="000000"/>
                </a:solidFill>
                <a:latin typeface="Calibri"/>
                <a:sym typeface="Wingdings"/>
              </a:rPr>
            </a:br>
            <a:r>
              <a:rPr lang="en-US" sz="2680">
                <a:solidFill>
                  <a:srgbClr val="000000"/>
                </a:solidFill>
                <a:latin typeface="Calibri"/>
                <a:sym typeface="Wingdings"/>
              </a:rPr>
              <a:t>Insert edge </a:t>
            </a:r>
            <a:br>
              <a:rPr lang="en-US" sz="2680">
                <a:solidFill>
                  <a:srgbClr val="000000"/>
                </a:solidFill>
                <a:latin typeface="Calibri"/>
                <a:sym typeface="Wingdings"/>
              </a:rPr>
            </a:br>
            <a:r>
              <a:rPr lang="en-US" sz="2680">
                <a:solidFill>
                  <a:srgbClr val="000000"/>
                </a:solidFill>
                <a:latin typeface="Calibri"/>
                <a:sym typeface="Wingdings"/>
              </a:rPr>
              <a:t> Delete edge </a:t>
            </a:r>
            <a:br>
              <a:rPr lang="en-US" sz="2680">
                <a:solidFill>
                  <a:srgbClr val="000000"/>
                </a:solidFill>
                <a:latin typeface="Calibri"/>
                <a:sym typeface="Wingdings"/>
              </a:rPr>
            </a:br>
            <a:r>
              <a:rPr lang="en-US" sz="2680">
                <a:solidFill>
                  <a:srgbClr val="000000"/>
                </a:solidFill>
                <a:latin typeface="Calibri"/>
                <a:sym typeface="Wingdings"/>
              </a:rPr>
              <a:t> Traverse </a:t>
            </a:r>
          </a:p>
          <a:p>
            <a:pPr>
              <a:lnSpc>
                <a:spcPts val="6400"/>
              </a:lnSpc>
            </a:pPr>
            <a:endParaRPr lang="en-US" sz="268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6579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33800" y="165100"/>
            <a:ext cx="1785682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08" b="1">
                <a:solidFill>
                  <a:srgbClr val="000000"/>
                </a:solidFill>
                <a:latin typeface="Calibri"/>
              </a:rPr>
              <a:t>Digraph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8900" y="990600"/>
            <a:ext cx="1081578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 b="1">
                <a:solidFill>
                  <a:srgbClr val="000000"/>
                </a:solidFill>
                <a:latin typeface="Calibri"/>
              </a:rPr>
              <a:t>Digraph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19100" y="1358900"/>
            <a:ext cx="1040221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 i="1">
                <a:solidFill>
                  <a:srgbClr val="000000"/>
                </a:solidFill>
                <a:latin typeface="Calibri"/>
              </a:rPr>
              <a:t>private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: </a:t>
            </a:r>
          </a:p>
          <a:p>
            <a:pPr>
              <a:lnSpc>
                <a:spcPts val="2700"/>
              </a:lnSpc>
            </a:pPr>
            <a:endParaRPr lang="en-US" sz="2424" i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3300" y="1727200"/>
            <a:ext cx="6675867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2">
                <a:solidFill>
                  <a:srgbClr val="FF3399"/>
                </a:solidFill>
                <a:latin typeface="Calibri"/>
              </a:rPr>
              <a:t>digraph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 &lt;List of &lt;GraphNode&gt; &gt; </a:t>
            </a:r>
            <a:r>
              <a:rPr lang="en-US" sz="2422">
                <a:solidFill>
                  <a:srgbClr val="E36C09"/>
                </a:solidFill>
                <a:latin typeface="Calibri"/>
              </a:rPr>
              <a:t>// </a:t>
            </a:r>
            <a:r>
              <a:rPr lang="en-US" sz="2422" i="1">
                <a:solidFill>
                  <a:srgbClr val="E36C09"/>
                </a:solidFill>
                <a:latin typeface="Calibri"/>
              </a:rPr>
              <a:t>using of List ADT . </a:t>
            </a:r>
          </a:p>
          <a:p>
            <a:pPr>
              <a:lnSpc>
                <a:spcPts val="2700"/>
              </a:lnSpc>
            </a:pPr>
            <a:endParaRPr lang="en-US" sz="2422">
              <a:solidFill>
                <a:srgbClr val="E36C09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3300" y="2120900"/>
            <a:ext cx="7483908" cy="7437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900"/>
              </a:lnSpc>
            </a:pPr>
            <a:r>
              <a:rPr lang="en-US" sz="2422" dirty="0">
                <a:solidFill>
                  <a:srgbClr val="000000"/>
                </a:solidFill>
                <a:latin typeface="Calibri"/>
              </a:rPr>
              <a:t>&lt;void&gt;</a:t>
            </a:r>
            <a:r>
              <a:rPr lang="en-US" sz="2422" dirty="0">
                <a:solidFill>
                  <a:srgbClr val="FF0000"/>
                </a:solidFill>
                <a:latin typeface="Calibri"/>
              </a:rPr>
              <a:t> </a:t>
            </a:r>
            <a:r>
              <a:rPr lang="en-US" sz="2422" dirty="0" err="1">
                <a:solidFill>
                  <a:srgbClr val="FF0000"/>
                </a:solidFill>
                <a:latin typeface="Calibri"/>
              </a:rPr>
              <a:t>Remove_EdgesToVertex</a:t>
            </a:r>
            <a:r>
              <a:rPr lang="en-US" sz="2422" dirty="0">
                <a:solidFill>
                  <a:srgbClr val="000000"/>
                </a:solidFill>
                <a:latin typeface="Calibri"/>
              </a:rPr>
              <a:t>(</a:t>
            </a:r>
            <a:r>
              <a:rPr lang="en-US" sz="2422" dirty="0" err="1">
                <a:solidFill>
                  <a:srgbClr val="000000"/>
                </a:solidFill>
                <a:latin typeface="Calibri"/>
              </a:rPr>
              <a:t>val</a:t>
            </a:r>
            <a:r>
              <a:rPr lang="en-US" sz="2422" dirty="0">
                <a:solidFill>
                  <a:srgbClr val="0000CC"/>
                </a:solidFill>
                <a:latin typeface="Calibri"/>
              </a:rPr>
              <a:t> </a:t>
            </a:r>
            <a:r>
              <a:rPr lang="en-US" sz="2422" dirty="0" err="1">
                <a:solidFill>
                  <a:srgbClr val="0000CC"/>
                </a:solidFill>
                <a:latin typeface="Calibri"/>
              </a:rPr>
              <a:t>VertexTo</a:t>
            </a:r>
            <a:r>
              <a:rPr lang="en-US" sz="2422" dirty="0">
                <a:solidFill>
                  <a:srgbClr val="000000"/>
                </a:solidFill>
                <a:latin typeface="Calibri"/>
              </a:rPr>
              <a:t> &lt;</a:t>
            </a:r>
            <a:r>
              <a:rPr lang="en-US" sz="2422" dirty="0" err="1">
                <a:solidFill>
                  <a:srgbClr val="000000"/>
                </a:solidFill>
                <a:latin typeface="Calibri"/>
              </a:rPr>
              <a:t>VertexType</a:t>
            </a:r>
            <a:r>
              <a:rPr lang="en-US" sz="2422" dirty="0">
                <a:solidFill>
                  <a:srgbClr val="000000"/>
                </a:solidFill>
                <a:latin typeface="Calibri"/>
              </a:rPr>
              <a:t>&gt;) </a:t>
            </a:r>
          </a:p>
          <a:p>
            <a:pPr>
              <a:lnSpc>
                <a:spcPts val="2900"/>
              </a:lnSpc>
            </a:pPr>
            <a:endParaRPr lang="en-US" sz="2422" dirty="0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9100" y="2882900"/>
            <a:ext cx="908903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 i="1">
                <a:solidFill>
                  <a:srgbClr val="000000"/>
                </a:solidFill>
                <a:latin typeface="Calibri"/>
              </a:rPr>
              <a:t>public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: </a:t>
            </a:r>
          </a:p>
          <a:p>
            <a:pPr>
              <a:lnSpc>
                <a:spcPts val="2700"/>
              </a:lnSpc>
            </a:pPr>
            <a:endParaRPr lang="en-US" sz="2424" i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3300" y="3225800"/>
            <a:ext cx="7095469" cy="185948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defTabSz="914400" eaLnBrk="1" fontAlgn="auto" latinLnBrk="0" hangingPunct="1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213100" algn="l"/>
              </a:tabLst>
              <a:defRPr/>
            </a:pPr>
            <a:r>
              <a:rPr lang="en-US" sz="2424" dirty="0">
                <a:solidFill>
                  <a:srgbClr val="000000"/>
                </a:solidFill>
                <a:latin typeface="Calibri"/>
              </a:rPr>
              <a:t>&lt;</a:t>
            </a:r>
            <a:r>
              <a:rPr lang="en-US" sz="2424" dirty="0" err="1">
                <a:solidFill>
                  <a:srgbClr val="000000"/>
                </a:solidFill>
                <a:latin typeface="Calibri"/>
              </a:rPr>
              <a:t>ErrorCode</a:t>
            </a:r>
            <a:r>
              <a:rPr lang="en-US" sz="2424" dirty="0">
                <a:solidFill>
                  <a:srgbClr val="000000"/>
                </a:solidFill>
                <a:latin typeface="Calibri"/>
              </a:rPr>
              <a:t>&gt; </a:t>
            </a:r>
            <a:r>
              <a:rPr lang="en-US" sz="2424" dirty="0" err="1">
                <a:solidFill>
                  <a:srgbClr val="FF0000"/>
                </a:solidFill>
                <a:latin typeface="Calibri"/>
              </a:rPr>
              <a:t>InsertVertex</a:t>
            </a:r>
            <a:r>
              <a:rPr lang="en-US" sz="2424" dirty="0">
                <a:solidFill>
                  <a:srgbClr val="000000"/>
                </a:solidFill>
                <a:latin typeface="Calibri"/>
              </a:rPr>
              <a:t> (</a:t>
            </a:r>
            <a:r>
              <a:rPr lang="en-US" sz="2424" dirty="0" err="1">
                <a:solidFill>
                  <a:srgbClr val="000000"/>
                </a:solidFill>
                <a:latin typeface="Calibri"/>
              </a:rPr>
              <a:t>val</a:t>
            </a:r>
            <a:r>
              <a:rPr lang="en-US" sz="2424" dirty="0">
                <a:solidFill>
                  <a:srgbClr val="0000CC"/>
                </a:solidFill>
                <a:latin typeface="Calibri"/>
              </a:rPr>
              <a:t> </a:t>
            </a:r>
            <a:r>
              <a:rPr lang="en-US" sz="2424" dirty="0" err="1">
                <a:solidFill>
                  <a:srgbClr val="0000CC"/>
                </a:solidFill>
                <a:latin typeface="Calibri"/>
              </a:rPr>
              <a:t>newVertex</a:t>
            </a:r>
            <a:r>
              <a:rPr lang="en-US" sz="2424" dirty="0">
                <a:solidFill>
                  <a:srgbClr val="000000"/>
                </a:solidFill>
                <a:latin typeface="Calibri"/>
              </a:rPr>
              <a:t> &lt;</a:t>
            </a:r>
            <a:r>
              <a:rPr lang="en-US" sz="2424" dirty="0" err="1">
                <a:solidFill>
                  <a:srgbClr val="000000"/>
                </a:solidFill>
                <a:latin typeface="Calibri"/>
              </a:rPr>
              <a:t>VertexType</a:t>
            </a:r>
            <a:r>
              <a:rPr lang="en-US" sz="2424" dirty="0">
                <a:solidFill>
                  <a:srgbClr val="000000"/>
                </a:solidFill>
                <a:latin typeface="Calibri"/>
              </a:rPr>
              <a:t>&gt;) </a:t>
            </a:r>
            <a:br>
              <a:rPr lang="en-US" sz="2424" dirty="0">
                <a:solidFill>
                  <a:srgbClr val="000000"/>
                </a:solidFill>
                <a:latin typeface="Calibri"/>
              </a:rPr>
            </a:br>
            <a:r>
              <a:rPr lang="en-US" sz="2424" dirty="0">
                <a:solidFill>
                  <a:srgbClr val="000000"/>
                </a:solidFill>
                <a:latin typeface="Calibri"/>
              </a:rPr>
              <a:t>&lt;</a:t>
            </a:r>
            <a:r>
              <a:rPr lang="en-US" sz="2424" dirty="0" err="1">
                <a:solidFill>
                  <a:srgbClr val="000000"/>
                </a:solidFill>
                <a:latin typeface="Calibri"/>
              </a:rPr>
              <a:t>ErrorCode</a:t>
            </a:r>
            <a:r>
              <a:rPr lang="en-US" sz="2424" dirty="0">
                <a:solidFill>
                  <a:srgbClr val="000000"/>
                </a:solidFill>
                <a:latin typeface="Calibri"/>
              </a:rPr>
              <a:t>&gt; </a:t>
            </a:r>
            <a:r>
              <a:rPr lang="en-US" sz="2424" dirty="0" err="1">
                <a:solidFill>
                  <a:srgbClr val="FF0000"/>
                </a:solidFill>
                <a:latin typeface="Calibri"/>
              </a:rPr>
              <a:t>DeleteVertex</a:t>
            </a:r>
            <a:r>
              <a:rPr lang="en-US" sz="2424" dirty="0">
                <a:solidFill>
                  <a:srgbClr val="000000"/>
                </a:solidFill>
                <a:latin typeface="Calibri"/>
              </a:rPr>
              <a:t> (</a:t>
            </a:r>
            <a:r>
              <a:rPr lang="en-US" sz="2424" dirty="0" err="1">
                <a:solidFill>
                  <a:srgbClr val="000000"/>
                </a:solidFill>
                <a:latin typeface="Calibri"/>
              </a:rPr>
              <a:t>val</a:t>
            </a:r>
            <a:r>
              <a:rPr lang="en-US" sz="2424" dirty="0">
                <a:solidFill>
                  <a:srgbClr val="0000CC"/>
                </a:solidFill>
                <a:latin typeface="Calibri"/>
              </a:rPr>
              <a:t> Vertex</a:t>
            </a:r>
            <a:r>
              <a:rPr lang="en-US" sz="2424" dirty="0">
                <a:solidFill>
                  <a:srgbClr val="000000"/>
                </a:solidFill>
                <a:latin typeface="Calibri"/>
              </a:rPr>
              <a:t> &lt;</a:t>
            </a:r>
            <a:r>
              <a:rPr lang="en-US" sz="2424" dirty="0" err="1">
                <a:solidFill>
                  <a:srgbClr val="000000"/>
                </a:solidFill>
                <a:latin typeface="Calibri"/>
              </a:rPr>
              <a:t>VertexType</a:t>
            </a:r>
            <a:r>
              <a:rPr lang="en-US" sz="2424" dirty="0">
                <a:solidFill>
                  <a:srgbClr val="000000"/>
                </a:solidFill>
                <a:latin typeface="Calibri"/>
              </a:rPr>
              <a:t>&gt;) </a:t>
            </a:r>
            <a:br>
              <a:rPr lang="en-US" sz="2422" dirty="0">
                <a:solidFill>
                  <a:srgbClr val="000000"/>
                </a:solidFill>
                <a:latin typeface="Calibri"/>
              </a:rPr>
            </a:br>
            <a:r>
              <a:rPr lang="en-US" sz="2422" dirty="0">
                <a:solidFill>
                  <a:srgbClr val="000000"/>
                </a:solidFill>
                <a:latin typeface="Calibri"/>
              </a:rPr>
              <a:t>&lt;</a:t>
            </a:r>
            <a:r>
              <a:rPr lang="en-US" sz="2422" dirty="0" err="1">
                <a:solidFill>
                  <a:srgbClr val="000000"/>
                </a:solidFill>
                <a:latin typeface="Calibri"/>
              </a:rPr>
              <a:t>ErrorCode</a:t>
            </a:r>
            <a:r>
              <a:rPr lang="en-US" sz="2422" dirty="0">
                <a:solidFill>
                  <a:srgbClr val="000000"/>
                </a:solidFill>
                <a:latin typeface="Calibri"/>
              </a:rPr>
              <a:t>&gt; </a:t>
            </a:r>
            <a:r>
              <a:rPr lang="en-US" sz="2422" dirty="0" err="1">
                <a:solidFill>
                  <a:srgbClr val="FF0000"/>
                </a:solidFill>
                <a:latin typeface="Calibri"/>
              </a:rPr>
              <a:t>InsertEdge</a:t>
            </a:r>
            <a:r>
              <a:rPr lang="en-US" sz="2422" dirty="0">
                <a:solidFill>
                  <a:srgbClr val="000000"/>
                </a:solidFill>
                <a:latin typeface="Calibri"/>
              </a:rPr>
              <a:t> (</a:t>
            </a:r>
            <a:r>
              <a:rPr lang="en-US" sz="2422" dirty="0" err="1">
                <a:solidFill>
                  <a:srgbClr val="000000"/>
                </a:solidFill>
                <a:latin typeface="Calibri"/>
              </a:rPr>
              <a:t>val</a:t>
            </a:r>
            <a:r>
              <a:rPr lang="en-US" sz="2422" dirty="0">
                <a:solidFill>
                  <a:srgbClr val="0000CC"/>
                </a:solidFill>
                <a:latin typeface="Calibri"/>
              </a:rPr>
              <a:t> </a:t>
            </a:r>
            <a:r>
              <a:rPr lang="en-US" sz="2422" dirty="0" err="1">
                <a:solidFill>
                  <a:srgbClr val="0000CC"/>
                </a:solidFill>
                <a:latin typeface="Calibri"/>
              </a:rPr>
              <a:t>VertexFrom</a:t>
            </a:r>
            <a:r>
              <a:rPr lang="en-US" sz="2422" dirty="0">
                <a:solidFill>
                  <a:srgbClr val="000000"/>
                </a:solidFill>
                <a:latin typeface="Calibri"/>
              </a:rPr>
              <a:t> &lt;</a:t>
            </a:r>
            <a:r>
              <a:rPr lang="en-US" sz="2422" dirty="0" err="1">
                <a:solidFill>
                  <a:srgbClr val="000000"/>
                </a:solidFill>
                <a:latin typeface="Calibri"/>
              </a:rPr>
              <a:t>VertexType</a:t>
            </a:r>
            <a:r>
              <a:rPr lang="en-US" sz="2422" dirty="0">
                <a:solidFill>
                  <a:srgbClr val="000000"/>
                </a:solidFill>
                <a:latin typeface="Calibri"/>
              </a:rPr>
              <a:t>&gt;, </a:t>
            </a:r>
            <a:br>
              <a:rPr lang="en-US" sz="2422" dirty="0">
                <a:solidFill>
                  <a:srgbClr val="000000"/>
                </a:solidFill>
                <a:latin typeface="Calibri"/>
              </a:rPr>
            </a:br>
            <a:r>
              <a:rPr lang="en-US" sz="2422" dirty="0">
                <a:solidFill>
                  <a:srgbClr val="000000"/>
                </a:solidFill>
                <a:latin typeface="Calibri"/>
              </a:rPr>
              <a:t>	</a:t>
            </a:r>
            <a:r>
              <a:rPr lang="en-US" sz="2422" dirty="0" err="1">
                <a:solidFill>
                  <a:srgbClr val="000000"/>
                </a:solidFill>
                <a:latin typeface="Calibri"/>
              </a:rPr>
              <a:t>val</a:t>
            </a:r>
            <a:r>
              <a:rPr lang="en-US" sz="2422" dirty="0">
                <a:solidFill>
                  <a:srgbClr val="0000CC"/>
                </a:solidFill>
                <a:latin typeface="Calibri"/>
              </a:rPr>
              <a:t> </a:t>
            </a:r>
            <a:r>
              <a:rPr lang="en-US" sz="2422" dirty="0" err="1">
                <a:solidFill>
                  <a:srgbClr val="0000CC"/>
                </a:solidFill>
                <a:latin typeface="Calibri"/>
              </a:rPr>
              <a:t>VertexTo</a:t>
            </a:r>
            <a:r>
              <a:rPr lang="en-US" sz="2422" dirty="0">
                <a:solidFill>
                  <a:srgbClr val="000000"/>
                </a:solidFill>
                <a:latin typeface="Calibri"/>
              </a:rPr>
              <a:t> &lt;</a:t>
            </a:r>
            <a:r>
              <a:rPr lang="en-US" sz="2422" dirty="0" err="1">
                <a:solidFill>
                  <a:srgbClr val="000000"/>
                </a:solidFill>
                <a:latin typeface="Calibri"/>
              </a:rPr>
              <a:t>VertexType</a:t>
            </a:r>
            <a:r>
              <a:rPr lang="en-US" sz="2422" dirty="0">
                <a:solidFill>
                  <a:srgbClr val="000000"/>
                </a:solidFill>
                <a:latin typeface="Calibri"/>
              </a:rPr>
              <a:t>&gt;) </a:t>
            </a:r>
          </a:p>
          <a:p>
            <a:pPr marL="0" marR="0" lvl="0" indent="0" defTabSz="914400" eaLnBrk="1" fontAlgn="auto" latinLnBrk="0" hangingPunct="1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213100" algn="l"/>
              </a:tabLst>
              <a:defRPr/>
            </a:pPr>
            <a:endParaRPr lang="en-US" sz="2422" dirty="0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3300" y="4699000"/>
            <a:ext cx="7090531" cy="107721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defTabSz="91440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213100" algn="l"/>
              </a:tabLst>
              <a:defRPr/>
            </a:pPr>
            <a:r>
              <a:rPr lang="en-US" sz="2424">
                <a:solidFill>
                  <a:srgbClr val="000000"/>
                </a:solidFill>
                <a:latin typeface="Calibri"/>
              </a:rPr>
              <a:t>&lt;ErrorCode&gt; </a:t>
            </a:r>
            <a:r>
              <a:rPr lang="en-US" sz="2424">
                <a:solidFill>
                  <a:srgbClr val="FF0000"/>
                </a:solidFill>
                <a:latin typeface="Calibri"/>
              </a:rPr>
              <a:t>DeleteEdge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(val</a:t>
            </a:r>
            <a:r>
              <a:rPr lang="en-US" sz="2424">
                <a:solidFill>
                  <a:srgbClr val="0000CC"/>
                </a:solidFill>
                <a:latin typeface="Calibri"/>
              </a:rPr>
              <a:t> VertexFrom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&lt;VertexType&gt;, </a:t>
            </a:r>
            <a:br>
              <a:rPr lang="en-US" sz="2424">
                <a:solidFill>
                  <a:srgbClr val="000000"/>
                </a:solidFill>
                <a:latin typeface="Calibri"/>
              </a:rPr>
            </a:br>
            <a:r>
              <a:rPr lang="en-US" sz="2424">
                <a:solidFill>
                  <a:srgbClr val="000000"/>
                </a:solidFill>
                <a:latin typeface="Calibri"/>
              </a:rPr>
              <a:t>	val</a:t>
            </a:r>
            <a:r>
              <a:rPr lang="en-US" sz="2424">
                <a:solidFill>
                  <a:srgbClr val="0000CC"/>
                </a:solidFill>
                <a:latin typeface="Calibri"/>
              </a:rPr>
              <a:t> VertexTo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&lt;VertexType&gt;) </a:t>
            </a:r>
          </a:p>
          <a:p>
            <a:pPr marL="0" marR="0" lvl="0" indent="0" defTabSz="91440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213100" algn="l"/>
              </a:tabLst>
              <a:defRPr/>
            </a:pPr>
            <a:endParaRPr lang="en-US" sz="2424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900" y="5791200"/>
            <a:ext cx="5768759" cy="111569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indent="915010">
              <a:lnSpc>
                <a:spcPts val="2900"/>
              </a:lnSpc>
            </a:pPr>
            <a:r>
              <a:rPr lang="en-US" sz="2422">
                <a:solidFill>
                  <a:srgbClr val="E36C09"/>
                </a:solidFill>
                <a:latin typeface="Calibri"/>
              </a:rPr>
              <a:t>// </a:t>
            </a:r>
            <a:r>
              <a:rPr lang="en-US" sz="2422" i="1">
                <a:solidFill>
                  <a:srgbClr val="E36C09"/>
                </a:solidFill>
                <a:latin typeface="Calibri"/>
              </a:rPr>
              <a:t>Other methods for Graph Traversal. </a:t>
            </a:r>
            <a:br>
              <a:rPr lang="en-US" sz="2422" b="1">
                <a:solidFill>
                  <a:srgbClr val="000000"/>
                </a:solidFill>
                <a:latin typeface="Calibri"/>
              </a:rPr>
            </a:br>
            <a:r>
              <a:rPr lang="en-US" sz="2422" b="1">
                <a:solidFill>
                  <a:srgbClr val="000000"/>
                </a:solidFill>
                <a:latin typeface="Calibri"/>
              </a:rPr>
              <a:t>End Digraph </a:t>
            </a:r>
          </a:p>
          <a:p>
            <a:pPr indent="915010">
              <a:lnSpc>
                <a:spcPts val="2900"/>
              </a:lnSpc>
            </a:pPr>
            <a:endParaRPr lang="en-US" sz="2422" i="1">
              <a:solidFill>
                <a:srgbClr val="E36C09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4023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8400" y="279400"/>
            <a:ext cx="4430124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000000"/>
                </a:solidFill>
                <a:latin typeface="Calibri"/>
              </a:rPr>
              <a:t>Methods of List ADT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4300" y="1066800"/>
            <a:ext cx="7159204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 b="1" i="1">
                <a:solidFill>
                  <a:srgbClr val="000000"/>
                </a:solidFill>
                <a:latin typeface="Calibri"/>
              </a:rPr>
              <a:t>Methods of Digraph will use these </a:t>
            </a:r>
            <a:r>
              <a:rPr lang="en-US" sz="2424" b="1" i="1">
                <a:solidFill>
                  <a:srgbClr val="0000CC"/>
                </a:solidFill>
                <a:latin typeface="Calibri"/>
              </a:rPr>
              <a:t>methods of List ADT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: </a:t>
            </a:r>
          </a:p>
          <a:p>
            <a:pPr>
              <a:lnSpc>
                <a:spcPts val="2700"/>
              </a:lnSpc>
            </a:pPr>
            <a:endParaRPr lang="en-US" sz="2424" b="1" i="1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" y="1498600"/>
            <a:ext cx="4993226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000000"/>
                </a:solidFill>
                <a:latin typeface="Calibri"/>
              </a:rPr>
              <a:t>&lt;ErrorCode&gt; </a:t>
            </a:r>
            <a:r>
              <a:rPr lang="en-US" sz="2208">
                <a:solidFill>
                  <a:srgbClr val="FF0000"/>
                </a:solidFill>
                <a:latin typeface="Calibri"/>
              </a:rPr>
              <a:t>Insert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 (val DataIn &lt;DataType&gt;)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4200" y="1498600"/>
            <a:ext cx="2434449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000000"/>
                </a:solidFill>
                <a:latin typeface="Calibri"/>
              </a:rPr>
              <a:t>// (</a:t>
            </a:r>
            <a:r>
              <a:rPr lang="en-US" sz="2208" i="1">
                <a:solidFill>
                  <a:srgbClr val="00AF50"/>
                </a:solidFill>
                <a:latin typeface="Calibri"/>
              </a:rPr>
              <a:t>success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, </a:t>
            </a:r>
            <a:r>
              <a:rPr lang="en-US" sz="2208" i="1">
                <a:solidFill>
                  <a:srgbClr val="00AF50"/>
                </a:solidFill>
                <a:latin typeface="Calibri"/>
              </a:rPr>
              <a:t>overflow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" y="1892300"/>
            <a:ext cx="5302798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000000"/>
                </a:solidFill>
                <a:latin typeface="Calibri"/>
              </a:rPr>
              <a:t>&lt;ErrorCode&gt; </a:t>
            </a:r>
            <a:r>
              <a:rPr lang="en-US" sz="2208">
                <a:solidFill>
                  <a:srgbClr val="FF0000"/>
                </a:solidFill>
                <a:latin typeface="Calibri"/>
              </a:rPr>
              <a:t>Search 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(ref DataOut &lt;DataType&gt;)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51500" y="1892300"/>
            <a:ext cx="2351862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000000"/>
                </a:solidFill>
                <a:latin typeface="Calibri"/>
              </a:rPr>
              <a:t>// (</a:t>
            </a:r>
            <a:r>
              <a:rPr lang="en-US" sz="2208" i="1">
                <a:solidFill>
                  <a:srgbClr val="00AF50"/>
                </a:solidFill>
                <a:latin typeface="Calibri"/>
              </a:rPr>
              <a:t>found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, </a:t>
            </a:r>
            <a:r>
              <a:rPr lang="en-US" sz="2208" i="1">
                <a:solidFill>
                  <a:srgbClr val="00AF50"/>
                </a:solidFill>
                <a:latin typeface="Calibri"/>
              </a:rPr>
              <a:t>notFound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" y="2247900"/>
            <a:ext cx="8269315" cy="15654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100"/>
              </a:lnSpc>
            </a:pPr>
            <a:r>
              <a:rPr lang="en-US" sz="2208">
                <a:solidFill>
                  <a:srgbClr val="000000"/>
                </a:solidFill>
                <a:latin typeface="Calibri"/>
              </a:rPr>
              <a:t>&lt;ErrorCode&gt; </a:t>
            </a:r>
            <a:r>
              <a:rPr lang="en-US" sz="2208">
                <a:solidFill>
                  <a:srgbClr val="FF0000"/>
                </a:solidFill>
                <a:latin typeface="Calibri"/>
              </a:rPr>
              <a:t>Remove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 (ref DataOut &lt;DataType&gt;)  // (</a:t>
            </a:r>
            <a:r>
              <a:rPr lang="en-US" sz="2208" i="1">
                <a:solidFill>
                  <a:srgbClr val="00AF50"/>
                </a:solidFill>
                <a:latin typeface="Calibri"/>
              </a:rPr>
              <a:t>success 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,</a:t>
            </a:r>
            <a:r>
              <a:rPr lang="en-US" sz="2208" i="1">
                <a:solidFill>
                  <a:srgbClr val="00AF50"/>
                </a:solidFill>
                <a:latin typeface="Calibri"/>
              </a:rPr>
              <a:t> notFound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) </a:t>
            </a:r>
            <a:br>
              <a:rPr lang="en-US" sz="2206">
                <a:solidFill>
                  <a:srgbClr val="000000"/>
                </a:solidFill>
                <a:latin typeface="Calibri"/>
              </a:rPr>
            </a:br>
            <a:r>
              <a:rPr lang="en-US" sz="2206">
                <a:solidFill>
                  <a:srgbClr val="000000"/>
                </a:solidFill>
                <a:latin typeface="Calibri"/>
              </a:rPr>
              <a:t>&lt;ErrorCode&gt; </a:t>
            </a:r>
            <a:r>
              <a:rPr lang="en-US" sz="2206">
                <a:solidFill>
                  <a:srgbClr val="FF0000"/>
                </a:solidFill>
                <a:latin typeface="Calibri"/>
              </a:rPr>
              <a:t>Retrieve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(ref DataOut &lt;DataType&gt;)  // (</a:t>
            </a:r>
            <a:r>
              <a:rPr lang="en-US" sz="2206" i="1">
                <a:solidFill>
                  <a:srgbClr val="00AF50"/>
                </a:solidFill>
                <a:latin typeface="Calibri"/>
              </a:rPr>
              <a:t>success 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,</a:t>
            </a:r>
            <a:r>
              <a:rPr lang="en-US" sz="2206" i="1">
                <a:solidFill>
                  <a:srgbClr val="00AF50"/>
                </a:solidFill>
                <a:latin typeface="Calibri"/>
              </a:rPr>
              <a:t> notFound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) </a:t>
            </a:r>
            <a:br>
              <a:rPr lang="en-US" sz="2206">
                <a:solidFill>
                  <a:srgbClr val="000000"/>
                </a:solidFill>
                <a:latin typeface="Calibri"/>
              </a:rPr>
            </a:br>
            <a:r>
              <a:rPr lang="en-US" sz="2206">
                <a:solidFill>
                  <a:srgbClr val="000000"/>
                </a:solidFill>
                <a:latin typeface="Calibri"/>
              </a:rPr>
              <a:t>&lt;ErrorCode&gt; </a:t>
            </a:r>
            <a:r>
              <a:rPr lang="en-US" sz="2206">
                <a:solidFill>
                  <a:srgbClr val="FF0000"/>
                </a:solidFill>
                <a:latin typeface="Calibri"/>
              </a:rPr>
              <a:t>Retrieve</a:t>
            </a:r>
            <a:r>
              <a:rPr lang="fr-FR" sz="2206">
                <a:solidFill>
                  <a:srgbClr val="000000"/>
                </a:solidFill>
                <a:latin typeface="Calibri"/>
              </a:rPr>
              <a:t> (ref DataOut &lt;DataType&gt;, position &lt;int&gt;) </a:t>
            </a:r>
          </a:p>
          <a:p>
            <a:pPr>
              <a:lnSpc>
                <a:spcPts val="3100"/>
              </a:lnSpc>
            </a:pPr>
            <a:endParaRPr lang="en-US" sz="2206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4200" y="3505200"/>
            <a:ext cx="2938818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lang="en-US" sz="2206">
                <a:solidFill>
                  <a:srgbClr val="000000"/>
                </a:solidFill>
                <a:latin typeface="Calibri"/>
              </a:rPr>
              <a:t>// (</a:t>
            </a:r>
            <a:r>
              <a:rPr lang="en-US" sz="2206" i="1">
                <a:solidFill>
                  <a:srgbClr val="00AF50"/>
                </a:solidFill>
                <a:latin typeface="Calibri"/>
              </a:rPr>
              <a:t>success 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,</a:t>
            </a:r>
            <a:r>
              <a:rPr lang="en-US" sz="2206" i="1">
                <a:solidFill>
                  <a:srgbClr val="00AF50"/>
                </a:solidFill>
                <a:latin typeface="Calibri"/>
              </a:rPr>
              <a:t> range_error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) </a:t>
            </a:r>
          </a:p>
          <a:p>
            <a:pPr>
              <a:lnSpc>
                <a:spcPts val="2600"/>
              </a:lnSpc>
            </a:pPr>
            <a:endParaRPr lang="en-US" sz="2206" i="1">
              <a:solidFill>
                <a:srgbClr val="00AF5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" y="3924300"/>
            <a:ext cx="7011856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6">
                <a:solidFill>
                  <a:srgbClr val="000000"/>
                </a:solidFill>
                <a:latin typeface="Calibri"/>
              </a:rPr>
              <a:t>&lt;ErrorCode&gt; </a:t>
            </a:r>
            <a:r>
              <a:rPr lang="en-US" sz="2206">
                <a:solidFill>
                  <a:srgbClr val="FF0000"/>
                </a:solidFill>
                <a:latin typeface="Calibri"/>
              </a:rPr>
              <a:t>Replace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(val DataIn &lt;DataType&gt;, position &lt;int&gt;) </a:t>
            </a:r>
          </a:p>
          <a:p>
            <a:pPr>
              <a:lnSpc>
                <a:spcPts val="2500"/>
              </a:lnSpc>
            </a:pPr>
            <a:endParaRPr lang="en-US" sz="2206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76900" y="4318000"/>
            <a:ext cx="2881110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lang="en-US" sz="2208">
                <a:solidFill>
                  <a:srgbClr val="000000"/>
                </a:solidFill>
                <a:latin typeface="Calibri"/>
              </a:rPr>
              <a:t>// (</a:t>
            </a:r>
            <a:r>
              <a:rPr lang="en-US" sz="2208" i="1">
                <a:solidFill>
                  <a:srgbClr val="00AF50"/>
                </a:solidFill>
                <a:latin typeface="Calibri"/>
              </a:rPr>
              <a:t>success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, </a:t>
            </a:r>
            <a:r>
              <a:rPr lang="en-US" sz="2208" i="1">
                <a:solidFill>
                  <a:srgbClr val="00AF50"/>
                </a:solidFill>
                <a:latin typeface="Calibri"/>
              </a:rPr>
              <a:t>range_error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) </a:t>
            </a:r>
          </a:p>
          <a:p>
            <a:pPr>
              <a:lnSpc>
                <a:spcPts val="2600"/>
              </a:lnSpc>
            </a:pPr>
            <a:endParaRPr lang="en-US" sz="2208" i="1">
              <a:solidFill>
                <a:srgbClr val="00AF50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4300" y="4660900"/>
            <a:ext cx="8209876" cy="120327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sz="2208">
                <a:solidFill>
                  <a:srgbClr val="000000"/>
                </a:solidFill>
                <a:latin typeface="Calibri"/>
              </a:rPr>
              <a:t>&lt;ErrorCode&gt; </a:t>
            </a:r>
            <a:r>
              <a:rPr lang="en-US" sz="2208">
                <a:solidFill>
                  <a:srgbClr val="FF0000"/>
                </a:solidFill>
                <a:latin typeface="Calibri"/>
              </a:rPr>
              <a:t>Replace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 (val DataIn &lt;DataType&gt;, val DataOut &lt;DataType&gt;) </a:t>
            </a:r>
            <a:br>
              <a:rPr lang="en-US" sz="2208">
                <a:solidFill>
                  <a:srgbClr val="000000"/>
                </a:solidFill>
                <a:latin typeface="Calibri"/>
              </a:rPr>
            </a:br>
            <a:r>
              <a:rPr lang="en-US" sz="2208">
                <a:solidFill>
                  <a:srgbClr val="000000"/>
                </a:solidFill>
                <a:latin typeface="Calibri"/>
              </a:rPr>
              <a:t>// (</a:t>
            </a:r>
            <a:r>
              <a:rPr lang="en-US" sz="2208" i="1">
                <a:solidFill>
                  <a:srgbClr val="00AF50"/>
                </a:solidFill>
                <a:latin typeface="Calibri"/>
              </a:rPr>
              <a:t>success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, </a:t>
            </a:r>
            <a:r>
              <a:rPr lang="en-US" sz="2208" i="1">
                <a:solidFill>
                  <a:srgbClr val="00AF50"/>
                </a:solidFill>
                <a:latin typeface="Calibri"/>
              </a:rPr>
              <a:t>notFound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) </a:t>
            </a:r>
          </a:p>
          <a:p>
            <a:pPr>
              <a:lnSpc>
                <a:spcPts val="3200"/>
              </a:lnSpc>
            </a:pPr>
            <a:endParaRPr lang="en-US" sz="2208" i="1">
              <a:solidFill>
                <a:srgbClr val="00AF5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4300" y="5537200"/>
            <a:ext cx="2109552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8">
                <a:solidFill>
                  <a:srgbClr val="000000"/>
                </a:solidFill>
                <a:latin typeface="Calibri"/>
              </a:rPr>
              <a:t>&lt;boolean&gt; </a:t>
            </a:r>
            <a:r>
              <a:rPr lang="en-US" sz="2208">
                <a:solidFill>
                  <a:srgbClr val="FF0000"/>
                </a:solidFill>
                <a:latin typeface="Calibri"/>
              </a:rPr>
              <a:t>isFull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() </a:t>
            </a:r>
          </a:p>
          <a:p>
            <a:pPr>
              <a:lnSpc>
                <a:spcPts val="2500"/>
              </a:lnSpc>
            </a:pPr>
            <a:endParaRPr lang="en-US" sz="2208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4300" y="5867400"/>
            <a:ext cx="2433743" cy="12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sz="2208">
                <a:solidFill>
                  <a:srgbClr val="000000"/>
                </a:solidFill>
                <a:latin typeface="Calibri"/>
              </a:rPr>
              <a:t>&lt;boolean&gt; </a:t>
            </a:r>
            <a:r>
              <a:rPr lang="en-US" sz="2208">
                <a:solidFill>
                  <a:srgbClr val="FF0000"/>
                </a:solidFill>
                <a:latin typeface="Calibri"/>
              </a:rPr>
              <a:t>isEmpty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() </a:t>
            </a:r>
            <a:br>
              <a:rPr lang="en-US" sz="2206">
                <a:solidFill>
                  <a:srgbClr val="000000"/>
                </a:solidFill>
                <a:latin typeface="Calibri"/>
              </a:rPr>
            </a:br>
            <a:r>
              <a:rPr lang="en-US" sz="2206">
                <a:solidFill>
                  <a:srgbClr val="000000"/>
                </a:solidFill>
                <a:latin typeface="Calibri"/>
              </a:rPr>
              <a:t>&lt;integer&gt; </a:t>
            </a:r>
            <a:r>
              <a:rPr lang="en-US" sz="2206">
                <a:solidFill>
                  <a:srgbClr val="FF0000"/>
                </a:solidFill>
                <a:latin typeface="Calibri"/>
              </a:rPr>
              <a:t>Size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() </a:t>
            </a:r>
          </a:p>
          <a:p>
            <a:pPr>
              <a:lnSpc>
                <a:spcPts val="3200"/>
              </a:lnSpc>
            </a:pPr>
            <a:endParaRPr lang="en-US" sz="2206">
              <a:solidFill>
                <a:srgbClr val="FF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837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08100" y="279400"/>
            <a:ext cx="6700489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000000"/>
                </a:solidFill>
                <a:latin typeface="Calibri"/>
              </a:rPr>
              <a:t>Insert New Vertex into Digraph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4300" y="1079500"/>
            <a:ext cx="8299836" cy="82073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sz="2820" dirty="0">
                <a:solidFill>
                  <a:srgbClr val="000000"/>
                </a:solidFill>
                <a:latin typeface="Calibri"/>
              </a:rPr>
              <a:t>&lt;</a:t>
            </a:r>
            <a:r>
              <a:rPr lang="en-US" sz="2820" dirty="0" err="1">
                <a:solidFill>
                  <a:srgbClr val="000000"/>
                </a:solidFill>
                <a:latin typeface="Calibri"/>
              </a:rPr>
              <a:t>ErrorCode</a:t>
            </a:r>
            <a:r>
              <a:rPr lang="en-US" sz="2820" dirty="0">
                <a:solidFill>
                  <a:srgbClr val="000000"/>
                </a:solidFill>
                <a:latin typeface="Calibri"/>
              </a:rPr>
              <a:t>&gt; </a:t>
            </a:r>
            <a:r>
              <a:rPr lang="en-US" sz="2820" b="1" dirty="0" err="1">
                <a:solidFill>
                  <a:srgbClr val="FF0000"/>
                </a:solidFill>
                <a:latin typeface="Calibri"/>
              </a:rPr>
              <a:t>InsertVertex</a:t>
            </a:r>
            <a:r>
              <a:rPr lang="en-US" sz="2820" dirty="0">
                <a:solidFill>
                  <a:srgbClr val="000000"/>
                </a:solidFill>
                <a:latin typeface="Calibri"/>
              </a:rPr>
              <a:t> (</a:t>
            </a:r>
            <a:r>
              <a:rPr lang="en-US" sz="2820" dirty="0" err="1">
                <a:solidFill>
                  <a:srgbClr val="000000"/>
                </a:solidFill>
                <a:latin typeface="Calibri"/>
              </a:rPr>
              <a:t>val</a:t>
            </a:r>
            <a:r>
              <a:rPr lang="en-US" sz="2820" dirty="0">
                <a:solidFill>
                  <a:srgbClr val="0000CC"/>
                </a:solidFill>
                <a:latin typeface="Calibri"/>
              </a:rPr>
              <a:t> </a:t>
            </a:r>
            <a:r>
              <a:rPr lang="en-US" sz="2820" dirty="0" err="1">
                <a:solidFill>
                  <a:srgbClr val="0000CC"/>
                </a:solidFill>
                <a:latin typeface="Calibri"/>
              </a:rPr>
              <a:t>newVertex</a:t>
            </a:r>
            <a:r>
              <a:rPr lang="en-US" sz="2820" dirty="0">
                <a:solidFill>
                  <a:srgbClr val="000000"/>
                </a:solidFill>
                <a:latin typeface="Calibri"/>
              </a:rPr>
              <a:t> &lt;</a:t>
            </a:r>
            <a:r>
              <a:rPr lang="en-US" sz="2820" dirty="0" err="1">
                <a:solidFill>
                  <a:srgbClr val="000000"/>
                </a:solidFill>
                <a:latin typeface="Calibri"/>
              </a:rPr>
              <a:t>VertexType</a:t>
            </a:r>
            <a:r>
              <a:rPr lang="en-US" sz="2820" dirty="0">
                <a:solidFill>
                  <a:srgbClr val="000000"/>
                </a:solidFill>
                <a:latin typeface="Calibri"/>
              </a:rPr>
              <a:t>&gt;) </a:t>
            </a:r>
          </a:p>
          <a:p>
            <a:pPr>
              <a:lnSpc>
                <a:spcPts val="3200"/>
              </a:lnSpc>
            </a:pPr>
            <a:endParaRPr lang="en-US" sz="2820" dirty="0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" y="1587500"/>
            <a:ext cx="4066049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00"/>
                </a:solidFill>
                <a:latin typeface="Calibri"/>
              </a:rPr>
              <a:t>Inserts new vertex into digraph.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60" y="2514600"/>
            <a:ext cx="8647284" cy="1828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4711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08100" y="279400"/>
            <a:ext cx="6700489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000000"/>
                </a:solidFill>
                <a:latin typeface="Calibri"/>
              </a:rPr>
              <a:t>Insert New Vertex into Digraph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4300" y="1066800"/>
            <a:ext cx="7139198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00"/>
                </a:solidFill>
                <a:latin typeface="Calibri"/>
              </a:rPr>
              <a:t>&lt;ErrorCode&gt; </a:t>
            </a:r>
            <a:r>
              <a:rPr lang="en-US" sz="2424" b="1">
                <a:solidFill>
                  <a:srgbClr val="FF0000"/>
                </a:solidFill>
                <a:latin typeface="Calibri"/>
              </a:rPr>
              <a:t>InsertVertex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(val</a:t>
            </a:r>
            <a:r>
              <a:rPr lang="en-US" sz="2424">
                <a:solidFill>
                  <a:srgbClr val="0000CC"/>
                </a:solidFill>
                <a:latin typeface="Calibri"/>
              </a:rPr>
              <a:t> newVertex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&lt;VertexType&gt;)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" y="1511300"/>
            <a:ext cx="4002827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 DataOut.vertex = </a:t>
            </a:r>
            <a:r>
              <a:rPr lang="en-US" sz="2424">
                <a:solidFill>
                  <a:srgbClr val="4742C4"/>
                </a:solidFill>
                <a:latin typeface="Calibri"/>
              </a:rPr>
              <a:t>newVertex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" y="1943100"/>
            <a:ext cx="5240345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 b="1" dirty="0">
                <a:solidFill>
                  <a:srgbClr val="0000CC"/>
                </a:solidFill>
                <a:latin typeface="Calibri"/>
              </a:rPr>
              <a:t>2.</a:t>
            </a:r>
            <a:r>
              <a:rPr lang="en-US" sz="2424" b="1" dirty="0">
                <a:solidFill>
                  <a:srgbClr val="000000"/>
                </a:solidFill>
                <a:latin typeface="Calibri"/>
              </a:rPr>
              <a:t>  if</a:t>
            </a:r>
            <a:r>
              <a:rPr lang="en-US" sz="2424" dirty="0">
                <a:solidFill>
                  <a:srgbClr val="000000"/>
                </a:solidFill>
                <a:latin typeface="Calibri"/>
              </a:rPr>
              <a:t> (</a:t>
            </a:r>
            <a:r>
              <a:rPr lang="en-US" sz="2424" dirty="0" err="1">
                <a:solidFill>
                  <a:srgbClr val="FF3399"/>
                </a:solidFill>
                <a:latin typeface="Calibri"/>
              </a:rPr>
              <a:t>digraph</a:t>
            </a:r>
            <a:r>
              <a:rPr lang="en-US" sz="2424" dirty="0" err="1">
                <a:solidFill>
                  <a:srgbClr val="000000"/>
                </a:solidFill>
                <a:latin typeface="Calibri"/>
              </a:rPr>
              <a:t>.Search</a:t>
            </a:r>
            <a:r>
              <a:rPr lang="en-US" sz="2424" dirty="0">
                <a:solidFill>
                  <a:srgbClr val="000000"/>
                </a:solidFill>
                <a:latin typeface="Calibri"/>
              </a:rPr>
              <a:t>(</a:t>
            </a:r>
            <a:r>
              <a:rPr lang="en-US" sz="2424" dirty="0" err="1">
                <a:solidFill>
                  <a:srgbClr val="000000"/>
                </a:solidFill>
                <a:latin typeface="Calibri"/>
              </a:rPr>
              <a:t>DataOut</a:t>
            </a:r>
            <a:r>
              <a:rPr lang="en-US" sz="2424" dirty="0">
                <a:solidFill>
                  <a:srgbClr val="000000"/>
                </a:solidFill>
                <a:latin typeface="Calibri"/>
              </a:rPr>
              <a:t>) = </a:t>
            </a:r>
            <a:r>
              <a:rPr lang="en-US" sz="2424" i="1" dirty="0">
                <a:solidFill>
                  <a:srgbClr val="00AF50"/>
                </a:solidFill>
                <a:latin typeface="Calibri"/>
              </a:rPr>
              <a:t>success</a:t>
            </a:r>
            <a:r>
              <a:rPr lang="en-US" sz="2424" dirty="0">
                <a:solidFill>
                  <a:srgbClr val="000000"/>
                </a:solidFill>
                <a:latin typeface="Calibri"/>
              </a:rPr>
              <a:t>) </a:t>
            </a:r>
          </a:p>
          <a:p>
            <a:pPr>
              <a:lnSpc>
                <a:spcPts val="2700"/>
              </a:lnSpc>
            </a:pPr>
            <a:endParaRPr lang="en-US" sz="2424" i="1" dirty="0">
              <a:solidFill>
                <a:srgbClr val="00AF5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0700" y="2374900"/>
            <a:ext cx="3274614" cy="7437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9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 return </a:t>
            </a:r>
            <a:r>
              <a:rPr lang="en-US" sz="2424" i="1">
                <a:solidFill>
                  <a:srgbClr val="00AF50"/>
                </a:solidFill>
                <a:latin typeface="Calibri"/>
              </a:rPr>
              <a:t>duplicate_error </a:t>
            </a:r>
          </a:p>
          <a:p>
            <a:pPr>
              <a:lnSpc>
                <a:spcPts val="2900"/>
              </a:lnSpc>
            </a:pPr>
            <a:endParaRPr lang="en-US" sz="2424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" y="2832100"/>
            <a:ext cx="966611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 b="1">
                <a:solidFill>
                  <a:srgbClr val="0000CC"/>
                </a:solidFill>
                <a:latin typeface="Calibri"/>
              </a:rPr>
              <a:t>3.</a:t>
            </a:r>
            <a:r>
              <a:rPr lang="en-US" sz="2424" b="1">
                <a:solidFill>
                  <a:srgbClr val="000000"/>
                </a:solidFill>
                <a:latin typeface="Calibri"/>
              </a:rPr>
              <a:t>  else </a:t>
            </a:r>
          </a:p>
          <a:p>
            <a:pPr>
              <a:lnSpc>
                <a:spcPts val="2700"/>
              </a:lnSpc>
            </a:pPr>
            <a:endParaRPr lang="en-US" sz="2424" b="1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" y="3187700"/>
            <a:ext cx="7559955" cy="131638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indent="402641">
              <a:lnSpc>
                <a:spcPts val="3500"/>
              </a:lnSpc>
            </a:pPr>
            <a:r>
              <a:rPr lang="en-US" sz="2424" dirty="0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4" dirty="0">
                <a:solidFill>
                  <a:srgbClr val="000000"/>
                </a:solidFill>
                <a:latin typeface="Calibri"/>
              </a:rPr>
              <a:t>  return </a:t>
            </a:r>
            <a:r>
              <a:rPr lang="en-US" sz="2424" dirty="0" err="1">
                <a:solidFill>
                  <a:srgbClr val="FF3399"/>
                </a:solidFill>
                <a:latin typeface="Calibri"/>
              </a:rPr>
              <a:t>digraph</a:t>
            </a:r>
            <a:r>
              <a:rPr lang="en-US" sz="2424" dirty="0" err="1">
                <a:solidFill>
                  <a:srgbClr val="000000"/>
                </a:solidFill>
                <a:latin typeface="Calibri"/>
              </a:rPr>
              <a:t>.Insert</a:t>
            </a:r>
            <a:r>
              <a:rPr lang="en-US" sz="2424" dirty="0">
                <a:solidFill>
                  <a:srgbClr val="000000"/>
                </a:solidFill>
                <a:latin typeface="Calibri"/>
              </a:rPr>
              <a:t>(</a:t>
            </a:r>
            <a:r>
              <a:rPr lang="en-US" sz="2424" dirty="0" err="1">
                <a:solidFill>
                  <a:srgbClr val="000000"/>
                </a:solidFill>
                <a:latin typeface="Calibri"/>
              </a:rPr>
              <a:t>DataOut</a:t>
            </a:r>
            <a:r>
              <a:rPr lang="en-US" sz="2424" dirty="0">
                <a:solidFill>
                  <a:srgbClr val="000000"/>
                </a:solidFill>
                <a:latin typeface="Calibri"/>
              </a:rPr>
              <a:t>) // </a:t>
            </a:r>
            <a:r>
              <a:rPr lang="en-US" sz="2424" i="1" dirty="0">
                <a:solidFill>
                  <a:srgbClr val="00AF50"/>
                </a:solidFill>
                <a:latin typeface="Calibri"/>
              </a:rPr>
              <a:t>success</a:t>
            </a:r>
            <a:r>
              <a:rPr lang="en-US" sz="2424" dirty="0">
                <a:solidFill>
                  <a:srgbClr val="000000"/>
                </a:solidFill>
                <a:latin typeface="Calibri"/>
              </a:rPr>
              <a:t> or </a:t>
            </a:r>
            <a:r>
              <a:rPr lang="en-US" sz="2424" i="1" dirty="0">
                <a:solidFill>
                  <a:srgbClr val="00AF50"/>
                </a:solidFill>
                <a:latin typeface="Calibri"/>
              </a:rPr>
              <a:t>overflow </a:t>
            </a:r>
            <a:br>
              <a:rPr lang="en-US" sz="2424" dirty="0">
                <a:solidFill>
                  <a:srgbClr val="000000"/>
                </a:solidFill>
                <a:latin typeface="Calibri"/>
              </a:rPr>
            </a:br>
            <a:r>
              <a:rPr lang="en-US" sz="2424" dirty="0">
                <a:solidFill>
                  <a:srgbClr val="000000"/>
                </a:solidFill>
                <a:latin typeface="Calibri"/>
              </a:rPr>
              <a:t>End </a:t>
            </a:r>
            <a:r>
              <a:rPr lang="en-US" sz="2424" dirty="0" err="1">
                <a:solidFill>
                  <a:srgbClr val="000000"/>
                </a:solidFill>
                <a:latin typeface="Calibri"/>
              </a:rPr>
              <a:t>InsertVertex</a:t>
            </a:r>
            <a:r>
              <a:rPr lang="en-US" sz="2424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indent="402641">
              <a:lnSpc>
                <a:spcPts val="3500"/>
              </a:lnSpc>
            </a:pPr>
            <a:endParaRPr lang="en-US" sz="2424" i="1" dirty="0">
              <a:solidFill>
                <a:srgbClr val="00AF5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05400" y="4076700"/>
            <a:ext cx="1417247" cy="59952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sz="2208" b="1">
                <a:solidFill>
                  <a:srgbClr val="000000"/>
                </a:solidFill>
                <a:latin typeface="Calibri"/>
              </a:rPr>
              <a:t>GraphNode </a:t>
            </a:r>
          </a:p>
          <a:p>
            <a:pPr>
              <a:lnSpc>
                <a:spcPts val="2400"/>
              </a:lnSpc>
            </a:pPr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194300" y="4394200"/>
            <a:ext cx="3870162" cy="161358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sz="2208">
                <a:solidFill>
                  <a:srgbClr val="4742C4"/>
                </a:solidFill>
                <a:latin typeface="Calibri"/>
              </a:rPr>
              <a:t>vertex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 &lt;VertexType&gt; // (</a:t>
            </a:r>
            <a:r>
              <a:rPr lang="en-US" sz="2208" i="1">
                <a:solidFill>
                  <a:srgbClr val="000000"/>
                </a:solidFill>
                <a:latin typeface="Calibri"/>
              </a:rPr>
              <a:t>key field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) </a:t>
            </a:r>
            <a:br>
              <a:rPr lang="en-US" sz="2208">
                <a:solidFill>
                  <a:srgbClr val="4742C4"/>
                </a:solidFill>
                <a:latin typeface="Calibri"/>
              </a:rPr>
            </a:br>
            <a:r>
              <a:rPr lang="en-US" sz="2208">
                <a:solidFill>
                  <a:srgbClr val="4742C4"/>
                </a:solidFill>
                <a:latin typeface="Calibri"/>
              </a:rPr>
              <a:t>adjVertex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&lt;</a:t>
            </a:r>
            <a:r>
              <a:rPr lang="en-US" sz="2208">
                <a:solidFill>
                  <a:srgbClr val="FF0000"/>
                </a:solidFill>
                <a:latin typeface="Calibri"/>
              </a:rPr>
              <a:t>List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 of&lt; VertexType &gt;&gt; </a:t>
            </a:r>
            <a:br>
              <a:rPr lang="en-US" sz="2206">
                <a:solidFill>
                  <a:srgbClr val="4742C4"/>
                </a:solidFill>
                <a:latin typeface="Calibri"/>
              </a:rPr>
            </a:br>
            <a:r>
              <a:rPr lang="en-US" sz="2206">
                <a:solidFill>
                  <a:srgbClr val="4742C4"/>
                </a:solidFill>
                <a:latin typeface="Calibri"/>
              </a:rPr>
              <a:t>indegree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&lt;int&gt; </a:t>
            </a:r>
          </a:p>
          <a:p>
            <a:pPr>
              <a:lnSpc>
                <a:spcPts val="3200"/>
              </a:lnSpc>
            </a:pPr>
            <a:endParaRPr lang="en-US" sz="2206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94300" y="5676900"/>
            <a:ext cx="1907638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6">
                <a:solidFill>
                  <a:srgbClr val="4742C4"/>
                </a:solidFill>
                <a:latin typeface="Calibri"/>
              </a:rPr>
              <a:t>outdegree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&lt;int&gt; </a:t>
            </a:r>
          </a:p>
          <a:p>
            <a:pPr>
              <a:lnSpc>
                <a:spcPts val="2500"/>
              </a:lnSpc>
            </a:pPr>
            <a:endParaRPr lang="en-US" sz="2206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05400" y="6007100"/>
            <a:ext cx="2505366" cy="12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indent="91440">
              <a:lnSpc>
                <a:spcPts val="3200"/>
              </a:lnSpc>
            </a:pPr>
            <a:r>
              <a:rPr lang="en-US" sz="2206">
                <a:solidFill>
                  <a:srgbClr val="0000CC"/>
                </a:solidFill>
                <a:latin typeface="Calibri"/>
              </a:rPr>
              <a:t>isMarked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&lt;boolean&gt; </a:t>
            </a:r>
            <a:br>
              <a:rPr lang="en-US" sz="2206" b="1">
                <a:solidFill>
                  <a:srgbClr val="000000"/>
                </a:solidFill>
                <a:latin typeface="Calibri"/>
              </a:rPr>
            </a:br>
            <a:r>
              <a:rPr lang="en-US" sz="2206" b="1">
                <a:solidFill>
                  <a:srgbClr val="000000"/>
                </a:solidFill>
                <a:latin typeface="Calibri"/>
              </a:rPr>
              <a:t>End GraphNode </a:t>
            </a:r>
          </a:p>
          <a:p>
            <a:pPr indent="91440">
              <a:lnSpc>
                <a:spcPts val="3200"/>
              </a:lnSpc>
            </a:pPr>
            <a:endParaRPr lang="en-US" sz="2206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5512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76400" y="279400"/>
            <a:ext cx="5951245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000000"/>
                </a:solidFill>
                <a:latin typeface="Calibri"/>
              </a:rPr>
              <a:t>Delete Vertex from Digraph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4300" y="1079500"/>
            <a:ext cx="7784952" cy="82073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sz="2820" dirty="0">
                <a:solidFill>
                  <a:srgbClr val="000000"/>
                </a:solidFill>
                <a:latin typeface="Calibri"/>
              </a:rPr>
              <a:t>&lt;</a:t>
            </a:r>
            <a:r>
              <a:rPr lang="en-US" sz="2820" dirty="0" err="1">
                <a:solidFill>
                  <a:srgbClr val="000000"/>
                </a:solidFill>
                <a:latin typeface="Calibri"/>
              </a:rPr>
              <a:t>ErrorCode</a:t>
            </a:r>
            <a:r>
              <a:rPr lang="en-US" sz="2820" dirty="0">
                <a:solidFill>
                  <a:srgbClr val="000000"/>
                </a:solidFill>
                <a:latin typeface="Calibri"/>
              </a:rPr>
              <a:t>&gt; </a:t>
            </a:r>
            <a:r>
              <a:rPr lang="en-US" sz="2820" b="1" dirty="0" err="1">
                <a:solidFill>
                  <a:srgbClr val="FF0000"/>
                </a:solidFill>
                <a:latin typeface="Calibri"/>
              </a:rPr>
              <a:t>DeleteVertex</a:t>
            </a:r>
            <a:r>
              <a:rPr lang="en-US" sz="2820" dirty="0">
                <a:solidFill>
                  <a:srgbClr val="000000"/>
                </a:solidFill>
                <a:latin typeface="Calibri"/>
              </a:rPr>
              <a:t> (</a:t>
            </a:r>
            <a:r>
              <a:rPr lang="en-US" sz="2820" dirty="0" err="1">
                <a:solidFill>
                  <a:srgbClr val="000000"/>
                </a:solidFill>
                <a:latin typeface="Calibri"/>
              </a:rPr>
              <a:t>val</a:t>
            </a:r>
            <a:r>
              <a:rPr lang="en-US" sz="2820" dirty="0">
                <a:solidFill>
                  <a:srgbClr val="0000CC"/>
                </a:solidFill>
                <a:latin typeface="Calibri"/>
              </a:rPr>
              <a:t> Vertex</a:t>
            </a:r>
            <a:r>
              <a:rPr lang="en-US" sz="2820" dirty="0">
                <a:solidFill>
                  <a:srgbClr val="000000"/>
                </a:solidFill>
                <a:latin typeface="Calibri"/>
              </a:rPr>
              <a:t> &lt;</a:t>
            </a:r>
            <a:r>
              <a:rPr lang="en-US" sz="2820" dirty="0" err="1">
                <a:solidFill>
                  <a:srgbClr val="000000"/>
                </a:solidFill>
                <a:latin typeface="Calibri"/>
              </a:rPr>
              <a:t>VertexType</a:t>
            </a:r>
            <a:r>
              <a:rPr lang="en-US" sz="2820" dirty="0">
                <a:solidFill>
                  <a:srgbClr val="000000"/>
                </a:solidFill>
                <a:latin typeface="Calibri"/>
              </a:rPr>
              <a:t>&gt;) </a:t>
            </a:r>
          </a:p>
          <a:p>
            <a:pPr>
              <a:lnSpc>
                <a:spcPts val="3200"/>
              </a:lnSpc>
            </a:pPr>
            <a:endParaRPr lang="en-US" sz="2820" dirty="0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" y="1587500"/>
            <a:ext cx="3364575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00"/>
                </a:solidFill>
                <a:latin typeface="Calibri"/>
              </a:rPr>
              <a:t>Deletes an existing vertex.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086" y="2552268"/>
            <a:ext cx="8563253" cy="2109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758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76400" y="50800"/>
            <a:ext cx="5933612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08" b="1">
                <a:solidFill>
                  <a:srgbClr val="000000"/>
                </a:solidFill>
                <a:latin typeface="Calibri"/>
              </a:rPr>
              <a:t>Delete Vertex from Digraph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4300" y="685800"/>
            <a:ext cx="6697218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00"/>
                </a:solidFill>
                <a:latin typeface="Calibri"/>
              </a:rPr>
              <a:t>&lt;ErrorCode&gt; </a:t>
            </a:r>
            <a:r>
              <a:rPr lang="en-US" sz="2424" b="1">
                <a:solidFill>
                  <a:srgbClr val="FF0000"/>
                </a:solidFill>
                <a:latin typeface="Calibri"/>
              </a:rPr>
              <a:t>DeleteVertex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(val</a:t>
            </a:r>
            <a:r>
              <a:rPr lang="en-US" sz="2424">
                <a:solidFill>
                  <a:srgbClr val="0000CC"/>
                </a:solidFill>
                <a:latin typeface="Calibri"/>
              </a:rPr>
              <a:t> Vertex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&lt;VertexType&gt;)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" y="1117600"/>
            <a:ext cx="216406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0000CC"/>
                </a:solidFill>
                <a:latin typeface="Calibr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117600"/>
            <a:ext cx="2753831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000000"/>
                </a:solidFill>
                <a:latin typeface="Calibri"/>
              </a:rPr>
              <a:t>DataOut.vertex = </a:t>
            </a:r>
            <a:r>
              <a:rPr lang="en-US" sz="2208">
                <a:solidFill>
                  <a:srgbClr val="4742C4"/>
                </a:solidFill>
                <a:latin typeface="Calibri"/>
              </a:rPr>
              <a:t>Vertex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" y="1511300"/>
            <a:ext cx="4897495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 b="1">
                <a:solidFill>
                  <a:srgbClr val="0000CC"/>
                </a:solidFill>
                <a:latin typeface="Calibri"/>
              </a:rPr>
              <a:t>2.</a:t>
            </a:r>
            <a:r>
              <a:rPr lang="en-US" sz="2208" b="1">
                <a:solidFill>
                  <a:srgbClr val="000000"/>
                </a:solidFill>
                <a:latin typeface="Calibri"/>
              </a:rPr>
              <a:t>  if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 (</a:t>
            </a:r>
            <a:r>
              <a:rPr lang="en-US" sz="2208">
                <a:solidFill>
                  <a:srgbClr val="FF3399"/>
                </a:solidFill>
                <a:latin typeface="Calibri"/>
              </a:rPr>
              <a:t>digraph.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Retrieve(DataOut) = </a:t>
            </a:r>
            <a:r>
              <a:rPr lang="en-US" sz="2208" i="1">
                <a:solidFill>
                  <a:srgbClr val="00AF50"/>
                </a:solidFill>
                <a:latin typeface="Calibri"/>
              </a:rPr>
              <a:t>success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700" y="1917700"/>
            <a:ext cx="3131691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 b="1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208" b="1">
                <a:solidFill>
                  <a:srgbClr val="000000"/>
                </a:solidFill>
                <a:latin typeface="Calibri"/>
              </a:rPr>
              <a:t>  if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 (DataOut.indegree&gt;0)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98700"/>
            <a:ext cx="216406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0000CC"/>
                </a:solidFill>
                <a:latin typeface="Calibri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100" y="2298700"/>
            <a:ext cx="4485652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FF3399"/>
                </a:solidFill>
                <a:latin typeface="Calibri"/>
              </a:rPr>
              <a:t>digraph.</a:t>
            </a:r>
            <a:r>
              <a:rPr lang="en-US" sz="2208">
                <a:solidFill>
                  <a:srgbClr val="FF0000"/>
                </a:solidFill>
                <a:latin typeface="Calibri"/>
              </a:rPr>
              <a:t>Remove_EdgeToVertex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(</a:t>
            </a:r>
            <a:r>
              <a:rPr lang="en-US" sz="2208">
                <a:solidFill>
                  <a:srgbClr val="4742C4"/>
                </a:solidFill>
                <a:latin typeface="Calibri"/>
              </a:rPr>
              <a:t>Vertex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700" y="2692400"/>
            <a:ext cx="214802" cy="3394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6">
                <a:solidFill>
                  <a:srgbClr val="0000CC"/>
                </a:solidFill>
                <a:latin typeface="Calibri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2692400"/>
            <a:ext cx="3018455" cy="3394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6">
                <a:solidFill>
                  <a:srgbClr val="FF3399"/>
                </a:solidFill>
                <a:latin typeface="Calibri"/>
              </a:rPr>
              <a:t>digraph.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Remove(DataOut)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700" y="3098800"/>
            <a:ext cx="214802" cy="3394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6">
                <a:solidFill>
                  <a:srgbClr val="0000CC"/>
                </a:solidFill>
                <a:latin typeface="Calibri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3098800"/>
            <a:ext cx="1653851" cy="3394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6">
                <a:solidFill>
                  <a:srgbClr val="000000"/>
                </a:solidFill>
                <a:latin typeface="Calibri"/>
              </a:rPr>
              <a:t>return </a:t>
            </a:r>
            <a:r>
              <a:rPr lang="en-US" sz="2206" i="1">
                <a:solidFill>
                  <a:srgbClr val="00AF50"/>
                </a:solidFill>
                <a:latin typeface="Calibri"/>
              </a:rPr>
              <a:t>success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" y="3505200"/>
            <a:ext cx="876843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6" b="1">
                <a:solidFill>
                  <a:srgbClr val="0000CC"/>
                </a:solidFill>
                <a:latin typeface="Calibri"/>
              </a:rPr>
              <a:t>3.</a:t>
            </a:r>
            <a:r>
              <a:rPr lang="en-US" sz="2206" b="1">
                <a:solidFill>
                  <a:srgbClr val="000000"/>
                </a:solidFill>
                <a:latin typeface="Calibri"/>
              </a:rPr>
              <a:t>  else </a:t>
            </a:r>
          </a:p>
          <a:p>
            <a:pPr>
              <a:lnSpc>
                <a:spcPts val="2500"/>
              </a:lnSpc>
            </a:pPr>
            <a:endParaRPr lang="en-US" sz="2206" b="1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" y="3848100"/>
            <a:ext cx="2874248" cy="116794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402641" defTabSz="914400" eaLnBrk="1" fontAlgn="auto" latinLnBrk="0" hangingPunct="1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914400" algn="l"/>
              </a:tabLst>
              <a:defRPr/>
            </a:pPr>
            <a:r>
              <a:rPr lang="en-US" sz="2206">
                <a:solidFill>
                  <a:srgbClr val="0000CC"/>
                </a:solidFill>
                <a:latin typeface="Calibri"/>
              </a:rPr>
              <a:t>1. 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	return </a:t>
            </a:r>
            <a:r>
              <a:rPr lang="en-US" sz="2206" i="1">
                <a:solidFill>
                  <a:srgbClr val="00AF50"/>
                </a:solidFill>
                <a:latin typeface="Calibri"/>
              </a:rPr>
              <a:t>notFound </a:t>
            </a:r>
            <a:br>
              <a:rPr lang="en-US" sz="2208">
                <a:solidFill>
                  <a:srgbClr val="000000"/>
                </a:solidFill>
                <a:latin typeface="Calibri"/>
              </a:rPr>
            </a:br>
            <a:r>
              <a:rPr lang="en-US" sz="2208">
                <a:solidFill>
                  <a:srgbClr val="000000"/>
                </a:solidFill>
                <a:latin typeface="Calibri"/>
              </a:rPr>
              <a:t>End DeleteVertex </a:t>
            </a:r>
          </a:p>
          <a:p>
            <a:pPr marL="0" marR="0" lvl="0" indent="402641" defTabSz="914400" eaLnBrk="1" fontAlgn="auto" latinLnBrk="0" hangingPunct="1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914400" algn="l"/>
              </a:tabLst>
              <a:defRPr/>
            </a:pPr>
            <a:endParaRPr lang="en-US" sz="2206" i="1">
              <a:solidFill>
                <a:srgbClr val="00AF50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05400" y="4064000"/>
            <a:ext cx="1417247" cy="6219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8" b="1">
                <a:solidFill>
                  <a:srgbClr val="000000"/>
                </a:solidFill>
                <a:latin typeface="Calibri"/>
              </a:rPr>
              <a:t>GraphNode </a:t>
            </a:r>
          </a:p>
          <a:p>
            <a:pPr>
              <a:lnSpc>
                <a:spcPts val="2500"/>
              </a:lnSpc>
            </a:pPr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5194300" y="4394200"/>
            <a:ext cx="3870162" cy="15654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100"/>
              </a:lnSpc>
            </a:pPr>
            <a:r>
              <a:rPr lang="en-US" sz="2208">
                <a:solidFill>
                  <a:srgbClr val="4742C4"/>
                </a:solidFill>
                <a:latin typeface="Calibri"/>
              </a:rPr>
              <a:t>vertex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 &lt;VertexType&gt; // (</a:t>
            </a:r>
            <a:r>
              <a:rPr lang="en-US" sz="2208" i="1">
                <a:solidFill>
                  <a:srgbClr val="000000"/>
                </a:solidFill>
                <a:latin typeface="Calibri"/>
              </a:rPr>
              <a:t>key field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) </a:t>
            </a:r>
            <a:br>
              <a:rPr lang="en-US" sz="2208">
                <a:solidFill>
                  <a:srgbClr val="4742C4"/>
                </a:solidFill>
                <a:latin typeface="Calibri"/>
              </a:rPr>
            </a:br>
            <a:r>
              <a:rPr lang="en-US" sz="2208">
                <a:solidFill>
                  <a:srgbClr val="4742C4"/>
                </a:solidFill>
                <a:latin typeface="Calibri"/>
              </a:rPr>
              <a:t>adjVertex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&lt;</a:t>
            </a:r>
            <a:r>
              <a:rPr lang="en-US" sz="2208">
                <a:solidFill>
                  <a:srgbClr val="FF0000"/>
                </a:solidFill>
                <a:latin typeface="Calibri"/>
              </a:rPr>
              <a:t>List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 of&lt; VertexType &gt;&gt; </a:t>
            </a:r>
            <a:br>
              <a:rPr lang="en-US" sz="2206">
                <a:solidFill>
                  <a:srgbClr val="4742C4"/>
                </a:solidFill>
                <a:latin typeface="Calibri"/>
              </a:rPr>
            </a:br>
            <a:r>
              <a:rPr lang="en-US" sz="2206">
                <a:solidFill>
                  <a:srgbClr val="4742C4"/>
                </a:solidFill>
                <a:latin typeface="Calibri"/>
              </a:rPr>
              <a:t>indegree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&lt;int&gt; </a:t>
            </a:r>
          </a:p>
          <a:p>
            <a:pPr>
              <a:lnSpc>
                <a:spcPts val="3100"/>
              </a:lnSpc>
            </a:pPr>
            <a:endParaRPr lang="en-US" sz="2206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05400" y="5600700"/>
            <a:ext cx="2502801" cy="161358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91440" defTabSz="91440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88900" algn="l"/>
              </a:tabLst>
              <a:defRPr/>
            </a:pPr>
            <a:r>
              <a:rPr lang="en-US" sz="2206">
                <a:solidFill>
                  <a:srgbClr val="4742C4"/>
                </a:solidFill>
                <a:latin typeface="Calibri"/>
              </a:rPr>
              <a:t>outdegree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&lt;int&gt; </a:t>
            </a:r>
            <a:br>
              <a:rPr lang="en-US" sz="2206">
                <a:solidFill>
                  <a:srgbClr val="0000CC"/>
                </a:solidFill>
                <a:latin typeface="Calibri"/>
              </a:rPr>
            </a:br>
            <a:r>
              <a:rPr lang="en-US" sz="2206">
                <a:solidFill>
                  <a:srgbClr val="0000CC"/>
                </a:solidFill>
                <a:latin typeface="Calibri"/>
              </a:rPr>
              <a:t>	isMarked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&lt;boolean&gt; </a:t>
            </a:r>
            <a:br>
              <a:rPr lang="en-US" sz="2206" b="1">
                <a:solidFill>
                  <a:srgbClr val="000000"/>
                </a:solidFill>
                <a:latin typeface="Calibri"/>
              </a:rPr>
            </a:br>
            <a:r>
              <a:rPr lang="en-US" sz="2206" b="1">
                <a:solidFill>
                  <a:srgbClr val="000000"/>
                </a:solidFill>
                <a:latin typeface="Calibri"/>
              </a:rPr>
              <a:t>End GraphNode </a:t>
            </a:r>
          </a:p>
          <a:p>
            <a:pPr marL="0" marR="0" lvl="0" indent="91440" defTabSz="91440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88900" algn="l"/>
              </a:tabLst>
              <a:defRPr/>
            </a:pPr>
            <a:endParaRPr lang="en-US" sz="2206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36365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5600" y="127000"/>
            <a:ext cx="8595173" cy="73417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sz="3396" b="1">
                <a:solidFill>
                  <a:srgbClr val="000000"/>
                </a:solidFill>
                <a:latin typeface="Calibri"/>
              </a:rPr>
              <a:t>Auxiliary function Remove all Edges to a Vertex </a:t>
            </a:r>
          </a:p>
          <a:p>
            <a:pPr>
              <a:lnSpc>
                <a:spcPts val="30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4300" y="673100"/>
            <a:ext cx="7557838" cy="7437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900"/>
              </a:lnSpc>
            </a:pPr>
            <a:r>
              <a:rPr lang="en-US" sz="2424">
                <a:solidFill>
                  <a:srgbClr val="000000"/>
                </a:solidFill>
                <a:latin typeface="Calibri"/>
              </a:rPr>
              <a:t>&lt;void&gt; </a:t>
            </a:r>
            <a:r>
              <a:rPr lang="en-US" sz="2424" b="1">
                <a:solidFill>
                  <a:srgbClr val="FF0000"/>
                </a:solidFill>
                <a:latin typeface="Calibri"/>
              </a:rPr>
              <a:t>Remove_EdgesToVertex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(val</a:t>
            </a:r>
            <a:r>
              <a:rPr lang="en-US" sz="2424">
                <a:solidFill>
                  <a:srgbClr val="0000CC"/>
                </a:solidFill>
                <a:latin typeface="Calibri"/>
              </a:rPr>
              <a:t> VertexTo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&lt;VertexType&gt;) </a:t>
            </a:r>
          </a:p>
          <a:p>
            <a:pPr>
              <a:lnSpc>
                <a:spcPts val="2900"/>
              </a:lnSpc>
            </a:pPr>
            <a:endParaRPr lang="en-US" sz="2424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" y="1130300"/>
            <a:ext cx="6298327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8">
                <a:solidFill>
                  <a:srgbClr val="000000"/>
                </a:solidFill>
                <a:latin typeface="Calibri"/>
              </a:rPr>
              <a:t>Removes all edges from any vertex to </a:t>
            </a:r>
            <a:r>
              <a:rPr lang="en-US" sz="2208">
                <a:solidFill>
                  <a:srgbClr val="0000CC"/>
                </a:solidFill>
                <a:latin typeface="Calibri"/>
              </a:rPr>
              <a:t>VertexTo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 if exist. </a:t>
            </a:r>
          </a:p>
          <a:p>
            <a:pPr>
              <a:lnSpc>
                <a:spcPts val="2500"/>
              </a:lnSpc>
            </a:pPr>
            <a:endParaRPr lang="en-US" sz="2208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" y="1511300"/>
            <a:ext cx="216406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0000CC"/>
                </a:solidFill>
                <a:latin typeface="Calibri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511300"/>
            <a:ext cx="1346522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000000"/>
                </a:solidFill>
                <a:latin typeface="Calibri"/>
              </a:rPr>
              <a:t>position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" y="1917700"/>
            <a:ext cx="6500754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 b="1">
                <a:solidFill>
                  <a:srgbClr val="0000CC"/>
                </a:solidFill>
                <a:latin typeface="Calibri"/>
              </a:rPr>
              <a:t>2.</a:t>
            </a:r>
            <a:r>
              <a:rPr lang="en-US" sz="2208" b="1">
                <a:solidFill>
                  <a:srgbClr val="000000"/>
                </a:solidFill>
                <a:latin typeface="Calibri"/>
              </a:rPr>
              <a:t>  loop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 (</a:t>
            </a:r>
            <a:r>
              <a:rPr lang="en-US" sz="2208">
                <a:solidFill>
                  <a:srgbClr val="FF3399"/>
                </a:solidFill>
                <a:latin typeface="Calibri"/>
              </a:rPr>
              <a:t>digraph.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Retrieve(DataFrom, position) = </a:t>
            </a:r>
            <a:r>
              <a:rPr lang="en-US" sz="2208" i="1">
                <a:solidFill>
                  <a:srgbClr val="00AF50"/>
                </a:solidFill>
                <a:latin typeface="Calibri"/>
              </a:rPr>
              <a:t>success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0700" y="2324100"/>
            <a:ext cx="3479286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 b="1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208" b="1">
                <a:solidFill>
                  <a:srgbClr val="000000"/>
                </a:solidFill>
                <a:latin typeface="Calibri"/>
              </a:rPr>
              <a:t>  if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 (DataFrom.outdegree&gt;0)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05100"/>
            <a:ext cx="6329746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 b="1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208" b="1">
                <a:solidFill>
                  <a:srgbClr val="000000"/>
                </a:solidFill>
                <a:latin typeface="Calibri"/>
              </a:rPr>
              <a:t>  if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 (DataFrom.adjVertex.Remove(</a:t>
            </a:r>
            <a:r>
              <a:rPr lang="en-US" sz="2208">
                <a:solidFill>
                  <a:srgbClr val="0000CC"/>
                </a:solidFill>
                <a:latin typeface="Calibri"/>
              </a:rPr>
              <a:t>VertexTo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) = </a:t>
            </a:r>
            <a:r>
              <a:rPr lang="en-US" sz="2208" i="1">
                <a:solidFill>
                  <a:srgbClr val="00AF50"/>
                </a:solidFill>
                <a:latin typeface="Calibri"/>
              </a:rPr>
              <a:t>success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60700"/>
            <a:ext cx="214802" cy="3394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6">
                <a:solidFill>
                  <a:srgbClr val="0000CC"/>
                </a:solidFill>
                <a:latin typeface="Calibri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2300" y="3060700"/>
            <a:ext cx="5423088" cy="3394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6">
                <a:solidFill>
                  <a:srgbClr val="000000"/>
                </a:solidFill>
                <a:latin typeface="Calibri"/>
              </a:rPr>
              <a:t>DataFrom.outdegree = DataFrom.outdegree - 1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41700"/>
            <a:ext cx="214802" cy="3394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6">
                <a:solidFill>
                  <a:srgbClr val="0000CC"/>
                </a:solidFill>
                <a:latin typeface="Calibri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2300" y="3441700"/>
            <a:ext cx="4226542" cy="3394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6">
                <a:solidFill>
                  <a:srgbClr val="FF3399"/>
                </a:solidFill>
                <a:latin typeface="Calibri"/>
              </a:rPr>
              <a:t>digraph.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Replace(DataFrom, position)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700" y="3822700"/>
            <a:ext cx="216406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0000CC"/>
                </a:solidFill>
                <a:latin typeface="Calibri"/>
              </a:rPr>
              <a:t>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" y="3822700"/>
            <a:ext cx="2548775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000000"/>
                </a:solidFill>
                <a:latin typeface="Calibri"/>
              </a:rPr>
              <a:t>position = position + 1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5400" y="4051300"/>
            <a:ext cx="1353127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 b="1">
                <a:solidFill>
                  <a:srgbClr val="000000"/>
                </a:solidFill>
                <a:latin typeface="Calibri"/>
              </a:rPr>
              <a:t>GraphNode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" y="4229100"/>
            <a:ext cx="3236912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000000"/>
                </a:solidFill>
                <a:latin typeface="Calibri"/>
              </a:rPr>
              <a:t>End Remove_EdgesToVertex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4300" y="4445000"/>
            <a:ext cx="3806042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4742C4"/>
                </a:solidFill>
                <a:latin typeface="Calibri"/>
              </a:rPr>
              <a:t>vertex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 &lt;VertexType&gt; // (</a:t>
            </a:r>
            <a:r>
              <a:rPr lang="en-US" sz="2208" i="1">
                <a:solidFill>
                  <a:srgbClr val="000000"/>
                </a:solidFill>
                <a:latin typeface="Calibri"/>
              </a:rPr>
              <a:t>key field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4300" y="4851400"/>
            <a:ext cx="3751412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4742C4"/>
                </a:solidFill>
                <a:latin typeface="Calibri"/>
              </a:rPr>
              <a:t>adjVertex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&lt;</a:t>
            </a:r>
            <a:r>
              <a:rPr lang="en-US" sz="2208">
                <a:solidFill>
                  <a:srgbClr val="FF0000"/>
                </a:solidFill>
                <a:latin typeface="Calibri"/>
              </a:rPr>
              <a:t>List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 of&lt; VertexType &gt;&gt;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4300" y="5257800"/>
            <a:ext cx="1668790" cy="3394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6">
                <a:solidFill>
                  <a:srgbClr val="4742C4"/>
                </a:solidFill>
                <a:latin typeface="Calibri"/>
              </a:rPr>
              <a:t>indegree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&lt;int&gt;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4300" y="5676900"/>
            <a:ext cx="1907638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6">
                <a:solidFill>
                  <a:srgbClr val="4742C4"/>
                </a:solidFill>
                <a:latin typeface="Calibri"/>
              </a:rPr>
              <a:t>outdegree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&lt;int&gt; </a:t>
            </a:r>
          </a:p>
          <a:p>
            <a:pPr>
              <a:lnSpc>
                <a:spcPts val="2500"/>
              </a:lnSpc>
            </a:pPr>
            <a:endParaRPr lang="en-US" sz="2206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05400" y="6007100"/>
            <a:ext cx="2505366" cy="12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indent="91440">
              <a:lnSpc>
                <a:spcPts val="3200"/>
              </a:lnSpc>
            </a:pPr>
            <a:r>
              <a:rPr lang="en-US" sz="2206">
                <a:solidFill>
                  <a:srgbClr val="0000CC"/>
                </a:solidFill>
                <a:latin typeface="Calibri"/>
              </a:rPr>
              <a:t>isMarked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&lt;boolean&gt; </a:t>
            </a:r>
            <a:br>
              <a:rPr lang="en-US" sz="2206" b="1">
                <a:solidFill>
                  <a:srgbClr val="000000"/>
                </a:solidFill>
                <a:latin typeface="Calibri"/>
              </a:rPr>
            </a:br>
            <a:r>
              <a:rPr lang="en-US" sz="2206" b="1">
                <a:solidFill>
                  <a:srgbClr val="000000"/>
                </a:solidFill>
                <a:latin typeface="Calibri"/>
              </a:rPr>
              <a:t>End GraphNode </a:t>
            </a:r>
          </a:p>
          <a:p>
            <a:pPr indent="91440">
              <a:lnSpc>
                <a:spcPts val="3200"/>
              </a:lnSpc>
            </a:pPr>
            <a:endParaRPr lang="en-US" sz="2206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57991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09700" y="279400"/>
            <a:ext cx="6510052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000000"/>
                </a:solidFill>
                <a:latin typeface="Calibri"/>
              </a:rPr>
              <a:t>Insert  new  Edge into Digraph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4300" y="990600"/>
            <a:ext cx="8084329" cy="154138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defTabSz="914400" eaLnBrk="1" fontAlgn="auto" latinLnBrk="0" hangingPunct="1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657600" algn="l"/>
              </a:tabLst>
              <a:defRPr/>
            </a:pPr>
            <a:r>
              <a:rPr lang="en-US" sz="2820">
                <a:solidFill>
                  <a:srgbClr val="000000"/>
                </a:solidFill>
                <a:latin typeface="Calibri"/>
              </a:rPr>
              <a:t>&lt;ErrorCode&gt; </a:t>
            </a:r>
            <a:r>
              <a:rPr lang="en-US" sz="2820" b="1">
                <a:solidFill>
                  <a:srgbClr val="FF0000"/>
                </a:solidFill>
                <a:latin typeface="Calibri"/>
              </a:rPr>
              <a:t>InsertEdge</a:t>
            </a:r>
            <a:r>
              <a:rPr lang="en-US" sz="2820">
                <a:solidFill>
                  <a:srgbClr val="000000"/>
                </a:solidFill>
                <a:latin typeface="Calibri"/>
              </a:rPr>
              <a:t> (val</a:t>
            </a:r>
            <a:r>
              <a:rPr lang="en-US" sz="2820">
                <a:solidFill>
                  <a:srgbClr val="0000CC"/>
                </a:solidFill>
                <a:latin typeface="Calibri"/>
              </a:rPr>
              <a:t> VertexFrom</a:t>
            </a:r>
            <a:r>
              <a:rPr lang="en-US" sz="2820">
                <a:solidFill>
                  <a:srgbClr val="000000"/>
                </a:solidFill>
                <a:latin typeface="Calibri"/>
              </a:rPr>
              <a:t>&lt;VertexType&gt;, </a:t>
            </a:r>
            <a:br>
              <a:rPr lang="en-US" sz="2820">
                <a:solidFill>
                  <a:srgbClr val="000000"/>
                </a:solidFill>
                <a:latin typeface="Calibri"/>
              </a:rPr>
            </a:br>
            <a:r>
              <a:rPr lang="en-US" sz="2820">
                <a:solidFill>
                  <a:srgbClr val="000000"/>
                </a:solidFill>
                <a:latin typeface="Calibri"/>
              </a:rPr>
              <a:t>	val</a:t>
            </a:r>
            <a:r>
              <a:rPr lang="en-US" sz="2820">
                <a:solidFill>
                  <a:srgbClr val="0000CC"/>
                </a:solidFill>
                <a:latin typeface="Calibri"/>
              </a:rPr>
              <a:t> VertexTo</a:t>
            </a:r>
            <a:r>
              <a:rPr lang="en-US" sz="2820">
                <a:solidFill>
                  <a:srgbClr val="000000"/>
                </a:solidFill>
                <a:latin typeface="Calibri"/>
              </a:rPr>
              <a:t> &lt;VertexType&gt;) </a:t>
            </a:r>
          </a:p>
          <a:p>
            <a:pPr marL="0" marR="0" lvl="0" indent="0" defTabSz="914400" eaLnBrk="1" fontAlgn="auto" latinLnBrk="0" hangingPunct="1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657600" algn="l"/>
              </a:tabLst>
              <a:defRPr/>
            </a:pPr>
            <a:endParaRPr lang="en-US" sz="2820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" y="2095500"/>
            <a:ext cx="3891771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2">
                <a:solidFill>
                  <a:srgbClr val="000000"/>
                </a:solidFill>
                <a:latin typeface="Calibri"/>
              </a:rPr>
              <a:t>Inserts new edge into digraph.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124200"/>
            <a:ext cx="8304125" cy="2024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67127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" y="63500"/>
            <a:ext cx="216406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0000CC"/>
                </a:solidFill>
                <a:latin typeface="Calibri"/>
              </a:rPr>
              <a:t>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63500"/>
            <a:ext cx="3522183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000000"/>
                </a:solidFill>
                <a:latin typeface="Calibri"/>
              </a:rPr>
              <a:t>DataFrom.vertex = </a:t>
            </a:r>
            <a:r>
              <a:rPr lang="en-US" sz="2208">
                <a:solidFill>
                  <a:srgbClr val="4742C4"/>
                </a:solidFill>
                <a:latin typeface="Calibri"/>
              </a:rPr>
              <a:t>VertexFrom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" y="469900"/>
            <a:ext cx="216406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0000CC"/>
                </a:solidFill>
                <a:latin typeface="Calibri"/>
              </a:rPr>
              <a:t>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469900"/>
            <a:ext cx="2846228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000000"/>
                </a:solidFill>
                <a:latin typeface="Calibri"/>
              </a:rPr>
              <a:t>DataTo.vertex = </a:t>
            </a:r>
            <a:r>
              <a:rPr lang="en-US" sz="2208">
                <a:solidFill>
                  <a:srgbClr val="4742C4"/>
                </a:solidFill>
                <a:latin typeface="Calibri"/>
              </a:rPr>
              <a:t>VertexTo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" y="876300"/>
            <a:ext cx="5256888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6" b="1">
                <a:solidFill>
                  <a:srgbClr val="0000CC"/>
                </a:solidFill>
                <a:latin typeface="Calibri"/>
              </a:rPr>
              <a:t>3.</a:t>
            </a:r>
            <a:r>
              <a:rPr lang="en-US" sz="2206" b="1">
                <a:solidFill>
                  <a:srgbClr val="000000"/>
                </a:solidFill>
                <a:latin typeface="Calibri"/>
              </a:rPr>
              <a:t>  if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( </a:t>
            </a:r>
            <a:r>
              <a:rPr lang="en-US" sz="2206">
                <a:solidFill>
                  <a:srgbClr val="FF3399"/>
                </a:solidFill>
                <a:latin typeface="Calibri"/>
              </a:rPr>
              <a:t>digraph.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Retrieve(DataFrom) = </a:t>
            </a:r>
            <a:r>
              <a:rPr lang="en-US" sz="2206" i="1">
                <a:solidFill>
                  <a:srgbClr val="00AF50"/>
                </a:solidFill>
                <a:latin typeface="Calibri"/>
              </a:rPr>
              <a:t>success 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) </a:t>
            </a:r>
          </a:p>
          <a:p>
            <a:pPr>
              <a:lnSpc>
                <a:spcPts val="2500"/>
              </a:lnSpc>
            </a:pPr>
            <a:endParaRPr lang="en-US" sz="2206" i="1">
              <a:solidFill>
                <a:srgbClr val="00AF5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0700" y="1282700"/>
            <a:ext cx="4918911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6" b="1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206" b="1">
                <a:solidFill>
                  <a:srgbClr val="000000"/>
                </a:solidFill>
                <a:latin typeface="Calibri"/>
              </a:rPr>
              <a:t>  if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( </a:t>
            </a:r>
            <a:r>
              <a:rPr lang="en-US" sz="2206">
                <a:solidFill>
                  <a:srgbClr val="FF3399"/>
                </a:solidFill>
                <a:latin typeface="Calibri"/>
              </a:rPr>
              <a:t>digraph.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Retrieve(DataTo) = </a:t>
            </a:r>
            <a:r>
              <a:rPr lang="en-US" sz="2206" i="1">
                <a:solidFill>
                  <a:srgbClr val="00AF50"/>
                </a:solidFill>
                <a:latin typeface="Calibri"/>
              </a:rPr>
              <a:t>success 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) </a:t>
            </a:r>
          </a:p>
          <a:p>
            <a:pPr>
              <a:lnSpc>
                <a:spcPts val="2500"/>
              </a:lnSpc>
            </a:pPr>
            <a:endParaRPr lang="en-US" sz="2206" i="1">
              <a:solidFill>
                <a:srgbClr val="00AF5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651000"/>
            <a:ext cx="214802" cy="3394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6">
                <a:solidFill>
                  <a:srgbClr val="0000CC"/>
                </a:solidFill>
                <a:latin typeface="Calibri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100" y="1651000"/>
            <a:ext cx="2431243" cy="3394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6">
                <a:solidFill>
                  <a:srgbClr val="000000"/>
                </a:solidFill>
                <a:latin typeface="Calibri"/>
              </a:rPr>
              <a:t>newData = DataFrom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9300"/>
            <a:ext cx="6014723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 b="1">
                <a:solidFill>
                  <a:srgbClr val="0000CC"/>
                </a:solidFill>
                <a:latin typeface="Calibri"/>
              </a:rPr>
              <a:t>2.</a:t>
            </a:r>
            <a:r>
              <a:rPr lang="en-US" sz="2208" b="1">
                <a:solidFill>
                  <a:srgbClr val="000000"/>
                </a:solidFill>
                <a:latin typeface="Calibri"/>
              </a:rPr>
              <a:t>  if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 ( newData.adjVertex.Search(</a:t>
            </a:r>
            <a:r>
              <a:rPr lang="en-US" sz="2208">
                <a:solidFill>
                  <a:srgbClr val="0000CC"/>
                </a:solidFill>
                <a:latin typeface="Calibri"/>
              </a:rPr>
              <a:t>VertexTo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) = </a:t>
            </a:r>
            <a:r>
              <a:rPr lang="en-US" sz="2208" i="1">
                <a:solidFill>
                  <a:srgbClr val="00AF50"/>
                </a:solidFill>
                <a:latin typeface="Calibri"/>
              </a:rPr>
              <a:t>found 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87600"/>
            <a:ext cx="216406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0000CC"/>
                </a:solidFill>
                <a:latin typeface="Calibri"/>
              </a:rPr>
              <a:t>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2300" y="2387600"/>
            <a:ext cx="2579039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000000"/>
                </a:solidFill>
                <a:latin typeface="Calibri"/>
              </a:rPr>
              <a:t>return </a:t>
            </a:r>
            <a:r>
              <a:rPr lang="en-US" sz="2208" i="1">
                <a:solidFill>
                  <a:srgbClr val="00AF50"/>
                </a:solidFill>
                <a:latin typeface="Calibri"/>
              </a:rPr>
              <a:t>duplicate_error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755900"/>
            <a:ext cx="6085384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 b="1">
                <a:solidFill>
                  <a:srgbClr val="0000CC"/>
                </a:solidFill>
                <a:latin typeface="Calibri"/>
              </a:rPr>
              <a:t>3.</a:t>
            </a:r>
            <a:r>
              <a:rPr lang="en-US" sz="2208" b="1">
                <a:solidFill>
                  <a:srgbClr val="000000"/>
                </a:solidFill>
                <a:latin typeface="Calibri"/>
              </a:rPr>
              <a:t>  if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 ( newData.adjVertex.Insert(</a:t>
            </a:r>
            <a:r>
              <a:rPr lang="en-US" sz="2208">
                <a:solidFill>
                  <a:srgbClr val="0000CC"/>
                </a:solidFill>
                <a:latin typeface="Calibri"/>
              </a:rPr>
              <a:t>VertexTo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) = </a:t>
            </a:r>
            <a:r>
              <a:rPr lang="en-US" sz="2208" i="1">
                <a:solidFill>
                  <a:srgbClr val="00AF50"/>
                </a:solidFill>
                <a:latin typeface="Calibri"/>
              </a:rPr>
              <a:t>success 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136900"/>
            <a:ext cx="278923" cy="6219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6">
                <a:solidFill>
                  <a:srgbClr val="0000CC"/>
                </a:solidFill>
                <a:latin typeface="Calibri"/>
              </a:rPr>
              <a:t>1. </a:t>
            </a:r>
          </a:p>
          <a:p>
            <a:pPr>
              <a:lnSpc>
                <a:spcPts val="2500"/>
              </a:lnSpc>
            </a:pPr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371600" y="3505200"/>
            <a:ext cx="278923" cy="6219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6">
                <a:solidFill>
                  <a:srgbClr val="0000CC"/>
                </a:solidFill>
                <a:latin typeface="Calibri"/>
              </a:rPr>
              <a:t>2. </a:t>
            </a:r>
          </a:p>
          <a:p>
            <a:pPr>
              <a:lnSpc>
                <a:spcPts val="2500"/>
              </a:lnSpc>
            </a:pPr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371600" y="3873500"/>
            <a:ext cx="278923" cy="6219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6">
                <a:solidFill>
                  <a:srgbClr val="0000CC"/>
                </a:solidFill>
                <a:latin typeface="Calibri"/>
              </a:rPr>
              <a:t>3. </a:t>
            </a:r>
          </a:p>
          <a:p>
            <a:pPr>
              <a:lnSpc>
                <a:spcPts val="2500"/>
              </a:lnSpc>
            </a:pPr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892300" y="3098800"/>
            <a:ext cx="5259453" cy="109741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900"/>
              </a:lnSpc>
            </a:pPr>
            <a:r>
              <a:rPr lang="en-US" sz="2206">
                <a:solidFill>
                  <a:srgbClr val="000000"/>
                </a:solidFill>
                <a:latin typeface="Calibri"/>
              </a:rPr>
              <a:t>newData.outdegree = newData.outdegree +1 </a:t>
            </a:r>
            <a:br>
              <a:rPr lang="en-US" sz="2206">
                <a:solidFill>
                  <a:srgbClr val="FF3399"/>
                </a:solidFill>
                <a:latin typeface="Calibri"/>
              </a:rPr>
            </a:br>
            <a:r>
              <a:rPr lang="en-US" sz="2206">
                <a:solidFill>
                  <a:srgbClr val="FF3399"/>
                </a:solidFill>
                <a:latin typeface="Calibri"/>
              </a:rPr>
              <a:t>digraph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.Replace(newData, DataFrom) </a:t>
            </a:r>
          </a:p>
          <a:p>
            <a:pPr>
              <a:lnSpc>
                <a:spcPts val="2900"/>
              </a:lnSpc>
            </a:pPr>
            <a:endParaRPr lang="en-US" sz="2206">
              <a:solidFill>
                <a:srgbClr val="FF3399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92300" y="3873500"/>
            <a:ext cx="1717971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6">
                <a:solidFill>
                  <a:srgbClr val="000000"/>
                </a:solidFill>
                <a:latin typeface="Calibri"/>
              </a:rPr>
              <a:t>return </a:t>
            </a:r>
            <a:r>
              <a:rPr lang="en-US" sz="2206" i="1">
                <a:solidFill>
                  <a:srgbClr val="00AF50"/>
                </a:solidFill>
                <a:latin typeface="Calibri"/>
              </a:rPr>
              <a:t>success </a:t>
            </a:r>
          </a:p>
          <a:p>
            <a:pPr>
              <a:lnSpc>
                <a:spcPts val="2500"/>
              </a:lnSpc>
            </a:pPr>
            <a:endParaRPr lang="en-US" sz="2206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4400" y="4241800"/>
            <a:ext cx="878446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8" b="1">
                <a:solidFill>
                  <a:srgbClr val="0000CC"/>
                </a:solidFill>
                <a:latin typeface="Calibri"/>
              </a:rPr>
              <a:t>4.</a:t>
            </a:r>
            <a:r>
              <a:rPr lang="en-US" sz="2208" b="1">
                <a:solidFill>
                  <a:srgbClr val="000000"/>
                </a:solidFill>
                <a:latin typeface="Calibri"/>
              </a:rPr>
              <a:t>  else </a:t>
            </a:r>
          </a:p>
          <a:p>
            <a:pPr>
              <a:lnSpc>
                <a:spcPts val="2500"/>
              </a:lnSpc>
            </a:pPr>
            <a:endParaRPr lang="en-US" sz="2208" b="1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71600" y="4610100"/>
            <a:ext cx="2397388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520700" algn="l"/>
              </a:tabLst>
              <a:defRPr/>
            </a:pPr>
            <a:r>
              <a:rPr lang="en-US" sz="2208">
                <a:solidFill>
                  <a:srgbClr val="0000CC"/>
                </a:solidFill>
                <a:latin typeface="Calibri"/>
              </a:rPr>
              <a:t>1. 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	return</a:t>
            </a:r>
            <a:r>
              <a:rPr lang="en-US" sz="2208" i="1">
                <a:solidFill>
                  <a:srgbClr val="00AF50"/>
                </a:solidFill>
                <a:latin typeface="Calibri"/>
              </a:rPr>
              <a:t> overflow </a:t>
            </a:r>
          </a:p>
          <a:p>
            <a:pPr marL="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520700" algn="l"/>
              </a:tabLst>
              <a:defRPr/>
            </a:pPr>
            <a:endParaRPr lang="en-US" sz="2208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0700" y="5003800"/>
            <a:ext cx="878446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8" b="1">
                <a:solidFill>
                  <a:srgbClr val="0000CC"/>
                </a:solidFill>
                <a:latin typeface="Calibri"/>
              </a:rPr>
              <a:t>2.</a:t>
            </a:r>
            <a:r>
              <a:rPr lang="en-US" sz="2208" b="1">
                <a:solidFill>
                  <a:srgbClr val="000000"/>
                </a:solidFill>
                <a:latin typeface="Calibri"/>
              </a:rPr>
              <a:t>  else </a:t>
            </a:r>
          </a:p>
          <a:p>
            <a:pPr>
              <a:lnSpc>
                <a:spcPts val="2500"/>
              </a:lnSpc>
            </a:pPr>
            <a:endParaRPr lang="en-US" sz="2208" b="1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4400" y="5384800"/>
            <a:ext cx="3636060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520700" algn="l"/>
              </a:tabLst>
              <a:defRPr/>
            </a:pPr>
            <a:r>
              <a:rPr lang="en-US" sz="2206">
                <a:solidFill>
                  <a:srgbClr val="0000CC"/>
                </a:solidFill>
                <a:latin typeface="Calibri"/>
              </a:rPr>
              <a:t>1. 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	return</a:t>
            </a:r>
            <a:r>
              <a:rPr lang="en-US" sz="2206" i="1">
                <a:solidFill>
                  <a:srgbClr val="00AF50"/>
                </a:solidFill>
                <a:latin typeface="Calibri"/>
              </a:rPr>
              <a:t> notFound_VertexTo </a:t>
            </a:r>
          </a:p>
          <a:p>
            <a:pPr marL="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520700" algn="l"/>
              </a:tabLst>
              <a:defRPr/>
            </a:pPr>
            <a:endParaRPr lang="en-US" sz="2206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4300" y="5778500"/>
            <a:ext cx="876843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6" b="1">
                <a:solidFill>
                  <a:srgbClr val="0000CC"/>
                </a:solidFill>
                <a:latin typeface="Calibri"/>
              </a:rPr>
              <a:t>4.</a:t>
            </a:r>
            <a:r>
              <a:rPr lang="en-US" sz="2206" b="1">
                <a:solidFill>
                  <a:srgbClr val="000000"/>
                </a:solidFill>
                <a:latin typeface="Calibri"/>
              </a:rPr>
              <a:t>  else </a:t>
            </a:r>
          </a:p>
          <a:p>
            <a:pPr>
              <a:lnSpc>
                <a:spcPts val="2500"/>
              </a:lnSpc>
            </a:pPr>
            <a:endParaRPr lang="en-US" sz="2206" b="1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4300" y="6121400"/>
            <a:ext cx="4327210" cy="12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402641" defTabSz="91440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914400" algn="l"/>
              </a:tabLst>
              <a:defRPr/>
            </a:pPr>
            <a:r>
              <a:rPr lang="en-US" sz="2206">
                <a:solidFill>
                  <a:srgbClr val="0000CC"/>
                </a:solidFill>
                <a:latin typeface="Calibri"/>
              </a:rPr>
              <a:t>1. 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	return </a:t>
            </a:r>
            <a:r>
              <a:rPr lang="en-US" sz="2206" i="1">
                <a:solidFill>
                  <a:srgbClr val="00AF50"/>
                </a:solidFill>
                <a:latin typeface="Calibri"/>
              </a:rPr>
              <a:t>notFound_VertexFrom </a:t>
            </a:r>
            <a:br>
              <a:rPr lang="en-US" sz="2208">
                <a:solidFill>
                  <a:srgbClr val="000000"/>
                </a:solidFill>
                <a:latin typeface="Calibri"/>
              </a:rPr>
            </a:br>
            <a:r>
              <a:rPr lang="en-US" sz="2208">
                <a:solidFill>
                  <a:srgbClr val="000000"/>
                </a:solidFill>
                <a:latin typeface="Calibri"/>
              </a:rPr>
              <a:t>End InsertEdge </a:t>
            </a:r>
          </a:p>
          <a:p>
            <a:pPr marL="0" marR="0" lvl="0" indent="402641" defTabSz="91440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914400" algn="l"/>
              </a:tabLst>
              <a:defRPr/>
            </a:pPr>
            <a:endParaRPr lang="en-US" sz="2206" i="1">
              <a:solidFill>
                <a:srgbClr val="00AF50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05400" y="4114800"/>
            <a:ext cx="1417247" cy="51296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2208" b="1">
                <a:solidFill>
                  <a:srgbClr val="000000"/>
                </a:solidFill>
                <a:latin typeface="Calibri"/>
              </a:rPr>
              <a:t>GraphNode </a:t>
            </a:r>
          </a:p>
          <a:p>
            <a:pPr>
              <a:lnSpc>
                <a:spcPts val="2000"/>
              </a:lnSpc>
            </a:pPr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5194300" y="4406900"/>
            <a:ext cx="3870162" cy="151740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sz="2208">
                <a:solidFill>
                  <a:srgbClr val="4742C4"/>
                </a:solidFill>
                <a:latin typeface="Calibri"/>
              </a:rPr>
              <a:t>vertex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 &lt;VertexType&gt; // (</a:t>
            </a:r>
            <a:r>
              <a:rPr lang="en-US" sz="2208" i="1">
                <a:solidFill>
                  <a:srgbClr val="000000"/>
                </a:solidFill>
                <a:latin typeface="Calibri"/>
              </a:rPr>
              <a:t>key field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) </a:t>
            </a:r>
            <a:br>
              <a:rPr lang="en-US" sz="2208">
                <a:solidFill>
                  <a:srgbClr val="4742C4"/>
                </a:solidFill>
                <a:latin typeface="Calibri"/>
              </a:rPr>
            </a:br>
            <a:r>
              <a:rPr lang="en-US" sz="2208">
                <a:solidFill>
                  <a:srgbClr val="4742C4"/>
                </a:solidFill>
                <a:latin typeface="Calibri"/>
              </a:rPr>
              <a:t>adjVertex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&lt;</a:t>
            </a:r>
            <a:r>
              <a:rPr lang="en-US" sz="2208">
                <a:solidFill>
                  <a:srgbClr val="FF0000"/>
                </a:solidFill>
                <a:latin typeface="Calibri"/>
              </a:rPr>
              <a:t>List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 of&lt; VertexType &gt;&gt; </a:t>
            </a:r>
            <a:br>
              <a:rPr lang="en-US" sz="2206">
                <a:solidFill>
                  <a:srgbClr val="4742C4"/>
                </a:solidFill>
                <a:latin typeface="Calibri"/>
              </a:rPr>
            </a:br>
            <a:r>
              <a:rPr lang="en-US" sz="2206">
                <a:solidFill>
                  <a:srgbClr val="4742C4"/>
                </a:solidFill>
                <a:latin typeface="Calibri"/>
              </a:rPr>
              <a:t>indegree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&lt;int&gt; </a:t>
            </a:r>
          </a:p>
          <a:p>
            <a:pPr>
              <a:lnSpc>
                <a:spcPts val="3000"/>
              </a:lnSpc>
            </a:pPr>
            <a:endParaRPr lang="en-US" sz="2206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105400" y="5600700"/>
            <a:ext cx="2502801" cy="161358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91440" defTabSz="91440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88900" algn="l"/>
              </a:tabLst>
              <a:defRPr/>
            </a:pPr>
            <a:r>
              <a:rPr lang="en-US" sz="2206">
                <a:solidFill>
                  <a:srgbClr val="4742C4"/>
                </a:solidFill>
                <a:latin typeface="Calibri"/>
              </a:rPr>
              <a:t>outdegree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&lt;int&gt; </a:t>
            </a:r>
            <a:br>
              <a:rPr lang="en-US" sz="2206">
                <a:solidFill>
                  <a:srgbClr val="0000CC"/>
                </a:solidFill>
                <a:latin typeface="Calibri"/>
              </a:rPr>
            </a:br>
            <a:r>
              <a:rPr lang="en-US" sz="2206">
                <a:solidFill>
                  <a:srgbClr val="0000CC"/>
                </a:solidFill>
                <a:latin typeface="Calibri"/>
              </a:rPr>
              <a:t>	isMarked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&lt;boolean&gt; </a:t>
            </a:r>
            <a:br>
              <a:rPr lang="en-US" sz="2206" b="1">
                <a:solidFill>
                  <a:srgbClr val="000000"/>
                </a:solidFill>
                <a:latin typeface="Calibri"/>
              </a:rPr>
            </a:br>
            <a:r>
              <a:rPr lang="en-US" sz="2206" b="1">
                <a:solidFill>
                  <a:srgbClr val="000000"/>
                </a:solidFill>
                <a:latin typeface="Calibri"/>
              </a:rPr>
              <a:t>End GraphNode </a:t>
            </a:r>
          </a:p>
          <a:p>
            <a:pPr marL="0" marR="0" lvl="0" indent="91440" defTabSz="91440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88900" algn="l"/>
              </a:tabLst>
              <a:defRPr/>
            </a:pPr>
            <a:endParaRPr lang="en-US" sz="2206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880176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54200" y="279400"/>
            <a:ext cx="5589287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000000"/>
                </a:solidFill>
                <a:latin typeface="Calibri"/>
              </a:rPr>
              <a:t>Delete Edge from Digraph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4300" y="990600"/>
            <a:ext cx="8277779" cy="154138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defTabSz="914400" eaLnBrk="1" fontAlgn="auto" latinLnBrk="0" hangingPunct="1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822700" algn="l"/>
              </a:tabLst>
              <a:defRPr/>
            </a:pPr>
            <a:r>
              <a:rPr lang="en-US" sz="2820">
                <a:solidFill>
                  <a:srgbClr val="000000"/>
                </a:solidFill>
                <a:latin typeface="Calibri"/>
              </a:rPr>
              <a:t>&lt;ErrorCode&gt; </a:t>
            </a:r>
            <a:r>
              <a:rPr lang="en-US" sz="2820" b="1">
                <a:solidFill>
                  <a:srgbClr val="FF0000"/>
                </a:solidFill>
                <a:latin typeface="Calibri"/>
              </a:rPr>
              <a:t>DeleteEdge</a:t>
            </a:r>
            <a:r>
              <a:rPr lang="en-US" sz="2820">
                <a:solidFill>
                  <a:srgbClr val="000000"/>
                </a:solidFill>
                <a:latin typeface="Calibri"/>
              </a:rPr>
              <a:t> (val</a:t>
            </a:r>
            <a:r>
              <a:rPr lang="en-US" sz="2820">
                <a:solidFill>
                  <a:srgbClr val="0000CC"/>
                </a:solidFill>
                <a:latin typeface="Calibri"/>
              </a:rPr>
              <a:t> VertexFrom</a:t>
            </a:r>
            <a:r>
              <a:rPr lang="en-US" sz="2820">
                <a:solidFill>
                  <a:srgbClr val="000000"/>
                </a:solidFill>
                <a:latin typeface="Calibri"/>
              </a:rPr>
              <a:t> &lt;VertexType&gt;, </a:t>
            </a:r>
            <a:br>
              <a:rPr lang="en-US" sz="2820">
                <a:solidFill>
                  <a:srgbClr val="000000"/>
                </a:solidFill>
                <a:latin typeface="Calibri"/>
              </a:rPr>
            </a:br>
            <a:r>
              <a:rPr lang="en-US" sz="2820">
                <a:solidFill>
                  <a:srgbClr val="000000"/>
                </a:solidFill>
                <a:latin typeface="Calibri"/>
              </a:rPr>
              <a:t>	val</a:t>
            </a:r>
            <a:r>
              <a:rPr lang="en-US" sz="2820">
                <a:solidFill>
                  <a:srgbClr val="0000CC"/>
                </a:solidFill>
                <a:latin typeface="Calibri"/>
              </a:rPr>
              <a:t> VertexTo</a:t>
            </a:r>
            <a:r>
              <a:rPr lang="en-US" sz="2820">
                <a:solidFill>
                  <a:srgbClr val="000000"/>
                </a:solidFill>
                <a:latin typeface="Calibri"/>
              </a:rPr>
              <a:t> &lt;VertexType&gt;) </a:t>
            </a:r>
          </a:p>
          <a:p>
            <a:pPr marL="0" marR="0" lvl="0" indent="0" defTabSz="914400" eaLnBrk="1" fontAlgn="auto" latinLnBrk="0" hangingPunct="1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822700" algn="l"/>
              </a:tabLst>
              <a:defRPr/>
            </a:pPr>
            <a:endParaRPr lang="en-US" sz="2820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" y="2095500"/>
            <a:ext cx="5014578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2">
                <a:solidFill>
                  <a:srgbClr val="000000"/>
                </a:solidFill>
                <a:latin typeface="Calibri"/>
              </a:rPr>
              <a:t>Deletes an existing edge in the digraph.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421" y="3200400"/>
            <a:ext cx="7981658" cy="1928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22996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" y="63500"/>
            <a:ext cx="216406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0000CC"/>
                </a:solidFill>
                <a:latin typeface="Calibri"/>
              </a:rPr>
              <a:t>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63500"/>
            <a:ext cx="3522183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000000"/>
                </a:solidFill>
                <a:latin typeface="Calibri"/>
              </a:rPr>
              <a:t>DataFrom.vertex = </a:t>
            </a:r>
            <a:r>
              <a:rPr lang="en-US" sz="2208">
                <a:solidFill>
                  <a:srgbClr val="4742C4"/>
                </a:solidFill>
                <a:latin typeface="Calibri"/>
              </a:rPr>
              <a:t>VertexFrom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" y="469900"/>
            <a:ext cx="216406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0000CC"/>
                </a:solidFill>
                <a:latin typeface="Calibri"/>
              </a:rPr>
              <a:t>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469900"/>
            <a:ext cx="2846228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000000"/>
                </a:solidFill>
                <a:latin typeface="Calibri"/>
              </a:rPr>
              <a:t>DataTo.vertex = </a:t>
            </a:r>
            <a:r>
              <a:rPr lang="en-US" sz="2208">
                <a:solidFill>
                  <a:srgbClr val="4742C4"/>
                </a:solidFill>
                <a:latin typeface="Calibri"/>
              </a:rPr>
              <a:t>VertexTo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" y="863600"/>
            <a:ext cx="5192768" cy="3394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6" b="1">
                <a:solidFill>
                  <a:srgbClr val="0000CC"/>
                </a:solidFill>
                <a:latin typeface="Calibri"/>
              </a:rPr>
              <a:t>3.</a:t>
            </a:r>
            <a:r>
              <a:rPr lang="en-US" sz="2206" b="1">
                <a:solidFill>
                  <a:srgbClr val="000000"/>
                </a:solidFill>
                <a:latin typeface="Calibri"/>
              </a:rPr>
              <a:t>  if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( </a:t>
            </a:r>
            <a:r>
              <a:rPr lang="en-US" sz="2206">
                <a:solidFill>
                  <a:srgbClr val="FF3399"/>
                </a:solidFill>
                <a:latin typeface="Calibri"/>
              </a:rPr>
              <a:t>digraph.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Retrieve(DataFrom) = </a:t>
            </a:r>
            <a:r>
              <a:rPr lang="en-US" sz="2206" i="1">
                <a:solidFill>
                  <a:srgbClr val="00AF50"/>
                </a:solidFill>
                <a:latin typeface="Calibri"/>
              </a:rPr>
              <a:t>success 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700" y="1270000"/>
            <a:ext cx="4854791" cy="3394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6" b="1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206" b="1">
                <a:solidFill>
                  <a:srgbClr val="000000"/>
                </a:solidFill>
                <a:latin typeface="Calibri"/>
              </a:rPr>
              <a:t>  if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( </a:t>
            </a:r>
            <a:r>
              <a:rPr lang="en-US" sz="2206">
                <a:solidFill>
                  <a:srgbClr val="FF3399"/>
                </a:solidFill>
                <a:latin typeface="Calibri"/>
              </a:rPr>
              <a:t>digraph.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Retrieve(DataTo) = </a:t>
            </a:r>
            <a:r>
              <a:rPr lang="en-US" sz="2206" i="1">
                <a:solidFill>
                  <a:srgbClr val="00AF50"/>
                </a:solidFill>
                <a:latin typeface="Calibri"/>
              </a:rPr>
              <a:t>success 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51000"/>
            <a:ext cx="214802" cy="3394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6">
                <a:solidFill>
                  <a:srgbClr val="0000CC"/>
                </a:solidFill>
                <a:latin typeface="Calibri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100" y="1651000"/>
            <a:ext cx="2431243" cy="3394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6">
                <a:solidFill>
                  <a:srgbClr val="000000"/>
                </a:solidFill>
                <a:latin typeface="Calibri"/>
              </a:rPr>
              <a:t>newData = DataFrom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9300"/>
            <a:ext cx="6348918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 b="1">
                <a:solidFill>
                  <a:srgbClr val="0000CC"/>
                </a:solidFill>
                <a:latin typeface="Calibri"/>
              </a:rPr>
              <a:t>2.</a:t>
            </a:r>
            <a:r>
              <a:rPr lang="en-US" sz="2208" b="1">
                <a:solidFill>
                  <a:srgbClr val="000000"/>
                </a:solidFill>
                <a:latin typeface="Calibri"/>
              </a:rPr>
              <a:t>  if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 ( newData.adjVertex.Remove(</a:t>
            </a:r>
            <a:r>
              <a:rPr lang="en-US" sz="2208">
                <a:solidFill>
                  <a:srgbClr val="0000CC"/>
                </a:solidFill>
                <a:latin typeface="Calibri"/>
              </a:rPr>
              <a:t>VertexTo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) = </a:t>
            </a:r>
            <a:r>
              <a:rPr lang="en-US" sz="2208" i="1">
                <a:solidFill>
                  <a:srgbClr val="00AF50"/>
                </a:solidFill>
                <a:latin typeface="Calibri"/>
              </a:rPr>
              <a:t>success 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87600"/>
            <a:ext cx="216406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0000CC"/>
                </a:solidFill>
                <a:latin typeface="Calibri"/>
              </a:rPr>
              <a:t>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2300" y="2387600"/>
            <a:ext cx="5142433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000000"/>
                </a:solidFill>
                <a:latin typeface="Calibri"/>
              </a:rPr>
              <a:t>newData.outdegree = newData.outdegree 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755900"/>
            <a:ext cx="216406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0000CC"/>
                </a:solidFill>
                <a:latin typeface="Calibri"/>
              </a:rPr>
              <a:t>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2300" y="2755900"/>
            <a:ext cx="4319965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FF3399"/>
                </a:solidFill>
                <a:latin typeface="Calibri"/>
              </a:rPr>
              <a:t>digraph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.Replace(newData, DataFrom)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4200"/>
            <a:ext cx="214802" cy="3394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6">
                <a:solidFill>
                  <a:srgbClr val="0000CC"/>
                </a:solidFill>
                <a:latin typeface="Calibri"/>
              </a:rPr>
              <a:t>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92300" y="3124200"/>
            <a:ext cx="1653851" cy="3394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6">
                <a:solidFill>
                  <a:srgbClr val="000000"/>
                </a:solidFill>
                <a:latin typeface="Calibri"/>
              </a:rPr>
              <a:t>return </a:t>
            </a:r>
            <a:r>
              <a:rPr lang="en-US" sz="2206" i="1">
                <a:solidFill>
                  <a:srgbClr val="00AF50"/>
                </a:solidFill>
                <a:latin typeface="Calibri"/>
              </a:rPr>
              <a:t>success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92500"/>
            <a:ext cx="812723" cy="3394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6" b="1">
                <a:solidFill>
                  <a:srgbClr val="0000CC"/>
                </a:solidFill>
                <a:latin typeface="Calibri"/>
              </a:rPr>
              <a:t>3.</a:t>
            </a:r>
            <a:r>
              <a:rPr lang="en-US" sz="2206" b="1">
                <a:solidFill>
                  <a:srgbClr val="000000"/>
                </a:solidFill>
                <a:latin typeface="Calibri"/>
              </a:rPr>
              <a:t>  else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73500"/>
            <a:ext cx="3191964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520700" algn="l"/>
              </a:tabLst>
              <a:defRPr/>
            </a:pPr>
            <a:r>
              <a:rPr lang="en-US" sz="2206">
                <a:solidFill>
                  <a:srgbClr val="0000CC"/>
                </a:solidFill>
                <a:latin typeface="Calibri"/>
              </a:rPr>
              <a:t>1. 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	return</a:t>
            </a:r>
            <a:r>
              <a:rPr lang="en-US" sz="2206" i="1">
                <a:solidFill>
                  <a:srgbClr val="00AF50"/>
                </a:solidFill>
                <a:latin typeface="Calibri"/>
              </a:rPr>
              <a:t> notFound_Edge </a:t>
            </a:r>
          </a:p>
          <a:p>
            <a:pPr marL="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520700" algn="l"/>
              </a:tabLst>
              <a:defRPr/>
            </a:pPr>
            <a:endParaRPr lang="en-US" sz="2206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0700" y="4267200"/>
            <a:ext cx="878446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8" b="1">
                <a:solidFill>
                  <a:srgbClr val="0000CC"/>
                </a:solidFill>
                <a:latin typeface="Calibri"/>
              </a:rPr>
              <a:t>2.</a:t>
            </a:r>
            <a:r>
              <a:rPr lang="en-US" sz="2208" b="1">
                <a:solidFill>
                  <a:srgbClr val="000000"/>
                </a:solidFill>
                <a:latin typeface="Calibri"/>
              </a:rPr>
              <a:t>  else </a:t>
            </a:r>
          </a:p>
          <a:p>
            <a:pPr>
              <a:lnSpc>
                <a:spcPts val="2500"/>
              </a:lnSpc>
            </a:pPr>
            <a:endParaRPr lang="en-US" sz="2208" b="1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4648200"/>
            <a:ext cx="3637662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520700" algn="l"/>
              </a:tabLst>
              <a:defRPr/>
            </a:pPr>
            <a:r>
              <a:rPr lang="en-US" sz="2208">
                <a:solidFill>
                  <a:srgbClr val="0000CC"/>
                </a:solidFill>
                <a:latin typeface="Calibri"/>
              </a:rPr>
              <a:t>1. 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	return</a:t>
            </a:r>
            <a:r>
              <a:rPr lang="en-US" sz="2208" i="1">
                <a:solidFill>
                  <a:srgbClr val="00AF50"/>
                </a:solidFill>
                <a:latin typeface="Calibri"/>
              </a:rPr>
              <a:t> notFound_VertexTo </a:t>
            </a:r>
          </a:p>
          <a:p>
            <a:pPr marL="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520700" algn="l"/>
              </a:tabLst>
              <a:defRPr/>
            </a:pPr>
            <a:endParaRPr lang="en-US" sz="2208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4300" y="5041900"/>
            <a:ext cx="878446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8" b="1">
                <a:solidFill>
                  <a:srgbClr val="0000CC"/>
                </a:solidFill>
                <a:latin typeface="Calibri"/>
              </a:rPr>
              <a:t>4.</a:t>
            </a:r>
            <a:r>
              <a:rPr lang="en-US" sz="2208" b="1">
                <a:solidFill>
                  <a:srgbClr val="000000"/>
                </a:solidFill>
                <a:latin typeface="Calibri"/>
              </a:rPr>
              <a:t>  else </a:t>
            </a:r>
          </a:p>
          <a:p>
            <a:pPr>
              <a:lnSpc>
                <a:spcPts val="2500"/>
              </a:lnSpc>
            </a:pPr>
            <a:endParaRPr lang="en-US" sz="2208" b="1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4300" y="5372100"/>
            <a:ext cx="4327210" cy="116794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402641" defTabSz="914400" eaLnBrk="1" fontAlgn="auto" latinLnBrk="0" hangingPunct="1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914400" algn="l"/>
              </a:tabLst>
              <a:defRPr/>
            </a:pPr>
            <a:r>
              <a:rPr lang="en-US" sz="2206">
                <a:solidFill>
                  <a:srgbClr val="0000CC"/>
                </a:solidFill>
                <a:latin typeface="Calibri"/>
              </a:rPr>
              <a:t>1. 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	return </a:t>
            </a:r>
            <a:r>
              <a:rPr lang="en-US" sz="2206" i="1">
                <a:solidFill>
                  <a:srgbClr val="00AF50"/>
                </a:solidFill>
                <a:latin typeface="Calibri"/>
              </a:rPr>
              <a:t>notFound_VertexFrom </a:t>
            </a:r>
            <a:br>
              <a:rPr lang="en-US" sz="2206">
                <a:solidFill>
                  <a:srgbClr val="000000"/>
                </a:solidFill>
                <a:latin typeface="Calibri"/>
              </a:rPr>
            </a:br>
            <a:r>
              <a:rPr lang="en-US" sz="2206">
                <a:solidFill>
                  <a:srgbClr val="000000"/>
                </a:solidFill>
                <a:latin typeface="Calibri"/>
              </a:rPr>
              <a:t>End DeleteEdge </a:t>
            </a:r>
          </a:p>
          <a:p>
            <a:pPr marL="0" marR="0" lvl="0" indent="402641" defTabSz="914400" eaLnBrk="1" fontAlgn="auto" latinLnBrk="0" hangingPunct="1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914400" algn="l"/>
              </a:tabLst>
              <a:defRPr/>
            </a:pPr>
            <a:endParaRPr lang="en-US" sz="2206" i="1">
              <a:solidFill>
                <a:srgbClr val="00AF50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05400" y="4064000"/>
            <a:ext cx="1417247" cy="6219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8" b="1">
                <a:solidFill>
                  <a:srgbClr val="000000"/>
                </a:solidFill>
                <a:latin typeface="Calibri"/>
              </a:rPr>
              <a:t>GraphNode </a:t>
            </a:r>
          </a:p>
          <a:p>
            <a:pPr>
              <a:lnSpc>
                <a:spcPts val="2500"/>
              </a:lnSpc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5194300" y="4394200"/>
            <a:ext cx="3870162" cy="15654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100"/>
              </a:lnSpc>
            </a:pPr>
            <a:r>
              <a:rPr lang="en-US" sz="2208">
                <a:solidFill>
                  <a:srgbClr val="4742C4"/>
                </a:solidFill>
                <a:latin typeface="Calibri"/>
              </a:rPr>
              <a:t>vertex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 &lt;VertexType&gt; // (</a:t>
            </a:r>
            <a:r>
              <a:rPr lang="en-US" sz="2208" i="1">
                <a:solidFill>
                  <a:srgbClr val="000000"/>
                </a:solidFill>
                <a:latin typeface="Calibri"/>
              </a:rPr>
              <a:t>key field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) </a:t>
            </a:r>
            <a:br>
              <a:rPr lang="en-US" sz="2208">
                <a:solidFill>
                  <a:srgbClr val="4742C4"/>
                </a:solidFill>
                <a:latin typeface="Calibri"/>
              </a:rPr>
            </a:br>
            <a:r>
              <a:rPr lang="en-US" sz="2208">
                <a:solidFill>
                  <a:srgbClr val="4742C4"/>
                </a:solidFill>
                <a:latin typeface="Calibri"/>
              </a:rPr>
              <a:t>adjVertex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&lt;</a:t>
            </a:r>
            <a:r>
              <a:rPr lang="en-US" sz="2208">
                <a:solidFill>
                  <a:srgbClr val="FF0000"/>
                </a:solidFill>
                <a:latin typeface="Calibri"/>
              </a:rPr>
              <a:t>List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 of&lt; VertexType &gt;&gt; </a:t>
            </a:r>
            <a:br>
              <a:rPr lang="en-US" sz="2206">
                <a:solidFill>
                  <a:srgbClr val="4742C4"/>
                </a:solidFill>
                <a:latin typeface="Calibri"/>
              </a:rPr>
            </a:br>
            <a:r>
              <a:rPr lang="en-US" sz="2206">
                <a:solidFill>
                  <a:srgbClr val="4742C4"/>
                </a:solidFill>
                <a:latin typeface="Calibri"/>
              </a:rPr>
              <a:t>indegree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&lt;int&gt; </a:t>
            </a:r>
          </a:p>
          <a:p>
            <a:pPr>
              <a:lnSpc>
                <a:spcPts val="3100"/>
              </a:lnSpc>
            </a:pPr>
            <a:endParaRPr lang="en-US" sz="2206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05400" y="5600700"/>
            <a:ext cx="2502801" cy="161358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91440" defTabSz="91440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88900" algn="l"/>
              </a:tabLst>
              <a:defRPr/>
            </a:pPr>
            <a:r>
              <a:rPr lang="en-US" sz="2206">
                <a:solidFill>
                  <a:srgbClr val="4742C4"/>
                </a:solidFill>
                <a:latin typeface="Calibri"/>
              </a:rPr>
              <a:t>outdegree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&lt;int&gt; </a:t>
            </a:r>
            <a:br>
              <a:rPr lang="en-US" sz="2206">
                <a:solidFill>
                  <a:srgbClr val="0000CC"/>
                </a:solidFill>
                <a:latin typeface="Calibri"/>
              </a:rPr>
            </a:br>
            <a:r>
              <a:rPr lang="en-US" sz="2206">
                <a:solidFill>
                  <a:srgbClr val="0000CC"/>
                </a:solidFill>
                <a:latin typeface="Calibri"/>
              </a:rPr>
              <a:t>	isMarked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&lt;boolean&gt; </a:t>
            </a:r>
            <a:br>
              <a:rPr lang="en-US" sz="2206" b="1">
                <a:solidFill>
                  <a:srgbClr val="000000"/>
                </a:solidFill>
                <a:latin typeface="Calibri"/>
              </a:rPr>
            </a:br>
            <a:r>
              <a:rPr lang="en-US" sz="2206" b="1">
                <a:solidFill>
                  <a:srgbClr val="000000"/>
                </a:solidFill>
                <a:latin typeface="Calibri"/>
              </a:rPr>
              <a:t>End GraphNode </a:t>
            </a:r>
          </a:p>
          <a:p>
            <a:pPr marL="0" marR="0" lvl="0" indent="91440" defTabSz="91440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88900" algn="l"/>
              </a:tabLst>
              <a:defRPr/>
            </a:pPr>
            <a:endParaRPr lang="en-US" sz="2206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2188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21000" y="279400"/>
            <a:ext cx="3443315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FF0000"/>
                </a:solidFill>
                <a:latin typeface="Calibri"/>
              </a:rPr>
              <a:t>Graph Traversal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4300" y="990600"/>
            <a:ext cx="8911029" cy="154138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4100"/>
              </a:lnSpc>
            </a:pPr>
            <a:r>
              <a:rPr lang="en-US">
                <a:sym typeface="Wingdings"/>
              </a:rPr>
              <a:t></a:t>
            </a:r>
            <a:r>
              <a:rPr lang="en-US" sz="2820">
                <a:solidFill>
                  <a:srgbClr val="0000CC"/>
                </a:solidFill>
                <a:latin typeface="Calibri"/>
                <a:sym typeface="Wingdings"/>
              </a:rPr>
              <a:t> Depth-first traversal</a:t>
            </a:r>
            <a:r>
              <a:rPr lang="en-US" sz="2820">
                <a:solidFill>
                  <a:srgbClr val="000000"/>
                </a:solidFill>
                <a:latin typeface="Calibri"/>
                <a:sym typeface="Wingdings"/>
              </a:rPr>
              <a:t>: analogous to preorder traversal of an </a:t>
            </a:r>
            <a:br>
              <a:rPr lang="en-US" sz="2820">
                <a:solidFill>
                  <a:srgbClr val="000000"/>
                </a:solidFill>
                <a:latin typeface="Calibri"/>
                <a:sym typeface="Wingdings"/>
              </a:rPr>
            </a:br>
            <a:r>
              <a:rPr lang="en-US" sz="2820">
                <a:solidFill>
                  <a:srgbClr val="000000"/>
                </a:solidFill>
                <a:latin typeface="Calibri"/>
                <a:sym typeface="Wingdings"/>
              </a:rPr>
              <a:t>oredered tree. </a:t>
            </a:r>
          </a:p>
          <a:p>
            <a:pPr>
              <a:lnSpc>
                <a:spcPts val="4100"/>
              </a:lnSpc>
            </a:pPr>
            <a:endParaRPr lang="en-US" sz="282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" y="2311400"/>
            <a:ext cx="8985280" cy="154131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4100"/>
              </a:lnSpc>
            </a:pPr>
            <a:r>
              <a:rPr lang="en-US">
                <a:sym typeface="Wingdings"/>
              </a:rPr>
              <a:t></a:t>
            </a:r>
            <a:r>
              <a:rPr lang="en-US" sz="2818">
                <a:solidFill>
                  <a:srgbClr val="0000CC"/>
                </a:solidFill>
                <a:latin typeface="Calibri"/>
                <a:sym typeface="Wingdings"/>
              </a:rPr>
              <a:t> Breadth-first traversal</a:t>
            </a:r>
            <a:r>
              <a:rPr lang="en-US" sz="2818">
                <a:solidFill>
                  <a:srgbClr val="000000"/>
                </a:solidFill>
                <a:latin typeface="Calibri"/>
                <a:sym typeface="Wingdings"/>
              </a:rPr>
              <a:t>: analogous to level-by-level traversal </a:t>
            </a:r>
            <a:br>
              <a:rPr lang="en-US" sz="2820">
                <a:solidFill>
                  <a:srgbClr val="000000"/>
                </a:solidFill>
                <a:latin typeface="Calibri"/>
                <a:sym typeface="Wingdings"/>
              </a:rPr>
            </a:br>
            <a:r>
              <a:rPr lang="en-US" sz="2820">
                <a:solidFill>
                  <a:srgbClr val="000000"/>
                </a:solidFill>
                <a:latin typeface="Calibri"/>
                <a:sym typeface="Wingdings"/>
              </a:rPr>
              <a:t>of an ordered tree. </a:t>
            </a:r>
          </a:p>
          <a:p>
            <a:pPr>
              <a:lnSpc>
                <a:spcPts val="4100"/>
              </a:lnSpc>
            </a:pPr>
            <a:endParaRPr lang="en-US" sz="2818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573683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8400" y="279400"/>
            <a:ext cx="4401461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FF0000"/>
                </a:solidFill>
                <a:latin typeface="Calibri"/>
              </a:rPr>
              <a:t>Depth-first traversal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6775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47900" y="279400"/>
            <a:ext cx="4798429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FF0000"/>
                </a:solidFill>
                <a:latin typeface="Calibri"/>
              </a:rPr>
              <a:t>Breadth-first traversal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3680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8400" y="279400"/>
            <a:ext cx="4401461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FF0000"/>
                </a:solidFill>
                <a:latin typeface="Calibri"/>
              </a:rPr>
              <a:t>Depth-first traversal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4300" y="1003300"/>
            <a:ext cx="2713500" cy="82073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sz="2820">
                <a:solidFill>
                  <a:srgbClr val="000000"/>
                </a:solidFill>
                <a:latin typeface="Calibri"/>
              </a:rPr>
              <a:t>&lt;void&gt; </a:t>
            </a:r>
            <a:r>
              <a:rPr lang="en-US" sz="2820" b="1">
                <a:solidFill>
                  <a:srgbClr val="FF0000"/>
                </a:solidFill>
                <a:latin typeface="Calibri"/>
              </a:rPr>
              <a:t>DepthFirst </a:t>
            </a:r>
          </a:p>
          <a:p>
            <a:pPr>
              <a:lnSpc>
                <a:spcPts val="3200"/>
              </a:lnSpc>
            </a:pPr>
            <a:endParaRPr lang="en-US" sz="282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00300" y="1511300"/>
            <a:ext cx="6713954" cy="82073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sz="2820">
                <a:solidFill>
                  <a:srgbClr val="000000"/>
                </a:solidFill>
                <a:latin typeface="Calibri"/>
              </a:rPr>
              <a:t>(ref &lt;void&gt; </a:t>
            </a:r>
            <a:r>
              <a:rPr lang="en-US" sz="2820">
                <a:solidFill>
                  <a:srgbClr val="0033CC"/>
                </a:solidFill>
                <a:latin typeface="Calibri"/>
              </a:rPr>
              <a:t>Operation</a:t>
            </a:r>
            <a:r>
              <a:rPr lang="en-US" sz="2820">
                <a:solidFill>
                  <a:srgbClr val="000000"/>
                </a:solidFill>
                <a:latin typeface="Calibri"/>
              </a:rPr>
              <a:t> ( ref Data &lt;DataType&gt;)) </a:t>
            </a:r>
          </a:p>
          <a:p>
            <a:pPr>
              <a:lnSpc>
                <a:spcPts val="3200"/>
              </a:lnSpc>
            </a:pPr>
            <a:endParaRPr lang="en-US" sz="2820">
              <a:solidFill>
                <a:srgbClr val="0033CC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" y="2019300"/>
            <a:ext cx="5288564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00"/>
                </a:solidFill>
                <a:latin typeface="Calibri"/>
              </a:rPr>
              <a:t>Traverses the digraph in depth-first order.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653" y="3048000"/>
            <a:ext cx="8752953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58397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8400" y="279400"/>
            <a:ext cx="4401461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FF0000"/>
                </a:solidFill>
                <a:latin typeface="Calibri"/>
              </a:rPr>
              <a:t>Depth-first traversal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4300" y="1003300"/>
            <a:ext cx="2713500" cy="82073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sz="2820">
                <a:solidFill>
                  <a:srgbClr val="000000"/>
                </a:solidFill>
                <a:latin typeface="Calibri"/>
              </a:rPr>
              <a:t>&lt;void&gt; </a:t>
            </a:r>
            <a:r>
              <a:rPr lang="en-US" sz="2820" b="1">
                <a:solidFill>
                  <a:srgbClr val="FF0000"/>
                </a:solidFill>
                <a:latin typeface="Calibri"/>
              </a:rPr>
              <a:t>DepthFirst </a:t>
            </a:r>
          </a:p>
          <a:p>
            <a:pPr>
              <a:lnSpc>
                <a:spcPts val="3200"/>
              </a:lnSpc>
            </a:pPr>
            <a:endParaRPr lang="en-US" sz="282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00300" y="1511300"/>
            <a:ext cx="6713954" cy="82073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sz="2820">
                <a:solidFill>
                  <a:srgbClr val="000000"/>
                </a:solidFill>
                <a:latin typeface="Calibri"/>
              </a:rPr>
              <a:t>(ref &lt;void&gt; </a:t>
            </a:r>
            <a:r>
              <a:rPr lang="en-US" sz="2820">
                <a:solidFill>
                  <a:srgbClr val="0033CC"/>
                </a:solidFill>
                <a:latin typeface="Calibri"/>
              </a:rPr>
              <a:t>Operation</a:t>
            </a:r>
            <a:r>
              <a:rPr lang="en-US" sz="2820">
                <a:solidFill>
                  <a:srgbClr val="000000"/>
                </a:solidFill>
                <a:latin typeface="Calibri"/>
              </a:rPr>
              <a:t> ( ref Data &lt;DataType&gt;)) </a:t>
            </a:r>
          </a:p>
          <a:p>
            <a:pPr>
              <a:lnSpc>
                <a:spcPts val="3200"/>
              </a:lnSpc>
            </a:pPr>
            <a:endParaRPr lang="en-US" sz="2820">
              <a:solidFill>
                <a:srgbClr val="0033CC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" y="2463800"/>
            <a:ext cx="4471352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 b="1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4" b="1">
                <a:solidFill>
                  <a:srgbClr val="000000"/>
                </a:solidFill>
                <a:latin typeface="Calibri"/>
              </a:rPr>
              <a:t>  loop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(more vertex v in Digraph) </a:t>
            </a:r>
          </a:p>
          <a:p>
            <a:pPr>
              <a:lnSpc>
                <a:spcPts val="2700"/>
              </a:lnSpc>
            </a:pPr>
            <a:endParaRPr lang="en-US" sz="2424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0700" y="2895600"/>
            <a:ext cx="1822615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 unmark (v)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" y="3340100"/>
            <a:ext cx="4471352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 b="1">
                <a:solidFill>
                  <a:srgbClr val="0000CC"/>
                </a:solidFill>
                <a:latin typeface="Calibri"/>
              </a:rPr>
              <a:t>2.</a:t>
            </a:r>
            <a:r>
              <a:rPr lang="en-US" sz="2424" b="1">
                <a:solidFill>
                  <a:srgbClr val="000000"/>
                </a:solidFill>
                <a:latin typeface="Calibri"/>
              </a:rPr>
              <a:t>  loop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(more vertex v in Digraph) </a:t>
            </a:r>
          </a:p>
          <a:p>
            <a:pPr>
              <a:lnSpc>
                <a:spcPts val="2700"/>
              </a:lnSpc>
            </a:pPr>
            <a:endParaRPr lang="en-US" sz="2424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0700" y="3771900"/>
            <a:ext cx="2694135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 b="1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4" b="1">
                <a:solidFill>
                  <a:srgbClr val="000000"/>
                </a:solidFill>
                <a:latin typeface="Calibri"/>
              </a:rPr>
              <a:t>  if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(v is unmarked) </a:t>
            </a:r>
          </a:p>
          <a:p>
            <a:pPr>
              <a:lnSpc>
                <a:spcPts val="2700"/>
              </a:lnSpc>
            </a:pPr>
            <a:endParaRPr lang="en-US" sz="2424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" y="4127500"/>
            <a:ext cx="5247334" cy="124585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indent="800710">
              <a:lnSpc>
                <a:spcPts val="33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4">
                <a:solidFill>
                  <a:srgbClr val="FF0000"/>
                </a:solidFill>
                <a:latin typeface="Calibri"/>
              </a:rPr>
              <a:t>  recursiveTraverse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(v, </a:t>
            </a:r>
            <a:r>
              <a:rPr lang="en-US" sz="2424">
                <a:solidFill>
                  <a:srgbClr val="0000CC"/>
                </a:solidFill>
                <a:latin typeface="Calibri"/>
              </a:rPr>
              <a:t>Operation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) </a:t>
            </a:r>
            <a:br>
              <a:rPr lang="en-US" sz="2424">
                <a:solidFill>
                  <a:srgbClr val="000000"/>
                </a:solidFill>
                <a:latin typeface="Calibri"/>
              </a:rPr>
            </a:br>
            <a:r>
              <a:rPr lang="en-US" sz="2424">
                <a:solidFill>
                  <a:srgbClr val="000000"/>
                </a:solidFill>
                <a:latin typeface="Calibri"/>
              </a:rPr>
              <a:t>End DepthFirst </a:t>
            </a:r>
          </a:p>
          <a:p>
            <a:pPr indent="800710">
              <a:lnSpc>
                <a:spcPts val="3300"/>
              </a:lnSpc>
            </a:pPr>
            <a:endParaRPr lang="en-US" sz="2424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70359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8400" y="279400"/>
            <a:ext cx="4401461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FF0000"/>
                </a:solidFill>
                <a:latin typeface="Calibri"/>
              </a:rPr>
              <a:t>Depth-first traversal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4300" y="1155700"/>
            <a:ext cx="6847965" cy="82073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sz="2820">
                <a:solidFill>
                  <a:srgbClr val="000000"/>
                </a:solidFill>
                <a:latin typeface="Calibri"/>
              </a:rPr>
              <a:t>&lt;void&gt; </a:t>
            </a:r>
            <a:r>
              <a:rPr lang="en-US" sz="2820" b="1">
                <a:solidFill>
                  <a:srgbClr val="FF0000"/>
                </a:solidFill>
                <a:latin typeface="Calibri"/>
              </a:rPr>
              <a:t>recursiveTraverse</a:t>
            </a:r>
            <a:r>
              <a:rPr lang="en-US" sz="2820">
                <a:solidFill>
                  <a:srgbClr val="000000"/>
                </a:solidFill>
                <a:latin typeface="Calibri"/>
              </a:rPr>
              <a:t> (ref v &lt;VertexType&gt;, </a:t>
            </a:r>
          </a:p>
          <a:p>
            <a:pPr>
              <a:lnSpc>
                <a:spcPts val="3200"/>
              </a:lnSpc>
            </a:pPr>
            <a:endParaRPr lang="en-US" sz="2820" b="1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76500" y="1663700"/>
            <a:ext cx="6680290" cy="82073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sz="2818">
                <a:solidFill>
                  <a:srgbClr val="000000"/>
                </a:solidFill>
                <a:latin typeface="Calibri"/>
              </a:rPr>
              <a:t>ref &lt;void&gt; </a:t>
            </a:r>
            <a:r>
              <a:rPr lang="en-US" sz="2818">
                <a:solidFill>
                  <a:srgbClr val="0033CC"/>
                </a:solidFill>
                <a:latin typeface="Calibri"/>
              </a:rPr>
              <a:t>Operation</a:t>
            </a:r>
            <a:r>
              <a:rPr lang="en-US" sz="2818">
                <a:solidFill>
                  <a:srgbClr val="000000"/>
                </a:solidFill>
                <a:latin typeface="Calibri"/>
              </a:rPr>
              <a:t> ( ref Data &lt;DataType&gt;) ) </a:t>
            </a:r>
          </a:p>
          <a:p>
            <a:pPr>
              <a:lnSpc>
                <a:spcPts val="3200"/>
              </a:lnSpc>
            </a:pPr>
            <a:endParaRPr lang="en-US" sz="2818">
              <a:solidFill>
                <a:srgbClr val="0033CC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" y="2171700"/>
            <a:ext cx="5283882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2">
                <a:solidFill>
                  <a:srgbClr val="000000"/>
                </a:solidFill>
                <a:latin typeface="Calibri"/>
              </a:rPr>
              <a:t>Traverses the digraph in depth-first order.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200400"/>
            <a:ext cx="8247527" cy="1643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72290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8400" y="279400"/>
            <a:ext cx="4401461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FF0000"/>
                </a:solidFill>
                <a:latin typeface="Calibri"/>
              </a:rPr>
              <a:t>Depth-first traversal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4300" y="1155700"/>
            <a:ext cx="6766211" cy="82073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sz="2820">
                <a:solidFill>
                  <a:srgbClr val="000000"/>
                </a:solidFill>
                <a:latin typeface="Calibri"/>
              </a:rPr>
              <a:t>&lt;void&gt; </a:t>
            </a:r>
            <a:r>
              <a:rPr lang="en-US" sz="2820" b="1">
                <a:solidFill>
                  <a:srgbClr val="FF0000"/>
                </a:solidFill>
                <a:latin typeface="Calibri"/>
              </a:rPr>
              <a:t>recursiveTraverse</a:t>
            </a:r>
            <a:r>
              <a:rPr lang="en-US" sz="2820">
                <a:solidFill>
                  <a:srgbClr val="000000"/>
                </a:solidFill>
                <a:latin typeface="Calibri"/>
              </a:rPr>
              <a:t>(ref v &lt;VertexType&gt;, </a:t>
            </a:r>
          </a:p>
          <a:p>
            <a:pPr>
              <a:lnSpc>
                <a:spcPts val="3200"/>
              </a:lnSpc>
            </a:pPr>
            <a:endParaRPr lang="en-US" sz="2820" b="1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76500" y="1663700"/>
            <a:ext cx="6680290" cy="82073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sz="2818">
                <a:solidFill>
                  <a:srgbClr val="000000"/>
                </a:solidFill>
                <a:latin typeface="Calibri"/>
              </a:rPr>
              <a:t>ref &lt;void&gt; </a:t>
            </a:r>
            <a:r>
              <a:rPr lang="en-US" sz="2818">
                <a:solidFill>
                  <a:srgbClr val="0033CC"/>
                </a:solidFill>
                <a:latin typeface="Calibri"/>
              </a:rPr>
              <a:t>Operation</a:t>
            </a:r>
            <a:r>
              <a:rPr lang="en-US" sz="2818">
                <a:solidFill>
                  <a:srgbClr val="000000"/>
                </a:solidFill>
                <a:latin typeface="Calibri"/>
              </a:rPr>
              <a:t> ( ref Data &lt;DataType&gt;) ) </a:t>
            </a:r>
          </a:p>
          <a:p>
            <a:pPr>
              <a:lnSpc>
                <a:spcPts val="3200"/>
              </a:lnSpc>
            </a:pPr>
            <a:endParaRPr lang="en-US" sz="2818">
              <a:solidFill>
                <a:srgbClr val="0033CC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" y="2171700"/>
            <a:ext cx="1425070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2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  mark(v) </a:t>
            </a:r>
          </a:p>
          <a:p>
            <a:pPr>
              <a:lnSpc>
                <a:spcPts val="2700"/>
              </a:lnSpc>
            </a:pPr>
            <a:endParaRPr lang="en-US" sz="2422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" y="2616200"/>
            <a:ext cx="2050626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2">
                <a:solidFill>
                  <a:srgbClr val="0000CC"/>
                </a:solidFill>
                <a:latin typeface="Calibri"/>
              </a:rPr>
              <a:t>2.  Operation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(v) </a:t>
            </a:r>
          </a:p>
          <a:p>
            <a:pPr>
              <a:lnSpc>
                <a:spcPts val="2700"/>
              </a:lnSpc>
            </a:pPr>
            <a:endParaRPr lang="en-US" sz="2422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" y="3048000"/>
            <a:ext cx="4900316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2" b="1">
                <a:solidFill>
                  <a:srgbClr val="0000CC"/>
                </a:solidFill>
                <a:latin typeface="Calibri"/>
              </a:rPr>
              <a:t>3.</a:t>
            </a:r>
            <a:r>
              <a:rPr lang="en-US" sz="2422" b="1">
                <a:solidFill>
                  <a:srgbClr val="000000"/>
                </a:solidFill>
                <a:latin typeface="Calibri"/>
              </a:rPr>
              <a:t>  loop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 (more vertex w adjacent to v) </a:t>
            </a:r>
          </a:p>
          <a:p>
            <a:pPr>
              <a:lnSpc>
                <a:spcPts val="2700"/>
              </a:lnSpc>
            </a:pPr>
            <a:endParaRPr lang="en-US" sz="2422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0700" y="3492500"/>
            <a:ext cx="3729419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2" b="1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2" b="1">
                <a:solidFill>
                  <a:srgbClr val="000000"/>
                </a:solidFill>
                <a:latin typeface="Calibri"/>
              </a:rPr>
              <a:t>  if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 (vertex  w is unmarked) </a:t>
            </a:r>
          </a:p>
          <a:p>
            <a:pPr>
              <a:lnSpc>
                <a:spcPts val="2700"/>
              </a:lnSpc>
            </a:pPr>
            <a:endParaRPr lang="en-US" sz="2422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" y="3835400"/>
            <a:ext cx="5323380" cy="128105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indent="800710">
              <a:lnSpc>
                <a:spcPts val="3400"/>
              </a:lnSpc>
            </a:pPr>
            <a:r>
              <a:rPr lang="en-US" sz="2422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2">
                <a:solidFill>
                  <a:srgbClr val="FF0000"/>
                </a:solidFill>
                <a:latin typeface="Calibri"/>
              </a:rPr>
              <a:t>  recursiveTraverse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 (w, </a:t>
            </a:r>
            <a:r>
              <a:rPr lang="en-US" sz="2422">
                <a:solidFill>
                  <a:srgbClr val="0000CC"/>
                </a:solidFill>
                <a:latin typeface="Calibri"/>
              </a:rPr>
              <a:t>Operation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) </a:t>
            </a:r>
            <a:br>
              <a:rPr lang="en-US" sz="2424">
                <a:solidFill>
                  <a:srgbClr val="000000"/>
                </a:solidFill>
                <a:latin typeface="Calibri"/>
              </a:rPr>
            </a:br>
            <a:r>
              <a:rPr lang="en-US" sz="2424">
                <a:solidFill>
                  <a:srgbClr val="000000"/>
                </a:solidFill>
                <a:latin typeface="Calibri"/>
              </a:rPr>
              <a:t>End Traverse </a:t>
            </a:r>
          </a:p>
          <a:p>
            <a:pPr indent="800710">
              <a:lnSpc>
                <a:spcPts val="3400"/>
              </a:lnSpc>
            </a:pPr>
            <a:endParaRPr lang="en-US" sz="2422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14156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47900" y="279400"/>
            <a:ext cx="4798429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 dirty="0">
                <a:solidFill>
                  <a:srgbClr val="FF0000"/>
                </a:solidFill>
                <a:latin typeface="Calibri"/>
              </a:rPr>
              <a:t>Breadth-first traversal </a:t>
            </a:r>
          </a:p>
          <a:p>
            <a:pPr>
              <a:lnSpc>
                <a:spcPts val="3600"/>
              </a:lnSpc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4300" y="1155700"/>
            <a:ext cx="2991396" cy="82073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sz="2820" dirty="0">
                <a:solidFill>
                  <a:srgbClr val="000000"/>
                </a:solidFill>
                <a:latin typeface="Calibri"/>
              </a:rPr>
              <a:t>&lt;void&gt; </a:t>
            </a:r>
            <a:r>
              <a:rPr lang="en-US" sz="2820" b="1" dirty="0" err="1">
                <a:solidFill>
                  <a:srgbClr val="FF0000"/>
                </a:solidFill>
                <a:latin typeface="Calibri"/>
              </a:rPr>
              <a:t>BreadthFirst</a:t>
            </a:r>
            <a:r>
              <a:rPr lang="en-US" sz="2820" b="1" dirty="0">
                <a:solidFill>
                  <a:srgbClr val="FF0000"/>
                </a:solidFill>
                <a:latin typeface="Calibri"/>
              </a:rPr>
              <a:t> </a:t>
            </a:r>
          </a:p>
          <a:p>
            <a:pPr>
              <a:lnSpc>
                <a:spcPts val="3200"/>
              </a:lnSpc>
            </a:pPr>
            <a:endParaRPr lang="en-US" sz="282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49500" y="1663700"/>
            <a:ext cx="6789294" cy="82073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sz="2818" dirty="0">
                <a:solidFill>
                  <a:srgbClr val="000000"/>
                </a:solidFill>
                <a:latin typeface="Calibri"/>
              </a:rPr>
              <a:t>(ref &lt;void&gt; </a:t>
            </a:r>
            <a:r>
              <a:rPr lang="en-US" sz="2818" dirty="0">
                <a:solidFill>
                  <a:srgbClr val="0033CC"/>
                </a:solidFill>
                <a:latin typeface="Calibri"/>
              </a:rPr>
              <a:t>Operation</a:t>
            </a:r>
            <a:r>
              <a:rPr lang="en-US" sz="2818" dirty="0">
                <a:solidFill>
                  <a:srgbClr val="000000"/>
                </a:solidFill>
                <a:latin typeface="Calibri"/>
              </a:rPr>
              <a:t> ( ref Data &lt;</a:t>
            </a:r>
            <a:r>
              <a:rPr lang="en-US" sz="2818" dirty="0" err="1">
                <a:solidFill>
                  <a:srgbClr val="000000"/>
                </a:solidFill>
                <a:latin typeface="Calibri"/>
              </a:rPr>
              <a:t>DataType</a:t>
            </a:r>
            <a:r>
              <a:rPr lang="en-US" sz="2818" dirty="0">
                <a:solidFill>
                  <a:srgbClr val="000000"/>
                </a:solidFill>
                <a:latin typeface="Calibri"/>
              </a:rPr>
              <a:t>&gt;) ) </a:t>
            </a:r>
          </a:p>
          <a:p>
            <a:pPr>
              <a:lnSpc>
                <a:spcPts val="3200"/>
              </a:lnSpc>
            </a:pPr>
            <a:endParaRPr lang="en-US" sz="2818" dirty="0">
              <a:solidFill>
                <a:srgbClr val="0033CC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" y="2171700"/>
            <a:ext cx="5539209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2" dirty="0">
                <a:solidFill>
                  <a:srgbClr val="000000"/>
                </a:solidFill>
                <a:latin typeface="Calibri"/>
              </a:rPr>
              <a:t>Traverses the digraph in breadth-first order. </a:t>
            </a:r>
          </a:p>
          <a:p>
            <a:pPr>
              <a:lnSpc>
                <a:spcPts val="2700"/>
              </a:lnSpc>
            </a:pP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3124199"/>
            <a:ext cx="8368752" cy="120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15045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" y="139700"/>
            <a:ext cx="2040174" cy="55335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US" sz="2424">
                <a:solidFill>
                  <a:srgbClr val="A6A6A6"/>
                </a:solidFill>
                <a:latin typeface="Calibri"/>
              </a:rPr>
              <a:t>//  </a:t>
            </a:r>
            <a:r>
              <a:rPr lang="en-US" sz="2424" b="1" i="1">
                <a:solidFill>
                  <a:srgbClr val="A6A6A6"/>
                </a:solidFill>
                <a:latin typeface="Calibri"/>
              </a:rPr>
              <a:t>BreadthFirst </a:t>
            </a:r>
          </a:p>
          <a:p>
            <a:pPr>
              <a:lnSpc>
                <a:spcPts val="2100"/>
              </a:lnSpc>
            </a:pPr>
            <a:endParaRPr lang="en-US" sz="2424">
              <a:solidFill>
                <a:srgbClr val="A6A6A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" y="520700"/>
            <a:ext cx="2912657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4">
                <a:solidFill>
                  <a:srgbClr val="6F2F9F"/>
                </a:solidFill>
                <a:latin typeface="Calibri"/>
              </a:rPr>
              <a:t>  queueObj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&lt;Queue&gt;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6F2F9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" y="952500"/>
            <a:ext cx="4513030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 b="1">
                <a:solidFill>
                  <a:srgbClr val="0000CC"/>
                </a:solidFill>
                <a:latin typeface="Calibri"/>
              </a:rPr>
              <a:t>2.</a:t>
            </a:r>
            <a:r>
              <a:rPr lang="en-US" sz="2424" b="1">
                <a:solidFill>
                  <a:srgbClr val="000000"/>
                </a:solidFill>
                <a:latin typeface="Calibri"/>
              </a:rPr>
              <a:t>  loop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(more vertex  v in digraph) </a:t>
            </a:r>
          </a:p>
          <a:p>
            <a:pPr>
              <a:lnSpc>
                <a:spcPts val="2700"/>
              </a:lnSpc>
            </a:pPr>
            <a:endParaRPr lang="en-US" sz="2424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0700" y="1397000"/>
            <a:ext cx="1752083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 unmark(v)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" y="1841500"/>
            <a:ext cx="4471352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 b="1">
                <a:solidFill>
                  <a:srgbClr val="0000CC"/>
                </a:solidFill>
                <a:latin typeface="Calibri"/>
              </a:rPr>
              <a:t>3.</a:t>
            </a:r>
            <a:r>
              <a:rPr lang="en-US" sz="2424" b="1">
                <a:solidFill>
                  <a:srgbClr val="000000"/>
                </a:solidFill>
                <a:latin typeface="Calibri"/>
              </a:rPr>
              <a:t>  loop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(more vertex v in Digraph) </a:t>
            </a:r>
          </a:p>
          <a:p>
            <a:pPr>
              <a:lnSpc>
                <a:spcPts val="2700"/>
              </a:lnSpc>
            </a:pPr>
            <a:endParaRPr lang="en-US" sz="2424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0700" y="2273300"/>
            <a:ext cx="3575466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 b="1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4" b="1">
                <a:solidFill>
                  <a:srgbClr val="000000"/>
                </a:solidFill>
                <a:latin typeface="Calibri"/>
              </a:rPr>
              <a:t>  if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(vertex v is unmarked) </a:t>
            </a:r>
          </a:p>
          <a:p>
            <a:pPr>
              <a:lnSpc>
                <a:spcPts val="2700"/>
              </a:lnSpc>
            </a:pPr>
            <a:endParaRPr lang="en-US" sz="2424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692400"/>
            <a:ext cx="3255699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4">
                <a:solidFill>
                  <a:srgbClr val="6F2F9F"/>
                </a:solidFill>
                <a:latin typeface="Calibri"/>
              </a:rPr>
              <a:t>  queueObj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.EnQueue(v)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6F2F9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086100"/>
            <a:ext cx="4486741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2" b="1">
                <a:solidFill>
                  <a:srgbClr val="0000CC"/>
                </a:solidFill>
                <a:latin typeface="Calibri"/>
              </a:rPr>
              <a:t>2.</a:t>
            </a:r>
            <a:r>
              <a:rPr lang="en-US" sz="2422" b="1">
                <a:solidFill>
                  <a:srgbClr val="000000"/>
                </a:solidFill>
                <a:latin typeface="Calibri"/>
              </a:rPr>
              <a:t>  loop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 (NOT </a:t>
            </a:r>
            <a:r>
              <a:rPr lang="en-US" sz="2422">
                <a:solidFill>
                  <a:srgbClr val="6F2F9F"/>
                </a:solidFill>
                <a:latin typeface="Calibri"/>
              </a:rPr>
              <a:t>queueObj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 .isEmpty()) </a:t>
            </a:r>
          </a:p>
          <a:p>
            <a:pPr>
              <a:lnSpc>
                <a:spcPts val="2700"/>
              </a:lnSpc>
            </a:pPr>
            <a:endParaRPr lang="en-US" sz="2422">
              <a:solidFill>
                <a:srgbClr val="6F2F9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71600" y="3492500"/>
            <a:ext cx="3693319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2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2">
                <a:solidFill>
                  <a:srgbClr val="6F2F9F"/>
                </a:solidFill>
                <a:latin typeface="Calibri"/>
              </a:rPr>
              <a:t>  queueObj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.QueueFront(w) </a:t>
            </a:r>
          </a:p>
          <a:p>
            <a:pPr>
              <a:lnSpc>
                <a:spcPts val="2700"/>
              </a:lnSpc>
            </a:pPr>
            <a:endParaRPr lang="en-US" sz="2422">
              <a:solidFill>
                <a:srgbClr val="6F2F9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1600" y="3898900"/>
            <a:ext cx="3143489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2">
                <a:solidFill>
                  <a:srgbClr val="0000CC"/>
                </a:solidFill>
                <a:latin typeface="Calibri"/>
              </a:rPr>
              <a:t>2.</a:t>
            </a:r>
            <a:r>
              <a:rPr lang="en-US" sz="2422">
                <a:solidFill>
                  <a:srgbClr val="6F2F9F"/>
                </a:solidFill>
                <a:latin typeface="Calibri"/>
              </a:rPr>
              <a:t>  queueObj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.DeQueue() </a:t>
            </a:r>
          </a:p>
          <a:p>
            <a:pPr>
              <a:lnSpc>
                <a:spcPts val="2700"/>
              </a:lnSpc>
            </a:pPr>
            <a:endParaRPr lang="en-US" sz="2422">
              <a:solidFill>
                <a:srgbClr val="6F2F9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71600" y="4292600"/>
            <a:ext cx="3658822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 b="1">
                <a:solidFill>
                  <a:srgbClr val="0000CC"/>
                </a:solidFill>
                <a:latin typeface="Calibri"/>
              </a:rPr>
              <a:t>3.</a:t>
            </a:r>
            <a:r>
              <a:rPr lang="en-US" sz="2424" b="1">
                <a:solidFill>
                  <a:srgbClr val="000000"/>
                </a:solidFill>
                <a:latin typeface="Calibri"/>
              </a:rPr>
              <a:t>  if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(vertex w is unmarked) </a:t>
            </a:r>
          </a:p>
          <a:p>
            <a:pPr>
              <a:lnSpc>
                <a:spcPts val="2700"/>
              </a:lnSpc>
            </a:pPr>
            <a:endParaRPr lang="en-US" sz="2424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800" y="4699000"/>
            <a:ext cx="1506823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 mark(w)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105400"/>
            <a:ext cx="2133982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2.  Operation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(w)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800" y="5499100"/>
            <a:ext cx="4897110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 b="1">
                <a:solidFill>
                  <a:srgbClr val="0000CC"/>
                </a:solidFill>
                <a:latin typeface="Calibri"/>
              </a:rPr>
              <a:t>3.</a:t>
            </a:r>
            <a:r>
              <a:rPr lang="en-US" sz="2424" b="1">
                <a:solidFill>
                  <a:srgbClr val="000000"/>
                </a:solidFill>
                <a:latin typeface="Calibri"/>
              </a:rPr>
              <a:t>  loop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(more vertex x adjacent to w) </a:t>
            </a:r>
          </a:p>
          <a:p>
            <a:pPr>
              <a:lnSpc>
                <a:spcPts val="2700"/>
              </a:lnSpc>
            </a:pPr>
            <a:endParaRPr lang="en-US" sz="2424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36800" y="5892800"/>
            <a:ext cx="3249287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4">
                <a:solidFill>
                  <a:srgbClr val="6F2F9F"/>
                </a:solidFill>
                <a:latin typeface="Calibri"/>
              </a:rPr>
              <a:t>  queueObj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.EnQueue(x)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6F2F9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300" y="6324600"/>
            <a:ext cx="2096664" cy="37273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422">
                <a:solidFill>
                  <a:srgbClr val="000000"/>
                </a:solidFill>
                <a:latin typeface="Calibri"/>
              </a:rPr>
              <a:t>End BreadthFirst</a:t>
            </a:r>
          </a:p>
        </p:txBody>
      </p:sp>
    </p:spTree>
    <p:extLst>
      <p:ext uri="{BB962C8B-B14F-4D97-AF65-F5344CB8AC3E}">
        <p14:creationId xmlns:p14="http://schemas.microsoft.com/office/powerpoint/2010/main" val="20982219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05100" y="279400"/>
            <a:ext cx="3883243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FF0000"/>
                </a:solidFill>
                <a:latin typeface="Calibri"/>
              </a:rPr>
              <a:t>Topological Order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14300" y="990600"/>
                <a:ext cx="9066906" cy="154138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/>
              <a:p>
                <a:pPr>
                  <a:lnSpc>
                    <a:spcPts val="4100"/>
                  </a:lnSpc>
                </a:pPr>
                <a:r>
                  <a:rPr lang="en-US" sz="2820" dirty="0">
                    <a:solidFill>
                      <a:srgbClr val="000000"/>
                    </a:solidFill>
                    <a:latin typeface="Calibri"/>
                  </a:rPr>
                  <a:t>A </a:t>
                </a:r>
                <a:r>
                  <a:rPr lang="en-US" sz="2820" dirty="0">
                    <a:solidFill>
                      <a:srgbClr val="4742C4"/>
                    </a:solidFill>
                    <a:latin typeface="Calibri"/>
                  </a:rPr>
                  <a:t>topological order</a:t>
                </a:r>
                <a:r>
                  <a:rPr lang="en-US" sz="2820" dirty="0">
                    <a:solidFill>
                      <a:srgbClr val="000000"/>
                    </a:solidFill>
                    <a:latin typeface="Calibri"/>
                  </a:rPr>
                  <a:t> for </a:t>
                </a:r>
                <a14:m>
                  <m:oMath xmlns:m="http://schemas.openxmlformats.org/officeDocument/2006/math">
                    <m:r>
                      <a:rPr lang="en-SG" sz="2818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820" dirty="0">
                    <a:solidFill>
                      <a:srgbClr val="000000"/>
                    </a:solidFill>
                    <a:latin typeface="Calibri"/>
                  </a:rPr>
                  <a:t>, a </a:t>
                </a:r>
                <a:r>
                  <a:rPr lang="en-US" sz="2820" dirty="0">
                    <a:solidFill>
                      <a:srgbClr val="4742C4"/>
                    </a:solidFill>
                    <a:latin typeface="Calibri"/>
                  </a:rPr>
                  <a:t>directed graph with no cycles</a:t>
                </a:r>
                <a:r>
                  <a:rPr lang="en-US" sz="2820" dirty="0">
                    <a:solidFill>
                      <a:srgbClr val="000000"/>
                    </a:solidFill>
                    <a:latin typeface="Calibri"/>
                  </a:rPr>
                  <a:t>, is a </a:t>
                </a:r>
                <a:br>
                  <a:rPr lang="en-US" sz="2820" dirty="0">
                    <a:solidFill>
                      <a:srgbClr val="000000"/>
                    </a:solidFill>
                    <a:latin typeface="Calibri"/>
                  </a:rPr>
                </a:br>
                <a:r>
                  <a:rPr lang="en-US" sz="2820" dirty="0">
                    <a:solidFill>
                      <a:srgbClr val="000000"/>
                    </a:solidFill>
                    <a:latin typeface="Calibri"/>
                  </a:rPr>
                  <a:t>sequential listing of all the vertices in </a:t>
                </a:r>
                <a14:m>
                  <m:oMath xmlns:m="http://schemas.openxmlformats.org/officeDocument/2006/math">
                    <m:r>
                      <a:rPr lang="en-SG" sz="2818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820" dirty="0">
                    <a:solidFill>
                      <a:srgbClr val="000000"/>
                    </a:solidFill>
                    <a:latin typeface="Calibri"/>
                  </a:rPr>
                  <a:t> such that, for all </a:t>
                </a:r>
              </a:p>
              <a:p>
                <a:pPr>
                  <a:lnSpc>
                    <a:spcPts val="4100"/>
                  </a:lnSpc>
                </a:pPr>
                <a:endParaRPr lang="en-US" sz="2820" dirty="0">
                  <a:solidFill>
                    <a:srgbClr val="000000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" y="990600"/>
                <a:ext cx="9066906" cy="1541384"/>
              </a:xfrm>
              <a:prstGeom prst="rect">
                <a:avLst/>
              </a:prstGeom>
              <a:blipFill>
                <a:blip r:embed="rId2"/>
                <a:stretch>
                  <a:fillRect l="-2421" t="-3968" r="-168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634030" y="2209800"/>
                <a:ext cx="8205170" cy="1538883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spAutoFit/>
              </a:bodyPr>
              <a:lstStyle/>
              <a:p>
                <a:pPr marL="457200" indent="-457200">
                  <a:lnSpc>
                    <a:spcPts val="4000"/>
                  </a:lnSpc>
                  <a:buFont typeface="Arial" panose="020B0604020202020204" pitchFamily="34" charset="0"/>
                  <a:buChar char="•"/>
                </a:pPr>
                <a:r>
                  <a:rPr lang="en-US" sz="2818" dirty="0">
                    <a:solidFill>
                      <a:srgbClr val="000000"/>
                    </a:solidFill>
                    <a:latin typeface="Calibri"/>
                  </a:rPr>
                  <a:t>vertices </a:t>
                </a:r>
                <a14:m>
                  <m:oMath xmlns:m="http://schemas.openxmlformats.org/officeDocument/2006/math">
                    <m:r>
                      <a:rPr lang="en-SG" sz="2818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SG" sz="2818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SG" sz="2818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SG" sz="2818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∈</m:t>
                    </m:r>
                    <m:r>
                      <a:rPr lang="en-SG" sz="2818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818" dirty="0">
                    <a:solidFill>
                      <a:srgbClr val="000000"/>
                    </a:solidFill>
                    <a:latin typeface="Calibri"/>
                  </a:rPr>
                  <a:t>, if there is an edge from </a:t>
                </a:r>
                <a14:m>
                  <m:oMath xmlns:m="http://schemas.openxmlformats.org/officeDocument/2006/math">
                    <m:r>
                      <a:rPr lang="en-SG" sz="2818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818" dirty="0">
                    <a:solidFill>
                      <a:srgbClr val="000000"/>
                    </a:solidFill>
                    <a:latin typeface="Calibri"/>
                  </a:rPr>
                  <a:t> to </a:t>
                </a:r>
                <a14:m>
                  <m:oMath xmlns:m="http://schemas.openxmlformats.org/officeDocument/2006/math">
                    <m:r>
                      <a:rPr lang="en-SG" sz="2818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818" dirty="0">
                    <a:solidFill>
                      <a:srgbClr val="000000"/>
                    </a:solidFill>
                    <a:latin typeface="Calibri"/>
                  </a:rPr>
                  <a:t>, then </a:t>
                </a:r>
                <a14:m>
                  <m:oMath xmlns:m="http://schemas.openxmlformats.org/officeDocument/2006/math">
                    <m:r>
                      <a:rPr lang="en-SG" sz="2818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818" dirty="0">
                    <a:solidFill>
                      <a:srgbClr val="000000"/>
                    </a:solidFill>
                    <a:latin typeface="Calibri"/>
                  </a:rPr>
                  <a:t> precedes </a:t>
                </a:r>
                <a14:m>
                  <m:oMath xmlns:m="http://schemas.openxmlformats.org/officeDocument/2006/math">
                    <m:r>
                      <a:rPr lang="en-SG" sz="2818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818" dirty="0">
                    <a:solidFill>
                      <a:srgbClr val="000000"/>
                    </a:solidFill>
                    <a:latin typeface="Calibri"/>
                  </a:rPr>
                  <a:t> in the sequential listing. </a:t>
                </a:r>
              </a:p>
              <a:p>
                <a:pPr>
                  <a:lnSpc>
                    <a:spcPts val="4000"/>
                  </a:lnSpc>
                </a:pPr>
                <a:endParaRPr lang="en-US" sz="2818" dirty="0">
                  <a:solidFill>
                    <a:srgbClr val="000000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030" y="2209800"/>
                <a:ext cx="8205170" cy="1538883"/>
              </a:xfrm>
              <a:prstGeom prst="rect">
                <a:avLst/>
              </a:prstGeom>
              <a:blipFill>
                <a:blip r:embed="rId3"/>
                <a:stretch>
                  <a:fillRect l="-2452" t="-436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93410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05100" y="279400"/>
            <a:ext cx="3883243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000000"/>
                </a:solidFill>
                <a:latin typeface="Calibri"/>
              </a:rPr>
              <a:t>Topological Order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3189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36"/>
            <a:ext cx="9144000" cy="67301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05100" y="279400"/>
            <a:ext cx="3883243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000000"/>
                </a:solidFill>
                <a:latin typeface="Calibri"/>
              </a:rPr>
              <a:t>Topological Order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1982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6800" y="279400"/>
            <a:ext cx="7196907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000000"/>
                </a:solidFill>
                <a:latin typeface="Calibri"/>
              </a:rPr>
              <a:t>Applications of Topological Order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4300" y="1079500"/>
            <a:ext cx="4310924" cy="82073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sz="2820">
                <a:solidFill>
                  <a:srgbClr val="4742C4"/>
                </a:solidFill>
                <a:latin typeface="Calibri"/>
              </a:rPr>
              <a:t>Topological order </a:t>
            </a:r>
            <a:r>
              <a:rPr lang="en-US" sz="2820">
                <a:solidFill>
                  <a:srgbClr val="000000"/>
                </a:solidFill>
                <a:latin typeface="Calibri"/>
              </a:rPr>
              <a:t>is used for: </a:t>
            </a:r>
          </a:p>
          <a:p>
            <a:pPr>
              <a:lnSpc>
                <a:spcPts val="3200"/>
              </a:lnSpc>
            </a:pPr>
            <a:endParaRPr lang="en-US" sz="2820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" y="2095500"/>
            <a:ext cx="4391972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>
                <a:sym typeface="Wingdings"/>
              </a:rPr>
              <a:t></a:t>
            </a:r>
            <a:r>
              <a:rPr lang="en-US" sz="2422">
                <a:solidFill>
                  <a:srgbClr val="000000"/>
                </a:solidFill>
                <a:latin typeface="Calibri"/>
                <a:sym typeface="Wingdings"/>
              </a:rPr>
              <a:t> Courses available at a university,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71500" y="2540000"/>
            <a:ext cx="2294603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422">
                <a:solidFill>
                  <a:srgbClr val="000000"/>
                </a:solidFill>
                <a:latin typeface="Calibri"/>
                <a:cs typeface="Arial"/>
              </a:rPr>
              <a:t> Vertices: course.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71500" y="2971800"/>
            <a:ext cx="4866460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424">
                <a:solidFill>
                  <a:srgbClr val="000000"/>
                </a:solidFill>
                <a:latin typeface="Calibri"/>
                <a:cs typeface="Arial"/>
              </a:rPr>
              <a:t> Edges: (v,w), v is a prerequisite for w.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71500" y="3340100"/>
            <a:ext cx="7750520" cy="128112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4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424">
                <a:solidFill>
                  <a:srgbClr val="000000"/>
                </a:solidFill>
                <a:latin typeface="Calibri"/>
                <a:cs typeface="Arial"/>
              </a:rPr>
              <a:t> A </a:t>
            </a:r>
            <a:r>
              <a:rPr lang="en-US" sz="2424">
                <a:solidFill>
                  <a:srgbClr val="4742C4"/>
                </a:solidFill>
                <a:latin typeface="Calibri"/>
                <a:cs typeface="Arial"/>
              </a:rPr>
              <a:t>topological </a:t>
            </a:r>
            <a:r>
              <a:rPr lang="en-US" sz="2424" dirty="0">
                <a:solidFill>
                  <a:srgbClr val="4742C4"/>
                </a:solidFill>
                <a:latin typeface="Calibri"/>
                <a:cs typeface="Arial"/>
              </a:rPr>
              <a:t>order </a:t>
            </a:r>
            <a:r>
              <a:rPr lang="en-US" sz="2424" dirty="0">
                <a:solidFill>
                  <a:srgbClr val="000000"/>
                </a:solidFill>
                <a:latin typeface="Calibri"/>
                <a:cs typeface="Arial"/>
              </a:rPr>
              <a:t>is a listing of all the courses such that all </a:t>
            </a:r>
            <a:br>
              <a:rPr lang="en-US" sz="2424" dirty="0">
                <a:solidFill>
                  <a:srgbClr val="000000"/>
                </a:solidFill>
                <a:latin typeface="Calibri"/>
                <a:cs typeface="Arial"/>
              </a:rPr>
            </a:br>
            <a:r>
              <a:rPr lang="en-US" sz="2424" dirty="0" err="1">
                <a:solidFill>
                  <a:srgbClr val="000000"/>
                </a:solidFill>
                <a:latin typeface="Calibri"/>
                <a:cs typeface="Arial"/>
              </a:rPr>
              <a:t>perequisites</a:t>
            </a:r>
            <a:r>
              <a:rPr lang="en-US" sz="2424" dirty="0">
                <a:solidFill>
                  <a:srgbClr val="000000"/>
                </a:solidFill>
                <a:latin typeface="Calibri"/>
                <a:cs typeface="Arial"/>
              </a:rPr>
              <a:t> for a course appear before it does. </a:t>
            </a:r>
          </a:p>
          <a:p>
            <a:pPr>
              <a:lnSpc>
                <a:spcPts val="3400"/>
              </a:lnSpc>
            </a:pPr>
            <a:endParaRPr lang="en-US" sz="2424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" y="4648200"/>
            <a:ext cx="8999323" cy="131638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defTabSz="914400" eaLnBrk="1" fontAlgn="auto" latinLnBrk="0" hangingPunct="1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42900" algn="l"/>
              </a:tabLst>
              <a:defRPr/>
            </a:pPr>
            <a:r>
              <a:rPr lang="en-US">
                <a:sym typeface="Wingdings"/>
              </a:rPr>
              <a:t></a:t>
            </a:r>
            <a:r>
              <a:rPr lang="en-US" sz="2424">
                <a:solidFill>
                  <a:srgbClr val="000000"/>
                </a:solidFill>
                <a:latin typeface="Calibri"/>
                <a:sym typeface="Wingdings"/>
              </a:rPr>
              <a:t> A glossary of technical terms: no term is used in a definition before it </a:t>
            </a:r>
            <a:br>
              <a:rPr lang="en-US" sz="2424">
                <a:solidFill>
                  <a:srgbClr val="000000"/>
                </a:solidFill>
                <a:latin typeface="Calibri"/>
                <a:sym typeface="Wingdings"/>
              </a:rPr>
            </a:br>
            <a:r>
              <a:rPr lang="en-US" sz="2424">
                <a:solidFill>
                  <a:srgbClr val="000000"/>
                </a:solidFill>
                <a:latin typeface="Calibri"/>
                <a:sym typeface="Wingdings"/>
              </a:rPr>
              <a:t>	is itself defined. </a:t>
            </a:r>
          </a:p>
          <a:p>
            <a:pPr marL="0" marR="0" lvl="0" indent="0" defTabSz="914400" eaLnBrk="1" fontAlgn="auto" latinLnBrk="0" hangingPunct="1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42900" algn="l"/>
              </a:tabLst>
              <a:defRPr/>
            </a:pPr>
            <a:endParaRPr lang="en-US" sz="2424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" y="6045200"/>
            <a:ext cx="3684791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>
                <a:sym typeface="Wingdings"/>
              </a:rPr>
              <a:t></a:t>
            </a:r>
            <a:r>
              <a:rPr lang="en-US" sz="2424">
                <a:solidFill>
                  <a:srgbClr val="000000"/>
                </a:solidFill>
                <a:latin typeface="Calibri"/>
                <a:sym typeface="Wingdings"/>
              </a:rPr>
              <a:t> The topics in the textbook.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8830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05100" y="127000"/>
            <a:ext cx="3873625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08" b="1">
                <a:solidFill>
                  <a:srgbClr val="000000"/>
                </a:solidFill>
                <a:latin typeface="Calibri"/>
              </a:rPr>
              <a:t>Topological Order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4300" y="774700"/>
            <a:ext cx="7068153" cy="76944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sz="2602">
                <a:solidFill>
                  <a:srgbClr val="000000"/>
                </a:solidFill>
                <a:latin typeface="Calibri"/>
              </a:rPr>
              <a:t>&lt;void&gt; </a:t>
            </a:r>
            <a:r>
              <a:rPr lang="en-US" sz="2602" b="1">
                <a:solidFill>
                  <a:srgbClr val="FF0000"/>
                </a:solidFill>
                <a:latin typeface="Calibri"/>
              </a:rPr>
              <a:t>DepthTopoSort</a:t>
            </a:r>
            <a:r>
              <a:rPr lang="en-US" sz="2602">
                <a:solidFill>
                  <a:srgbClr val="000000"/>
                </a:solidFill>
                <a:latin typeface="Calibri"/>
              </a:rPr>
              <a:t> (ref </a:t>
            </a:r>
            <a:r>
              <a:rPr lang="en-US" sz="2602">
                <a:solidFill>
                  <a:srgbClr val="0000CC"/>
                </a:solidFill>
                <a:latin typeface="Calibri"/>
              </a:rPr>
              <a:t>TopologicalOrder</a:t>
            </a:r>
            <a:r>
              <a:rPr lang="en-US" sz="2602">
                <a:solidFill>
                  <a:srgbClr val="000000"/>
                </a:solidFill>
                <a:latin typeface="Calibri"/>
              </a:rPr>
              <a:t> &lt;List&gt;) </a:t>
            </a:r>
          </a:p>
          <a:p>
            <a:pPr>
              <a:lnSpc>
                <a:spcPts val="3000"/>
              </a:lnSpc>
            </a:pPr>
            <a:endParaRPr lang="en-US" sz="2602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" y="1168400"/>
            <a:ext cx="8927829" cy="12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defTabSz="91440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42900" algn="l"/>
              </a:tabLst>
              <a:defRPr/>
            </a:pPr>
            <a:r>
              <a:rPr lang="en-US" sz="2206">
                <a:solidFill>
                  <a:srgbClr val="000000"/>
                </a:solidFill>
                <a:latin typeface="Calibri"/>
              </a:rPr>
              <a:t>Traverses the digraph in depth-first order and made a list of topological order </a:t>
            </a:r>
            <a:br>
              <a:rPr lang="en-US" sz="2206">
                <a:solidFill>
                  <a:srgbClr val="000000"/>
                </a:solidFill>
                <a:latin typeface="Calibri"/>
              </a:rPr>
            </a:br>
            <a:r>
              <a:rPr lang="en-US" sz="2206">
                <a:solidFill>
                  <a:srgbClr val="000000"/>
                </a:solidFill>
                <a:latin typeface="Calibri"/>
              </a:rPr>
              <a:t>	of digraph's vertices. </a:t>
            </a:r>
          </a:p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42900" algn="l"/>
              </a:tabLst>
              <a:defRPr/>
            </a:pPr>
            <a:endParaRPr lang="en-US" sz="2206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" y="4864100"/>
            <a:ext cx="655629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6" b="1" i="1">
                <a:solidFill>
                  <a:srgbClr val="000000"/>
                </a:solidFill>
                <a:latin typeface="Calibri"/>
              </a:rPr>
              <a:t>Idea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: </a:t>
            </a:r>
          </a:p>
          <a:p>
            <a:pPr>
              <a:lnSpc>
                <a:spcPts val="2500"/>
              </a:lnSpc>
            </a:pPr>
            <a:endParaRPr lang="en-US" sz="2206" b="1" i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" y="5257800"/>
            <a:ext cx="8735468" cy="6219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206" i="1">
                <a:solidFill>
                  <a:srgbClr val="000000"/>
                </a:solidFill>
                <a:latin typeface="Calibri"/>
                <a:cs typeface="Arial"/>
              </a:rPr>
              <a:t> Starts by finding a vertex that has no successors and place it last in the list. </a:t>
            </a:r>
          </a:p>
          <a:p>
            <a:pPr>
              <a:lnSpc>
                <a:spcPts val="2500"/>
              </a:lnSpc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" y="5664200"/>
            <a:ext cx="6079741" cy="6219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208" i="1">
                <a:solidFill>
                  <a:srgbClr val="000000"/>
                </a:solidFill>
                <a:latin typeface="Calibri"/>
                <a:cs typeface="Arial"/>
              </a:rPr>
              <a:t> Repeatedly add vertices to the beginning of the list. </a:t>
            </a:r>
          </a:p>
          <a:p>
            <a:pPr>
              <a:lnSpc>
                <a:spcPts val="2500"/>
              </a:lnSpc>
            </a:pP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4300" y="6070600"/>
            <a:ext cx="8804718" cy="6219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208" i="1">
                <a:solidFill>
                  <a:srgbClr val="000000"/>
                </a:solidFill>
                <a:latin typeface="Calibri"/>
                <a:cs typeface="Arial"/>
              </a:rPr>
              <a:t> By recursion, places all the successors of a vertex into the topological order. </a:t>
            </a:r>
          </a:p>
          <a:p>
            <a:pPr>
              <a:lnSpc>
                <a:spcPts val="2500"/>
              </a:lnSpc>
            </a:pP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14300" y="6515100"/>
            <a:ext cx="9175589" cy="54604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defTabSz="91440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8737600" algn="l"/>
              </a:tabLst>
              <a:defRPr/>
            </a:pPr>
            <a:r>
              <a:rPr lang="en-US" dirty="0">
                <a:latin typeface="Arial"/>
                <a:cs typeface="Arial"/>
              </a:rPr>
              <a:t>•</a:t>
            </a:r>
            <a:r>
              <a:rPr lang="en-US" sz="2208" i="1" dirty="0">
                <a:solidFill>
                  <a:srgbClr val="000000"/>
                </a:solidFill>
                <a:latin typeface="Calibri"/>
                <a:cs typeface="Arial"/>
              </a:rPr>
              <a:t> Then, place the vertex itself in a position before any of its successors. </a:t>
            </a:r>
            <a:r>
              <a:rPr lang="en-US" sz="1596" dirty="0">
                <a:solidFill>
                  <a:srgbClr val="888888"/>
                </a:solidFill>
                <a:latin typeface="Calibri"/>
                <a:cs typeface="Arial"/>
              </a:rPr>
              <a:t>	 </a:t>
            </a:r>
          </a:p>
          <a:p>
            <a:pPr marL="0" marR="0" lvl="0" indent="0" defTabSz="91440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8737600" algn="l"/>
              </a:tabLst>
              <a:defRPr/>
            </a:pPr>
            <a:endParaRPr lang="en-US" sz="2208" i="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85" y="2057400"/>
            <a:ext cx="8321098" cy="216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28356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05100" y="279400"/>
            <a:ext cx="3883243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000000"/>
                </a:solidFill>
                <a:latin typeface="Calibri"/>
              </a:rPr>
              <a:t>Topological Order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9067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05100" y="279400"/>
            <a:ext cx="3883243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000000"/>
                </a:solidFill>
                <a:latin typeface="Calibri"/>
              </a:rPr>
              <a:t>Topological Order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4300" y="1079500"/>
            <a:ext cx="7069692" cy="76944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sz="2604">
                <a:solidFill>
                  <a:srgbClr val="000000"/>
                </a:solidFill>
                <a:latin typeface="Calibri"/>
              </a:rPr>
              <a:t>&lt;void&gt; </a:t>
            </a:r>
            <a:r>
              <a:rPr lang="en-US" sz="2604" b="1">
                <a:solidFill>
                  <a:srgbClr val="FF0000"/>
                </a:solidFill>
                <a:latin typeface="Calibri"/>
              </a:rPr>
              <a:t>DepthTopoSort</a:t>
            </a:r>
            <a:r>
              <a:rPr lang="en-US" sz="2604">
                <a:solidFill>
                  <a:srgbClr val="000000"/>
                </a:solidFill>
                <a:latin typeface="Calibri"/>
              </a:rPr>
              <a:t> (ref </a:t>
            </a:r>
            <a:r>
              <a:rPr lang="en-US" sz="2604">
                <a:solidFill>
                  <a:srgbClr val="4742C4"/>
                </a:solidFill>
                <a:latin typeface="Calibri"/>
              </a:rPr>
              <a:t>TopologicalOrder</a:t>
            </a:r>
            <a:r>
              <a:rPr lang="en-US" sz="2604">
                <a:solidFill>
                  <a:srgbClr val="000000"/>
                </a:solidFill>
                <a:latin typeface="Calibri"/>
              </a:rPr>
              <a:t> &lt;List&gt;) </a:t>
            </a:r>
          </a:p>
          <a:p>
            <a:pPr>
              <a:lnSpc>
                <a:spcPts val="3000"/>
              </a:lnSpc>
            </a:pPr>
            <a:endParaRPr lang="en-US" sz="2604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" y="1943100"/>
            <a:ext cx="4110997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8" b="1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208" b="1">
                <a:solidFill>
                  <a:srgbClr val="000000"/>
                </a:solidFill>
                <a:latin typeface="Calibri"/>
              </a:rPr>
              <a:t>  loop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 (more vertex  v in digraph) </a:t>
            </a:r>
          </a:p>
          <a:p>
            <a:pPr>
              <a:lnSpc>
                <a:spcPts val="2500"/>
              </a:lnSpc>
            </a:pPr>
            <a:endParaRPr lang="en-US" sz="2208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0700" y="2336800"/>
            <a:ext cx="216406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0000CC"/>
                </a:solidFill>
                <a:latin typeface="Calibri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2336800"/>
            <a:ext cx="1189428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000000"/>
                </a:solidFill>
                <a:latin typeface="Calibri"/>
              </a:rPr>
              <a:t>unmark(v)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" y="2743200"/>
            <a:ext cx="216406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0000CC"/>
                </a:solidFill>
                <a:latin typeface="Calibri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743200"/>
            <a:ext cx="2745432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4742C4"/>
                </a:solidFill>
                <a:latin typeface="Calibri"/>
              </a:rPr>
              <a:t>TopologicalOrder</a:t>
            </a:r>
            <a:r>
              <a:rPr lang="en-US" sz="2208">
                <a:solidFill>
                  <a:srgbClr val="000000"/>
                </a:solidFill>
                <a:latin typeface="Calibri"/>
              </a:rPr>
              <a:t>.clear()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" y="3136900"/>
            <a:ext cx="4006803" cy="3394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6" b="1">
                <a:solidFill>
                  <a:srgbClr val="0000CC"/>
                </a:solidFill>
                <a:latin typeface="Calibri"/>
              </a:rPr>
              <a:t>3.</a:t>
            </a:r>
            <a:r>
              <a:rPr lang="en-US" sz="2206" b="1">
                <a:solidFill>
                  <a:srgbClr val="000000"/>
                </a:solidFill>
                <a:latin typeface="Calibri"/>
              </a:rPr>
              <a:t>  loop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(more vertex v in Digraph)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700" y="3543300"/>
            <a:ext cx="3190938" cy="3394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6" b="1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206" b="1">
                <a:solidFill>
                  <a:srgbClr val="000000"/>
                </a:solidFill>
                <a:latin typeface="Calibri"/>
              </a:rPr>
              <a:t>  if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 (vertex v is unmarked)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24300"/>
            <a:ext cx="214802" cy="3394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6">
                <a:solidFill>
                  <a:srgbClr val="0000CC"/>
                </a:solidFill>
                <a:latin typeface="Calibri"/>
              </a:rPr>
              <a:t>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100" y="3924300"/>
            <a:ext cx="5163658" cy="3394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6">
                <a:solidFill>
                  <a:srgbClr val="FF0000"/>
                </a:solidFill>
                <a:latin typeface="Calibri"/>
              </a:rPr>
              <a:t>recursiveDepthTopoSort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(v, </a:t>
            </a:r>
            <a:r>
              <a:rPr lang="en-US" sz="2206">
                <a:solidFill>
                  <a:srgbClr val="4742C4"/>
                </a:solidFill>
                <a:latin typeface="Calibri"/>
              </a:rPr>
              <a:t>TopologicalOrder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" y="4318000"/>
            <a:ext cx="2240293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8">
                <a:solidFill>
                  <a:srgbClr val="000000"/>
                </a:solidFill>
                <a:latin typeface="Calibri"/>
              </a:rPr>
              <a:t>End DepthTopoSort</a:t>
            </a:r>
          </a:p>
        </p:txBody>
      </p:sp>
    </p:spTree>
    <p:extLst>
      <p:ext uri="{BB962C8B-B14F-4D97-AF65-F5344CB8AC3E}">
        <p14:creationId xmlns:p14="http://schemas.microsoft.com/office/powerpoint/2010/main" val="9777931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05100" y="279400"/>
            <a:ext cx="3883243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000000"/>
                </a:solidFill>
                <a:latin typeface="Calibri"/>
              </a:rPr>
              <a:t>Topological Order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4300" y="1079500"/>
            <a:ext cx="7201074" cy="76944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sz="2604">
                <a:solidFill>
                  <a:srgbClr val="000000"/>
                </a:solidFill>
                <a:latin typeface="Calibri"/>
              </a:rPr>
              <a:t>&lt;void&gt; </a:t>
            </a:r>
            <a:r>
              <a:rPr lang="en-US" sz="2604" b="1">
                <a:solidFill>
                  <a:srgbClr val="FF0000"/>
                </a:solidFill>
                <a:latin typeface="Calibri"/>
              </a:rPr>
              <a:t>recursiveDepthTopoSort</a:t>
            </a:r>
            <a:r>
              <a:rPr lang="en-US" sz="2604">
                <a:solidFill>
                  <a:srgbClr val="000000"/>
                </a:solidFill>
                <a:latin typeface="Calibri"/>
              </a:rPr>
              <a:t> (val</a:t>
            </a:r>
            <a:r>
              <a:rPr lang="en-US" sz="2604">
                <a:solidFill>
                  <a:srgbClr val="4742C4"/>
                </a:solidFill>
                <a:latin typeface="Calibri"/>
              </a:rPr>
              <a:t> v</a:t>
            </a:r>
            <a:r>
              <a:rPr lang="en-US" sz="2604">
                <a:solidFill>
                  <a:srgbClr val="000000"/>
                </a:solidFill>
                <a:latin typeface="Calibri"/>
              </a:rPr>
              <a:t> &lt;VertexType&gt;, </a:t>
            </a:r>
          </a:p>
          <a:p>
            <a:pPr>
              <a:lnSpc>
                <a:spcPts val="3000"/>
              </a:lnSpc>
            </a:pPr>
            <a:endParaRPr lang="en-US" sz="2604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97400" y="1549400"/>
            <a:ext cx="3811941" cy="76944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sz="2604">
                <a:solidFill>
                  <a:srgbClr val="000000"/>
                </a:solidFill>
                <a:latin typeface="Calibri"/>
              </a:rPr>
              <a:t>ref </a:t>
            </a:r>
            <a:r>
              <a:rPr lang="en-US" sz="2604">
                <a:solidFill>
                  <a:srgbClr val="4742C4"/>
                </a:solidFill>
                <a:latin typeface="Calibri"/>
              </a:rPr>
              <a:t>TopologicalOrder</a:t>
            </a:r>
            <a:r>
              <a:rPr lang="en-US" sz="2604">
                <a:solidFill>
                  <a:srgbClr val="000000"/>
                </a:solidFill>
                <a:latin typeface="Calibri"/>
              </a:rPr>
              <a:t> &lt;List&gt;) </a:t>
            </a:r>
          </a:p>
          <a:p>
            <a:pPr>
              <a:lnSpc>
                <a:spcPts val="3000"/>
              </a:lnSpc>
            </a:pPr>
            <a:endParaRPr lang="en-US" sz="2604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" y="4432300"/>
            <a:ext cx="655629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6" b="1" i="1">
                <a:solidFill>
                  <a:srgbClr val="000000"/>
                </a:solidFill>
                <a:latin typeface="Calibri"/>
              </a:rPr>
              <a:t>Idea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: </a:t>
            </a:r>
          </a:p>
          <a:p>
            <a:pPr>
              <a:lnSpc>
                <a:spcPts val="2500"/>
              </a:lnSpc>
            </a:pPr>
            <a:endParaRPr lang="en-US" sz="2206" b="1" i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" y="4775200"/>
            <a:ext cx="8048935" cy="116794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1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206" i="1">
                <a:solidFill>
                  <a:srgbClr val="000000"/>
                </a:solidFill>
                <a:latin typeface="Calibri"/>
                <a:cs typeface="Arial"/>
              </a:rPr>
              <a:t> Performs the recursion, based on the outline for the general function </a:t>
            </a:r>
            <a:br>
              <a:rPr lang="en-US" sz="2208" i="1">
                <a:solidFill>
                  <a:srgbClr val="000000"/>
                </a:solidFill>
                <a:latin typeface="Calibri"/>
                <a:cs typeface="Arial"/>
              </a:rPr>
            </a:br>
            <a:r>
              <a:rPr lang="en-US" sz="2208" i="1">
                <a:solidFill>
                  <a:srgbClr val="000000"/>
                </a:solidFill>
                <a:latin typeface="Calibri"/>
                <a:cs typeface="Arial"/>
              </a:rPr>
              <a:t>traverse. </a:t>
            </a:r>
          </a:p>
          <a:p>
            <a:pPr>
              <a:lnSpc>
                <a:spcPts val="3100"/>
              </a:lnSpc>
            </a:pPr>
            <a:endParaRPr lang="en-US" sz="2206" i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" y="5575300"/>
            <a:ext cx="8350106" cy="120327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208" i="1">
                <a:solidFill>
                  <a:srgbClr val="000000"/>
                </a:solidFill>
                <a:latin typeface="Calibri"/>
                <a:cs typeface="Arial"/>
              </a:rPr>
              <a:t> First, places all the successors of v into their positions in the topological </a:t>
            </a:r>
            <a:br>
              <a:rPr lang="en-US" sz="2208" i="1">
                <a:solidFill>
                  <a:srgbClr val="000000"/>
                </a:solidFill>
                <a:latin typeface="Calibri"/>
                <a:cs typeface="Arial"/>
              </a:rPr>
            </a:br>
            <a:r>
              <a:rPr lang="en-US" sz="2208" i="1">
                <a:solidFill>
                  <a:srgbClr val="000000"/>
                </a:solidFill>
                <a:latin typeface="Calibri"/>
                <a:cs typeface="Arial"/>
              </a:rPr>
              <a:t>order. </a:t>
            </a:r>
          </a:p>
          <a:p>
            <a:pPr>
              <a:lnSpc>
                <a:spcPts val="3200"/>
              </a:lnSpc>
            </a:pPr>
            <a:endParaRPr lang="en-US" sz="2208" i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" y="6438900"/>
            <a:ext cx="3436069" cy="3397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>
                <a:latin typeface="Arial"/>
                <a:cs typeface="Arial"/>
              </a:rPr>
              <a:t>•</a:t>
            </a:r>
            <a:r>
              <a:rPr lang="en-US" sz="2208" i="1">
                <a:solidFill>
                  <a:srgbClr val="000000"/>
                </a:solidFill>
                <a:latin typeface="Calibri"/>
                <a:cs typeface="Arial"/>
              </a:rPr>
              <a:t> Then, places v into the order.</a:t>
            </a:r>
            <a:endParaRPr lang="en-US" sz="2208" i="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57400"/>
            <a:ext cx="7833268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91747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05100" y="279400"/>
            <a:ext cx="3883243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000000"/>
                </a:solidFill>
                <a:latin typeface="Calibri"/>
              </a:rPr>
              <a:t>Topological Order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4300" y="1079500"/>
            <a:ext cx="7201074" cy="76944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sz="2604">
                <a:solidFill>
                  <a:srgbClr val="000000"/>
                </a:solidFill>
                <a:latin typeface="Calibri"/>
              </a:rPr>
              <a:t>&lt;void&gt; </a:t>
            </a:r>
            <a:r>
              <a:rPr lang="en-US" sz="2604" b="1">
                <a:solidFill>
                  <a:srgbClr val="FF0000"/>
                </a:solidFill>
                <a:latin typeface="Calibri"/>
              </a:rPr>
              <a:t>recursiveDepthTopoSort</a:t>
            </a:r>
            <a:r>
              <a:rPr lang="en-US" sz="2604">
                <a:solidFill>
                  <a:srgbClr val="000000"/>
                </a:solidFill>
                <a:latin typeface="Calibri"/>
              </a:rPr>
              <a:t> (val</a:t>
            </a:r>
            <a:r>
              <a:rPr lang="en-US" sz="2604">
                <a:solidFill>
                  <a:srgbClr val="4742C4"/>
                </a:solidFill>
                <a:latin typeface="Calibri"/>
              </a:rPr>
              <a:t> v</a:t>
            </a:r>
            <a:r>
              <a:rPr lang="en-US" sz="2604">
                <a:solidFill>
                  <a:srgbClr val="000000"/>
                </a:solidFill>
                <a:latin typeface="Calibri"/>
              </a:rPr>
              <a:t> &lt;VertexType&gt;, </a:t>
            </a:r>
          </a:p>
          <a:p>
            <a:pPr>
              <a:lnSpc>
                <a:spcPts val="3000"/>
              </a:lnSpc>
            </a:pPr>
            <a:endParaRPr lang="en-US" sz="2604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97400" y="1549400"/>
            <a:ext cx="3811941" cy="76944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sz="2604">
                <a:solidFill>
                  <a:srgbClr val="000000"/>
                </a:solidFill>
                <a:latin typeface="Calibri"/>
              </a:rPr>
              <a:t>ref </a:t>
            </a:r>
            <a:r>
              <a:rPr lang="en-US" sz="2604">
                <a:solidFill>
                  <a:srgbClr val="4742C4"/>
                </a:solidFill>
                <a:latin typeface="Calibri"/>
              </a:rPr>
              <a:t>TopologicalOrder</a:t>
            </a:r>
            <a:r>
              <a:rPr lang="en-US" sz="2604">
                <a:solidFill>
                  <a:srgbClr val="000000"/>
                </a:solidFill>
                <a:latin typeface="Calibri"/>
              </a:rPr>
              <a:t> &lt;List&gt;) </a:t>
            </a:r>
          </a:p>
          <a:p>
            <a:pPr>
              <a:lnSpc>
                <a:spcPts val="3000"/>
              </a:lnSpc>
            </a:pPr>
            <a:endParaRPr lang="en-US" sz="2604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" y="2540000"/>
            <a:ext cx="1425070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2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  mark(v) </a:t>
            </a:r>
          </a:p>
          <a:p>
            <a:pPr>
              <a:lnSpc>
                <a:spcPts val="2700"/>
              </a:lnSpc>
            </a:pPr>
            <a:endParaRPr lang="en-US" sz="2422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" y="2971800"/>
            <a:ext cx="4901919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 b="1">
                <a:solidFill>
                  <a:srgbClr val="0000CC"/>
                </a:solidFill>
                <a:latin typeface="Calibri"/>
              </a:rPr>
              <a:t>2.</a:t>
            </a:r>
            <a:r>
              <a:rPr lang="en-US" sz="2424" b="1">
                <a:solidFill>
                  <a:srgbClr val="000000"/>
                </a:solidFill>
                <a:latin typeface="Calibri"/>
              </a:rPr>
              <a:t>  loop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(more vertex w adjacent to v) </a:t>
            </a:r>
          </a:p>
          <a:p>
            <a:pPr>
              <a:lnSpc>
                <a:spcPts val="2700"/>
              </a:lnSpc>
            </a:pPr>
            <a:endParaRPr lang="en-US" sz="2424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0700" y="3416300"/>
            <a:ext cx="3658822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 b="1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4" b="1">
                <a:solidFill>
                  <a:srgbClr val="000000"/>
                </a:solidFill>
                <a:latin typeface="Calibri"/>
              </a:rPr>
              <a:t>  if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(vertex w is unmarked) </a:t>
            </a:r>
          </a:p>
          <a:p>
            <a:pPr>
              <a:lnSpc>
                <a:spcPts val="2700"/>
              </a:lnSpc>
            </a:pPr>
            <a:endParaRPr lang="en-US" sz="2424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822700"/>
            <a:ext cx="6184385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4">
                <a:solidFill>
                  <a:srgbClr val="FF0000"/>
                </a:solidFill>
                <a:latin typeface="Calibri"/>
              </a:rPr>
              <a:t>  recursiveDepthTopoSort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(w, </a:t>
            </a:r>
            <a:r>
              <a:rPr lang="en-US" sz="2424">
                <a:solidFill>
                  <a:srgbClr val="4742C4"/>
                </a:solidFill>
                <a:latin typeface="Calibri"/>
              </a:rPr>
              <a:t>TopologicalOrder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)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" y="4254500"/>
            <a:ext cx="4013919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3.</a:t>
            </a:r>
            <a:r>
              <a:rPr lang="en-US" sz="2424">
                <a:solidFill>
                  <a:srgbClr val="4742C4"/>
                </a:solidFill>
                <a:latin typeface="Calibri"/>
              </a:rPr>
              <a:t>  TopologicalOrder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.Insert(0, v)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" y="4699000"/>
            <a:ext cx="3671133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00"/>
                </a:solidFill>
                <a:latin typeface="Calibri"/>
              </a:rPr>
              <a:t>End recursiveDepthTopoSort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346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05100" y="50800"/>
            <a:ext cx="3873625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08" b="1">
                <a:solidFill>
                  <a:srgbClr val="000000"/>
                </a:solidFill>
                <a:latin typeface="Calibri"/>
              </a:rPr>
              <a:t>Topological Order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4300" y="622300"/>
            <a:ext cx="7328545" cy="76944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sz="2604">
                <a:solidFill>
                  <a:srgbClr val="000000"/>
                </a:solidFill>
                <a:latin typeface="Calibri"/>
              </a:rPr>
              <a:t>&lt;void&gt; </a:t>
            </a:r>
            <a:r>
              <a:rPr lang="en-US" sz="2604" b="1">
                <a:solidFill>
                  <a:srgbClr val="FF0000"/>
                </a:solidFill>
                <a:latin typeface="Calibri"/>
              </a:rPr>
              <a:t>BreadthTopoSort</a:t>
            </a:r>
            <a:r>
              <a:rPr lang="en-US" sz="2604">
                <a:solidFill>
                  <a:srgbClr val="000000"/>
                </a:solidFill>
                <a:latin typeface="Calibri"/>
              </a:rPr>
              <a:t> (ref </a:t>
            </a:r>
            <a:r>
              <a:rPr lang="en-US" sz="2604">
                <a:solidFill>
                  <a:srgbClr val="4742C4"/>
                </a:solidFill>
                <a:latin typeface="Calibri"/>
              </a:rPr>
              <a:t>TopologicalOrder</a:t>
            </a:r>
            <a:r>
              <a:rPr lang="en-US" sz="2604">
                <a:solidFill>
                  <a:srgbClr val="000000"/>
                </a:solidFill>
                <a:latin typeface="Calibri"/>
              </a:rPr>
              <a:t> &lt;List&gt;) </a:t>
            </a:r>
          </a:p>
          <a:p>
            <a:pPr>
              <a:lnSpc>
                <a:spcPts val="3000"/>
              </a:lnSpc>
            </a:pPr>
            <a:endParaRPr lang="en-US" sz="2604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" y="1016000"/>
            <a:ext cx="8927700" cy="120327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defTabSz="91440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42900" algn="l"/>
              </a:tabLst>
              <a:defRPr/>
            </a:pPr>
            <a:r>
              <a:rPr lang="en-US" sz="2208">
                <a:solidFill>
                  <a:srgbClr val="000000"/>
                </a:solidFill>
                <a:latin typeface="Calibri"/>
              </a:rPr>
              <a:t>Traverses the digraph in depth-first order and made a list of topological order </a:t>
            </a:r>
            <a:br>
              <a:rPr lang="en-US" sz="2208">
                <a:solidFill>
                  <a:srgbClr val="000000"/>
                </a:solidFill>
                <a:latin typeface="Calibri"/>
              </a:rPr>
            </a:br>
            <a:r>
              <a:rPr lang="en-US" sz="2208">
                <a:solidFill>
                  <a:srgbClr val="000000"/>
                </a:solidFill>
                <a:latin typeface="Calibri"/>
              </a:rPr>
              <a:t>	of digraph's vertices. </a:t>
            </a:r>
          </a:p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42900" algn="l"/>
              </a:tabLst>
              <a:defRPr/>
            </a:pPr>
            <a:endParaRPr lang="en-US" sz="2208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" y="3505200"/>
            <a:ext cx="655629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6" b="1" i="1">
                <a:solidFill>
                  <a:srgbClr val="000000"/>
                </a:solidFill>
                <a:latin typeface="Calibri"/>
              </a:rPr>
              <a:t>Idea</a:t>
            </a:r>
            <a:r>
              <a:rPr lang="en-US" sz="2206">
                <a:solidFill>
                  <a:srgbClr val="000000"/>
                </a:solidFill>
                <a:latin typeface="Calibri"/>
              </a:rPr>
              <a:t>: </a:t>
            </a:r>
          </a:p>
          <a:p>
            <a:pPr>
              <a:lnSpc>
                <a:spcPts val="2500"/>
              </a:lnSpc>
            </a:pPr>
            <a:endParaRPr lang="en-US" sz="2206" b="1" i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" y="3898900"/>
            <a:ext cx="8443402" cy="6219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206" i="1">
                <a:solidFill>
                  <a:srgbClr val="000000"/>
                </a:solidFill>
                <a:latin typeface="Calibri"/>
                <a:cs typeface="Arial"/>
              </a:rPr>
              <a:t> Starts by finding the vertices that are not successors of any other vertex. </a:t>
            </a:r>
          </a:p>
          <a:p>
            <a:pPr>
              <a:lnSpc>
                <a:spcPts val="2500"/>
              </a:lnSpc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" y="4305300"/>
            <a:ext cx="6809108" cy="6219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208" i="1">
                <a:solidFill>
                  <a:srgbClr val="000000"/>
                </a:solidFill>
                <a:latin typeface="Calibri"/>
                <a:cs typeface="Arial"/>
              </a:rPr>
              <a:t> Places these vertices into a queue of vertices to be visited. </a:t>
            </a:r>
          </a:p>
          <a:p>
            <a:pPr>
              <a:lnSpc>
                <a:spcPts val="2500"/>
              </a:lnSpc>
            </a:pP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4300" y="4648200"/>
            <a:ext cx="8931291" cy="116801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1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208" i="1">
                <a:solidFill>
                  <a:srgbClr val="000000"/>
                </a:solidFill>
                <a:latin typeface="Calibri"/>
                <a:cs typeface="Arial"/>
              </a:rPr>
              <a:t> As each vertex is visited, it is removed from the queue and placed in the next </a:t>
            </a:r>
            <a:br>
              <a:rPr lang="en-US" sz="2208" i="1">
                <a:solidFill>
                  <a:srgbClr val="000000"/>
                </a:solidFill>
                <a:latin typeface="Calibri"/>
                <a:cs typeface="Arial"/>
              </a:rPr>
            </a:br>
            <a:r>
              <a:rPr lang="en-US" sz="2208" i="1">
                <a:solidFill>
                  <a:srgbClr val="000000"/>
                </a:solidFill>
                <a:latin typeface="Calibri"/>
                <a:cs typeface="Arial"/>
              </a:rPr>
              <a:t>available position in the topological order (starting at the beginning). </a:t>
            </a:r>
          </a:p>
          <a:p>
            <a:pPr>
              <a:lnSpc>
                <a:spcPts val="3100"/>
              </a:lnSpc>
            </a:pPr>
            <a:endParaRPr lang="en-US" sz="2208" i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" y="5511800"/>
            <a:ext cx="5160387" cy="6219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208" i="1">
                <a:solidFill>
                  <a:srgbClr val="000000"/>
                </a:solidFill>
                <a:latin typeface="Calibri"/>
                <a:cs typeface="Arial"/>
              </a:rPr>
              <a:t> Reduces the indegree of its successors by 1. </a:t>
            </a:r>
          </a:p>
          <a:p>
            <a:pPr>
              <a:lnSpc>
                <a:spcPts val="2500"/>
              </a:lnSpc>
            </a:pPr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14300" y="5854700"/>
            <a:ext cx="8961684" cy="116801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1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208" i="1">
                <a:solidFill>
                  <a:srgbClr val="000000"/>
                </a:solidFill>
                <a:latin typeface="Calibri"/>
                <a:cs typeface="Arial"/>
              </a:rPr>
              <a:t> The vertex having the zero value indegree is ready to processed and is places </a:t>
            </a:r>
            <a:br>
              <a:rPr lang="en-US" sz="2206" i="1">
                <a:solidFill>
                  <a:srgbClr val="000000"/>
                </a:solidFill>
                <a:latin typeface="Calibri"/>
                <a:cs typeface="Arial"/>
              </a:rPr>
            </a:br>
            <a:r>
              <a:rPr lang="en-US" sz="2206" i="1">
                <a:solidFill>
                  <a:srgbClr val="000000"/>
                </a:solidFill>
                <a:latin typeface="Calibri"/>
                <a:cs typeface="Arial"/>
              </a:rPr>
              <a:t>into the queue. </a:t>
            </a:r>
          </a:p>
          <a:p>
            <a:pPr>
              <a:lnSpc>
                <a:spcPts val="3100"/>
              </a:lnSpc>
            </a:pPr>
            <a:endParaRPr lang="en-US" sz="2208" i="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70" y="1981200"/>
            <a:ext cx="86982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41794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36"/>
            <a:ext cx="9144000" cy="67301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05100" y="279400"/>
            <a:ext cx="3883243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000000"/>
                </a:solidFill>
                <a:latin typeface="Calibri"/>
              </a:rPr>
              <a:t>Topological Order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919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" y="152400"/>
            <a:ext cx="7328545" cy="6043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sz="2604">
                <a:solidFill>
                  <a:srgbClr val="000000"/>
                </a:solidFill>
                <a:latin typeface="Calibri"/>
              </a:rPr>
              <a:t>&lt;void&gt; </a:t>
            </a:r>
            <a:r>
              <a:rPr lang="en-US" sz="2604" b="1">
                <a:solidFill>
                  <a:srgbClr val="FF0000"/>
                </a:solidFill>
                <a:latin typeface="Calibri"/>
              </a:rPr>
              <a:t>BreadthTopoSort</a:t>
            </a:r>
            <a:r>
              <a:rPr lang="en-US" sz="2604">
                <a:solidFill>
                  <a:srgbClr val="000000"/>
                </a:solidFill>
                <a:latin typeface="Calibri"/>
              </a:rPr>
              <a:t> (ref </a:t>
            </a:r>
            <a:r>
              <a:rPr lang="en-US" sz="2604">
                <a:solidFill>
                  <a:srgbClr val="4742C4"/>
                </a:solidFill>
                <a:latin typeface="Calibri"/>
              </a:rPr>
              <a:t>TopologicalOrder</a:t>
            </a:r>
            <a:r>
              <a:rPr lang="en-US" sz="2604">
                <a:solidFill>
                  <a:srgbClr val="000000"/>
                </a:solidFill>
                <a:latin typeface="Calibri"/>
              </a:rPr>
              <a:t> &lt;List&gt;) </a:t>
            </a:r>
          </a:p>
          <a:p>
            <a:pPr>
              <a:lnSpc>
                <a:spcPts val="2300"/>
              </a:lnSpc>
            </a:pPr>
            <a:endParaRPr lang="en-US" sz="2604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" y="558800"/>
            <a:ext cx="3452868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4">
                <a:solidFill>
                  <a:srgbClr val="4742C4"/>
                </a:solidFill>
                <a:latin typeface="Calibri"/>
              </a:rPr>
              <a:t>  TopologicalOrder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.clear()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" y="990600"/>
            <a:ext cx="2912657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2.</a:t>
            </a:r>
            <a:r>
              <a:rPr lang="en-US" sz="2424">
                <a:solidFill>
                  <a:srgbClr val="6F2F9F"/>
                </a:solidFill>
                <a:latin typeface="Calibri"/>
              </a:rPr>
              <a:t>  queueObj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&lt;Queue&gt;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6F2F9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" y="1435100"/>
            <a:ext cx="4442498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 b="1">
                <a:solidFill>
                  <a:srgbClr val="0000CC"/>
                </a:solidFill>
                <a:latin typeface="Calibri"/>
              </a:rPr>
              <a:t>3.</a:t>
            </a:r>
            <a:r>
              <a:rPr lang="en-US" sz="2424" b="1">
                <a:solidFill>
                  <a:srgbClr val="000000"/>
                </a:solidFill>
                <a:latin typeface="Calibri"/>
              </a:rPr>
              <a:t>  loop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(more vertex v in digraph) </a:t>
            </a:r>
          </a:p>
          <a:p>
            <a:pPr>
              <a:lnSpc>
                <a:spcPts val="2700"/>
              </a:lnSpc>
            </a:pPr>
            <a:endParaRPr lang="en-US" sz="2424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0700" y="1866900"/>
            <a:ext cx="3032625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 b="1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4" b="1">
                <a:solidFill>
                  <a:srgbClr val="000000"/>
                </a:solidFill>
                <a:latin typeface="Calibri"/>
              </a:rPr>
              <a:t>  if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(indegree of v = 0) </a:t>
            </a:r>
          </a:p>
          <a:p>
            <a:pPr>
              <a:lnSpc>
                <a:spcPts val="2700"/>
              </a:lnSpc>
            </a:pPr>
            <a:endParaRPr lang="en-US" sz="2424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3255699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4">
                <a:solidFill>
                  <a:srgbClr val="6F2F9F"/>
                </a:solidFill>
                <a:latin typeface="Calibri"/>
              </a:rPr>
              <a:t>  queueObj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.EnQueue(v)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6F2F9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" y="2717800"/>
            <a:ext cx="4417812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 b="1">
                <a:solidFill>
                  <a:srgbClr val="0000CC"/>
                </a:solidFill>
                <a:latin typeface="Calibri"/>
              </a:rPr>
              <a:t>4.</a:t>
            </a:r>
            <a:r>
              <a:rPr lang="en-US" sz="2424" b="1">
                <a:solidFill>
                  <a:srgbClr val="000000"/>
                </a:solidFill>
                <a:latin typeface="Calibri"/>
              </a:rPr>
              <a:t>  loop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(NOT </a:t>
            </a:r>
            <a:r>
              <a:rPr lang="en-US" sz="2424">
                <a:solidFill>
                  <a:srgbClr val="6F2F9F"/>
                </a:solidFill>
                <a:latin typeface="Calibri"/>
              </a:rPr>
              <a:t>queueObj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.isEmpty())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6F2F9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0700" y="3149600"/>
            <a:ext cx="3611566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4">
                <a:solidFill>
                  <a:srgbClr val="6F2F9F"/>
                </a:solidFill>
                <a:latin typeface="Calibri"/>
              </a:rPr>
              <a:t>  queueObj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.QueueFront(v)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6F2F9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0700" y="3594100"/>
            <a:ext cx="3143489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2">
                <a:solidFill>
                  <a:srgbClr val="0000CC"/>
                </a:solidFill>
                <a:latin typeface="Calibri"/>
              </a:rPr>
              <a:t>2.</a:t>
            </a:r>
            <a:r>
              <a:rPr lang="en-US" sz="2422">
                <a:solidFill>
                  <a:srgbClr val="6F2F9F"/>
                </a:solidFill>
                <a:latin typeface="Calibri"/>
              </a:rPr>
              <a:t>  queueObj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.DeQueue() </a:t>
            </a:r>
          </a:p>
          <a:p>
            <a:pPr>
              <a:lnSpc>
                <a:spcPts val="2700"/>
              </a:lnSpc>
            </a:pPr>
            <a:endParaRPr lang="en-US" sz="2422">
              <a:solidFill>
                <a:srgbClr val="6F2F9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0700" y="4025900"/>
            <a:ext cx="6700232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2">
                <a:solidFill>
                  <a:srgbClr val="0000CC"/>
                </a:solidFill>
                <a:latin typeface="Calibri"/>
              </a:rPr>
              <a:t>3.</a:t>
            </a:r>
            <a:r>
              <a:rPr lang="en-US" sz="2422">
                <a:solidFill>
                  <a:srgbClr val="4742C4"/>
                </a:solidFill>
                <a:latin typeface="Calibri"/>
              </a:rPr>
              <a:t>  TopologicalOrder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.Insert(</a:t>
            </a:r>
            <a:r>
              <a:rPr lang="en-US" sz="2422">
                <a:solidFill>
                  <a:srgbClr val="4742C4"/>
                </a:solidFill>
                <a:latin typeface="Calibri"/>
              </a:rPr>
              <a:t>TopologicalOrder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.size(), v) </a:t>
            </a:r>
          </a:p>
          <a:p>
            <a:pPr>
              <a:lnSpc>
                <a:spcPts val="2700"/>
              </a:lnSpc>
            </a:pPr>
            <a:endParaRPr lang="en-US" sz="2422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0700" y="4470400"/>
            <a:ext cx="4900316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2" b="1">
                <a:solidFill>
                  <a:srgbClr val="0000CC"/>
                </a:solidFill>
                <a:latin typeface="Calibri"/>
              </a:rPr>
              <a:t>4.</a:t>
            </a:r>
            <a:r>
              <a:rPr lang="en-US" sz="2422" b="1">
                <a:solidFill>
                  <a:srgbClr val="000000"/>
                </a:solidFill>
                <a:latin typeface="Calibri"/>
              </a:rPr>
              <a:t>  loop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 (more vertex w adjacent to v) </a:t>
            </a:r>
          </a:p>
          <a:p>
            <a:pPr>
              <a:lnSpc>
                <a:spcPts val="2700"/>
              </a:lnSpc>
            </a:pPr>
            <a:endParaRPr lang="en-US" sz="2422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4876800"/>
            <a:ext cx="4475456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2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  decrease the indegree of w by 1 </a:t>
            </a:r>
          </a:p>
          <a:p>
            <a:pPr>
              <a:lnSpc>
                <a:spcPts val="2700"/>
              </a:lnSpc>
            </a:pPr>
            <a:endParaRPr lang="en-US" sz="2422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5283200"/>
            <a:ext cx="3115981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2" b="1">
                <a:solidFill>
                  <a:srgbClr val="0000CC"/>
                </a:solidFill>
                <a:latin typeface="Calibri"/>
              </a:rPr>
              <a:t>2.</a:t>
            </a:r>
            <a:r>
              <a:rPr lang="en-US" sz="2422" b="1">
                <a:solidFill>
                  <a:srgbClr val="000000"/>
                </a:solidFill>
                <a:latin typeface="Calibri"/>
              </a:rPr>
              <a:t>  if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 (indegree of w = 0) </a:t>
            </a:r>
          </a:p>
          <a:p>
            <a:pPr>
              <a:lnSpc>
                <a:spcPts val="2700"/>
              </a:lnSpc>
            </a:pPr>
            <a:endParaRPr lang="en-US" sz="2422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71600" y="5689600"/>
            <a:ext cx="3337452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2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2">
                <a:solidFill>
                  <a:srgbClr val="6F2F9F"/>
                </a:solidFill>
                <a:latin typeface="Calibri"/>
              </a:rPr>
              <a:t>  queueObj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.EnQueue(w) </a:t>
            </a:r>
          </a:p>
          <a:p>
            <a:pPr>
              <a:lnSpc>
                <a:spcPts val="2700"/>
              </a:lnSpc>
            </a:pPr>
            <a:endParaRPr lang="en-US" sz="2422">
              <a:solidFill>
                <a:srgbClr val="6F2F9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300" y="6121400"/>
            <a:ext cx="2760692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00"/>
                </a:solidFill>
                <a:latin typeface="Calibri"/>
              </a:rPr>
              <a:t>End BreadthTopoSort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5124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48000" y="279400"/>
            <a:ext cx="3193567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FF0000"/>
                </a:solidFill>
                <a:latin typeface="Calibri"/>
              </a:rPr>
              <a:t>Shortest Paths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03200" y="990600"/>
            <a:ext cx="7293471" cy="154138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defTabSz="914400" eaLnBrk="1" fontAlgn="auto" latinLnBrk="0" hangingPunct="1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68300" algn="l"/>
              </a:tabLst>
              <a:defRPr/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820">
                <a:solidFill>
                  <a:srgbClr val="000000"/>
                </a:solidFill>
                <a:latin typeface="Calibri"/>
                <a:cs typeface="Arial"/>
              </a:rPr>
              <a:t> Given a directed graph in which each edge has a </a:t>
            </a:r>
            <a:br>
              <a:rPr lang="en-US" sz="2820">
                <a:solidFill>
                  <a:srgbClr val="0000CC"/>
                </a:solidFill>
                <a:latin typeface="Calibri"/>
                <a:cs typeface="Arial"/>
              </a:rPr>
            </a:br>
            <a:r>
              <a:rPr lang="en-US" sz="2820">
                <a:solidFill>
                  <a:srgbClr val="0000CC"/>
                </a:solidFill>
                <a:latin typeface="Calibri"/>
                <a:cs typeface="Arial"/>
              </a:rPr>
              <a:t>	nonnegative weight</a:t>
            </a:r>
            <a:r>
              <a:rPr lang="en-US" sz="2820">
                <a:solidFill>
                  <a:srgbClr val="000000"/>
                </a:solidFill>
                <a:latin typeface="Calibri"/>
                <a:cs typeface="Arial"/>
              </a:rPr>
              <a:t>. </a:t>
            </a:r>
          </a:p>
          <a:p>
            <a:pPr marL="0" marR="0" lvl="0" indent="0" defTabSz="914400" eaLnBrk="1" fontAlgn="auto" latinLnBrk="0" hangingPunct="1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68300" algn="l"/>
              </a:tabLst>
              <a:defRPr/>
            </a:pPr>
            <a:endParaRPr lang="en-US" sz="2820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3200" y="2019300"/>
            <a:ext cx="8137997" cy="150605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defTabSz="91440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68300" algn="l"/>
              </a:tabLst>
              <a:defRPr/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818">
                <a:solidFill>
                  <a:srgbClr val="000000"/>
                </a:solidFill>
                <a:latin typeface="Calibri"/>
                <a:cs typeface="Arial"/>
              </a:rPr>
              <a:t> Find </a:t>
            </a:r>
            <a:r>
              <a:rPr lang="en-US" sz="2818">
                <a:solidFill>
                  <a:srgbClr val="0000CC"/>
                </a:solidFill>
                <a:latin typeface="Calibri"/>
                <a:cs typeface="Arial"/>
              </a:rPr>
              <a:t>a path of least total weight </a:t>
            </a:r>
            <a:r>
              <a:rPr lang="en-US" sz="2818">
                <a:solidFill>
                  <a:srgbClr val="000000"/>
                </a:solidFill>
                <a:latin typeface="Calibri"/>
                <a:cs typeface="Arial"/>
              </a:rPr>
              <a:t>from a given vertex, </a:t>
            </a:r>
            <a:br>
              <a:rPr lang="en-US" sz="2818">
                <a:solidFill>
                  <a:srgbClr val="000000"/>
                </a:solidFill>
                <a:latin typeface="Calibri"/>
                <a:cs typeface="Arial"/>
              </a:rPr>
            </a:br>
            <a:r>
              <a:rPr lang="en-US" sz="2818">
                <a:solidFill>
                  <a:srgbClr val="000000"/>
                </a:solidFill>
                <a:latin typeface="Calibri"/>
                <a:cs typeface="Arial"/>
              </a:rPr>
              <a:t>	called the source, to every other vertex in the graph. </a:t>
            </a:r>
          </a:p>
          <a:p>
            <a:pPr marL="0" marR="0" lvl="0" indent="0" defTabSz="91440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68300" algn="l"/>
              </a:tabLst>
              <a:defRPr/>
            </a:pPr>
            <a:endParaRPr lang="en-US" sz="2818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3200" y="4064000"/>
            <a:ext cx="5725285" cy="150611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defTabSz="91440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68300" algn="l"/>
              </a:tabLst>
              <a:defRPr/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820">
                <a:solidFill>
                  <a:srgbClr val="000000"/>
                </a:solidFill>
                <a:latin typeface="Calibri"/>
                <a:cs typeface="Arial"/>
              </a:rPr>
              <a:t> A greedy algorithm of Shortest Paths: </a:t>
            </a:r>
            <a:br>
              <a:rPr lang="en-US" sz="2820">
                <a:solidFill>
                  <a:srgbClr val="FF0000"/>
                </a:solidFill>
                <a:latin typeface="Calibri"/>
                <a:cs typeface="Arial"/>
              </a:rPr>
            </a:br>
            <a:r>
              <a:rPr lang="en-US" sz="2820">
                <a:solidFill>
                  <a:srgbClr val="FF0000"/>
                </a:solidFill>
                <a:latin typeface="Calibri"/>
                <a:cs typeface="Arial"/>
              </a:rPr>
              <a:t>	Dijkstra's algorithm </a:t>
            </a:r>
            <a:r>
              <a:rPr lang="en-US" sz="2820">
                <a:solidFill>
                  <a:srgbClr val="000000"/>
                </a:solidFill>
                <a:latin typeface="Calibri"/>
                <a:cs typeface="Arial"/>
              </a:rPr>
              <a:t>(1959). </a:t>
            </a:r>
          </a:p>
          <a:p>
            <a:pPr marL="0" marR="0" lvl="0" indent="0" defTabSz="91440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68300" algn="l"/>
              </a:tabLst>
              <a:defRPr/>
            </a:pPr>
            <a:endParaRPr lang="en-US" sz="2820">
              <a:solidFill>
                <a:srgbClr val="FF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85328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14600" y="88900"/>
            <a:ext cx="4258473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08" b="1">
                <a:solidFill>
                  <a:srgbClr val="FF0000"/>
                </a:solidFill>
                <a:latin typeface="Calibri"/>
              </a:rPr>
              <a:t>Dijkstra's algorithm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03200" y="1066800"/>
            <a:ext cx="8421857" cy="142827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800"/>
              </a:lnSpc>
            </a:pPr>
            <a:r>
              <a:rPr lang="en-US">
                <a:sym typeface="Wingdings"/>
              </a:rPr>
              <a:t></a:t>
            </a:r>
            <a:r>
              <a:rPr lang="en-US" sz="2604">
                <a:solidFill>
                  <a:srgbClr val="000000"/>
                </a:solidFill>
                <a:latin typeface="Calibri"/>
                <a:sym typeface="Wingdings"/>
              </a:rPr>
              <a:t> Let tree is the subgraph contains  the shotest paths from the </a:t>
            </a:r>
            <a:br>
              <a:rPr lang="en-US" sz="2602">
                <a:solidFill>
                  <a:srgbClr val="000000"/>
                </a:solidFill>
                <a:latin typeface="Calibri"/>
                <a:sym typeface="Wingdings"/>
              </a:rPr>
            </a:br>
            <a:r>
              <a:rPr lang="en-US" sz="2602">
                <a:solidFill>
                  <a:srgbClr val="000000"/>
                </a:solidFill>
                <a:latin typeface="Calibri"/>
                <a:sym typeface="Wingdings"/>
              </a:rPr>
              <a:t>source vertex to all other vertices. </a:t>
            </a:r>
          </a:p>
          <a:p>
            <a:pPr>
              <a:lnSpc>
                <a:spcPts val="3800"/>
              </a:lnSpc>
            </a:pPr>
            <a:endParaRPr lang="en-US" sz="2604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3200" y="2057400"/>
            <a:ext cx="5859874" cy="20630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5600"/>
              </a:lnSpc>
            </a:pPr>
            <a:r>
              <a:rPr lang="en-US">
                <a:sym typeface="Wingdings"/>
              </a:rPr>
              <a:t></a:t>
            </a:r>
            <a:r>
              <a:rPr lang="en-US" sz="2602">
                <a:solidFill>
                  <a:srgbClr val="000000"/>
                </a:solidFill>
                <a:latin typeface="Calibri"/>
                <a:sym typeface="Wingdings"/>
              </a:rPr>
              <a:t> At first, add the source vertex to the tree. </a:t>
            </a:r>
            <a:br>
              <a:rPr lang="en-US" sz="2602">
                <a:solidFill>
                  <a:srgbClr val="000000"/>
                </a:solidFill>
                <a:latin typeface="Calibri"/>
                <a:sym typeface="Wingdings"/>
              </a:rPr>
            </a:br>
            <a:r>
              <a:rPr lang="en-US" sz="2602">
                <a:solidFill>
                  <a:srgbClr val="000000"/>
                </a:solidFill>
                <a:latin typeface="Calibri"/>
                <a:sym typeface="Wingdings"/>
              </a:rPr>
              <a:t></a:t>
            </a:r>
            <a:r>
              <a:rPr lang="en-US" sz="2604">
                <a:solidFill>
                  <a:srgbClr val="000000"/>
                </a:solidFill>
                <a:latin typeface="Calibri"/>
                <a:sym typeface="Wingdings"/>
              </a:rPr>
              <a:t> Loop until all vertices are in the tree: </a:t>
            </a:r>
          </a:p>
          <a:p>
            <a:pPr>
              <a:lnSpc>
                <a:spcPts val="5600"/>
              </a:lnSpc>
            </a:pPr>
            <a:endParaRPr lang="en-US" sz="2602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2600" y="3594100"/>
            <a:ext cx="4438138" cy="116794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1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206">
                <a:solidFill>
                  <a:srgbClr val="000000"/>
                </a:solidFill>
                <a:latin typeface="Calibri"/>
                <a:cs typeface="Arial"/>
              </a:rPr>
              <a:t> Consider the </a:t>
            </a:r>
            <a:r>
              <a:rPr lang="en-US" sz="2206">
                <a:solidFill>
                  <a:srgbClr val="0000CC"/>
                </a:solidFill>
                <a:latin typeface="Calibri"/>
                <a:cs typeface="Arial"/>
              </a:rPr>
              <a:t>adjacent vertices </a:t>
            </a:r>
            <a:r>
              <a:rPr lang="en-US" sz="2206">
                <a:solidFill>
                  <a:srgbClr val="000000"/>
                </a:solidFill>
                <a:latin typeface="Calibri"/>
                <a:cs typeface="Arial"/>
              </a:rPr>
              <a:t>of the </a:t>
            </a:r>
            <a:br>
              <a:rPr lang="en-US" sz="2206">
                <a:solidFill>
                  <a:srgbClr val="000000"/>
                </a:solidFill>
                <a:latin typeface="Calibri"/>
                <a:cs typeface="Arial"/>
              </a:rPr>
            </a:br>
            <a:r>
              <a:rPr lang="en-US" sz="2206">
                <a:solidFill>
                  <a:srgbClr val="000000"/>
                </a:solidFill>
                <a:latin typeface="Calibri"/>
                <a:cs typeface="Arial"/>
              </a:rPr>
              <a:t>vertices already in the tree. </a:t>
            </a:r>
          </a:p>
          <a:p>
            <a:pPr>
              <a:lnSpc>
                <a:spcPts val="3100"/>
              </a:lnSpc>
            </a:pPr>
            <a:endParaRPr lang="en-US" sz="2206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2600" y="4470400"/>
            <a:ext cx="5047344" cy="12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206">
                <a:solidFill>
                  <a:srgbClr val="000000"/>
                </a:solidFill>
                <a:latin typeface="Calibri"/>
                <a:cs typeface="Arial"/>
              </a:rPr>
              <a:t> Examine all </a:t>
            </a:r>
            <a:r>
              <a:rPr lang="en-US" sz="2206">
                <a:solidFill>
                  <a:srgbClr val="0000CC"/>
                </a:solidFill>
                <a:latin typeface="Calibri"/>
                <a:cs typeface="Arial"/>
              </a:rPr>
              <a:t>the paths from those adjacent </a:t>
            </a:r>
            <a:br>
              <a:rPr lang="en-US" sz="2206">
                <a:solidFill>
                  <a:srgbClr val="0000CC"/>
                </a:solidFill>
                <a:latin typeface="Calibri"/>
                <a:cs typeface="Arial"/>
              </a:rPr>
            </a:br>
            <a:r>
              <a:rPr lang="en-US" sz="2206">
                <a:solidFill>
                  <a:srgbClr val="0000CC"/>
                </a:solidFill>
                <a:latin typeface="Calibri"/>
                <a:cs typeface="Arial"/>
              </a:rPr>
              <a:t>vertices to the source vertex</a:t>
            </a:r>
            <a:r>
              <a:rPr lang="en-US" sz="2206">
                <a:solidFill>
                  <a:srgbClr val="000000"/>
                </a:solidFill>
                <a:latin typeface="Calibri"/>
                <a:cs typeface="Arial"/>
              </a:rPr>
              <a:t>. </a:t>
            </a:r>
          </a:p>
          <a:p>
            <a:pPr>
              <a:lnSpc>
                <a:spcPts val="3200"/>
              </a:lnSpc>
            </a:pPr>
            <a:endParaRPr lang="en-US" sz="2206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2600" y="5422900"/>
            <a:ext cx="4619021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206">
                <a:solidFill>
                  <a:srgbClr val="000000"/>
                </a:solidFill>
                <a:latin typeface="Calibri"/>
                <a:cs typeface="Arial"/>
              </a:rPr>
              <a:t> Select the </a:t>
            </a:r>
            <a:r>
              <a:rPr lang="en-US" sz="2206">
                <a:solidFill>
                  <a:srgbClr val="0000CC"/>
                </a:solidFill>
                <a:latin typeface="Calibri"/>
                <a:cs typeface="Arial"/>
              </a:rPr>
              <a:t>shortest path </a:t>
            </a:r>
            <a:r>
              <a:rPr lang="en-US" sz="2206">
                <a:solidFill>
                  <a:srgbClr val="000000"/>
                </a:solidFill>
                <a:latin typeface="Calibri"/>
                <a:cs typeface="Arial"/>
              </a:rPr>
              <a:t>and insert the </a:t>
            </a:r>
          </a:p>
          <a:p>
            <a:pPr>
              <a:lnSpc>
                <a:spcPts val="2500"/>
              </a:lnSpc>
            </a:pPr>
            <a:endParaRPr lang="en-US" sz="2206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0400" y="5829300"/>
            <a:ext cx="5132174" cy="68063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206">
                <a:solidFill>
                  <a:srgbClr val="000000"/>
                </a:solidFill>
                <a:latin typeface="Calibri"/>
              </a:rPr>
              <a:t>corresponding adjacent vertex into the tree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. </a:t>
            </a:r>
          </a:p>
          <a:p>
            <a:pPr>
              <a:lnSpc>
                <a:spcPts val="2700"/>
              </a:lnSpc>
            </a:pPr>
            <a:endParaRPr lang="en-US" sz="2206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846510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200" y="88900"/>
            <a:ext cx="6101414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08" b="1">
                <a:solidFill>
                  <a:srgbClr val="FF0000"/>
                </a:solidFill>
                <a:latin typeface="Calibri"/>
              </a:rPr>
              <a:t>Dijkstra's algorithm in detail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03200" y="584200"/>
            <a:ext cx="8594276" cy="57708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424">
                <a:solidFill>
                  <a:srgbClr val="000000"/>
                </a:solidFill>
                <a:latin typeface="Calibri"/>
                <a:cs typeface="Arial"/>
              </a:rPr>
              <a:t> S: Set of vertices whose closest distances to the source are known. </a:t>
            </a:r>
          </a:p>
          <a:p>
            <a:pPr>
              <a:lnSpc>
                <a:spcPts val="2300"/>
              </a:lnSpc>
            </a:pP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03200" y="1206500"/>
            <a:ext cx="4487319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424">
                <a:solidFill>
                  <a:srgbClr val="000000"/>
                </a:solidFill>
                <a:latin typeface="Calibri"/>
                <a:cs typeface="Arial"/>
              </a:rPr>
              <a:t> Add one vertex to S at each stage.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03200" y="1790700"/>
            <a:ext cx="8882047" cy="13163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5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422">
                <a:solidFill>
                  <a:srgbClr val="000000"/>
                </a:solidFill>
                <a:latin typeface="Calibri"/>
                <a:cs typeface="Arial"/>
              </a:rPr>
              <a:t> For each vertex v, maintain the distance from the source to v, along a </a:t>
            </a:r>
            <a:br>
              <a:rPr lang="en-US" sz="2424">
                <a:solidFill>
                  <a:srgbClr val="000000"/>
                </a:solidFill>
                <a:latin typeface="Calibri"/>
                <a:cs typeface="Arial"/>
              </a:rPr>
            </a:br>
            <a:r>
              <a:rPr lang="en-US" sz="2424">
                <a:solidFill>
                  <a:srgbClr val="000000"/>
                </a:solidFill>
                <a:latin typeface="Calibri"/>
                <a:cs typeface="Arial"/>
              </a:rPr>
              <a:t>path all of whose vertices are in S, except possibly the last one. </a:t>
            </a:r>
          </a:p>
          <a:p>
            <a:pPr>
              <a:lnSpc>
                <a:spcPts val="3500"/>
              </a:lnSpc>
            </a:pPr>
            <a:endParaRPr lang="en-US" sz="2422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3200" y="2984500"/>
            <a:ext cx="5878853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424">
                <a:solidFill>
                  <a:srgbClr val="000000"/>
                </a:solidFill>
                <a:latin typeface="Calibri"/>
                <a:cs typeface="Arial"/>
              </a:rPr>
              <a:t> To determine what vertex to add to S at each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93700" y="3340100"/>
            <a:ext cx="5540171" cy="131638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500"/>
              </a:lnSpc>
            </a:pPr>
            <a:r>
              <a:rPr lang="en-US" sz="2424">
                <a:solidFill>
                  <a:srgbClr val="000000"/>
                </a:solidFill>
                <a:latin typeface="Calibri"/>
              </a:rPr>
              <a:t>step, apply the </a:t>
            </a:r>
            <a:r>
              <a:rPr lang="en-US" sz="2424">
                <a:solidFill>
                  <a:srgbClr val="0000CC"/>
                </a:solidFill>
                <a:latin typeface="Calibri"/>
              </a:rPr>
              <a:t>greedy criterion 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of choosing </a:t>
            </a:r>
            <a:br>
              <a:rPr lang="en-US" sz="2424">
                <a:solidFill>
                  <a:srgbClr val="000000"/>
                </a:solidFill>
                <a:latin typeface="Calibri"/>
              </a:rPr>
            </a:br>
            <a:r>
              <a:rPr lang="en-US" sz="2424">
                <a:solidFill>
                  <a:srgbClr val="000000"/>
                </a:solidFill>
                <a:latin typeface="Calibri"/>
              </a:rPr>
              <a:t>the vertex v with </a:t>
            </a:r>
            <a:r>
              <a:rPr lang="en-US" sz="2424">
                <a:solidFill>
                  <a:srgbClr val="0000CC"/>
                </a:solidFill>
                <a:latin typeface="Calibri"/>
              </a:rPr>
              <a:t>the smallest distance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. </a:t>
            </a:r>
          </a:p>
          <a:p>
            <a:pPr>
              <a:lnSpc>
                <a:spcPts val="3500"/>
              </a:lnSpc>
            </a:pPr>
            <a:endParaRPr lang="en-US" sz="2424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3200" y="4521200"/>
            <a:ext cx="1566326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422">
                <a:solidFill>
                  <a:srgbClr val="000000"/>
                </a:solidFill>
                <a:latin typeface="Calibri"/>
                <a:cs typeface="Arial"/>
              </a:rPr>
              <a:t> Add v to S.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03200" y="5118100"/>
            <a:ext cx="5441490" cy="215315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4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424">
                <a:solidFill>
                  <a:srgbClr val="0000CC"/>
                </a:solidFill>
                <a:latin typeface="Calibri"/>
                <a:cs typeface="Arial"/>
              </a:rPr>
              <a:t> Update distance from the source for all w </a:t>
            </a:r>
            <a:br>
              <a:rPr lang="en-US" sz="2424">
                <a:solidFill>
                  <a:srgbClr val="0000CC"/>
                </a:solidFill>
                <a:latin typeface="Calibri"/>
                <a:cs typeface="Arial"/>
              </a:rPr>
            </a:br>
            <a:r>
              <a:rPr lang="en-US" sz="2424">
                <a:solidFill>
                  <a:srgbClr val="0000CC"/>
                </a:solidFill>
                <a:latin typeface="Calibri"/>
                <a:cs typeface="Arial"/>
              </a:rPr>
              <a:t>not in S</a:t>
            </a:r>
            <a:r>
              <a:rPr lang="en-US" sz="2424">
                <a:solidFill>
                  <a:srgbClr val="000000"/>
                </a:solidFill>
                <a:latin typeface="Calibri"/>
                <a:cs typeface="Arial"/>
              </a:rPr>
              <a:t>, if the </a:t>
            </a:r>
            <a:r>
              <a:rPr lang="en-US" sz="2424">
                <a:solidFill>
                  <a:srgbClr val="FF0000"/>
                </a:solidFill>
                <a:latin typeface="Calibri"/>
                <a:cs typeface="Arial"/>
              </a:rPr>
              <a:t>path through v and then </a:t>
            </a:r>
            <a:br>
              <a:rPr lang="en-US" sz="2424">
                <a:solidFill>
                  <a:srgbClr val="FF0000"/>
                </a:solidFill>
                <a:latin typeface="Calibri"/>
                <a:cs typeface="Arial"/>
              </a:rPr>
            </a:br>
            <a:r>
              <a:rPr lang="en-US" sz="2424">
                <a:solidFill>
                  <a:srgbClr val="FF0000"/>
                </a:solidFill>
                <a:latin typeface="Calibri"/>
                <a:cs typeface="Arial"/>
              </a:rPr>
              <a:t>directly to w</a:t>
            </a:r>
            <a:r>
              <a:rPr lang="en-US" sz="2424">
                <a:solidFill>
                  <a:srgbClr val="000000"/>
                </a:solidFill>
                <a:latin typeface="Calibri"/>
                <a:cs typeface="Arial"/>
              </a:rPr>
              <a:t> is shorter than the previously </a:t>
            </a:r>
            <a:br>
              <a:rPr lang="en-US" sz="2424">
                <a:solidFill>
                  <a:srgbClr val="000000"/>
                </a:solidFill>
                <a:latin typeface="Calibri"/>
                <a:cs typeface="Arial"/>
              </a:rPr>
            </a:br>
            <a:r>
              <a:rPr lang="en-US" sz="2424">
                <a:solidFill>
                  <a:srgbClr val="000000"/>
                </a:solidFill>
                <a:latin typeface="Calibri"/>
                <a:cs typeface="Arial"/>
              </a:rPr>
              <a:t>recorded distance to w. </a:t>
            </a:r>
          </a:p>
          <a:p>
            <a:pPr>
              <a:lnSpc>
                <a:spcPts val="3400"/>
              </a:lnSpc>
            </a:pPr>
            <a:endParaRPr lang="en-US" sz="2424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70567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14600" y="279400"/>
            <a:ext cx="4263283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FF0000"/>
                </a:solidFill>
                <a:latin typeface="Calibri"/>
              </a:rPr>
              <a:t>Dijkstra's algorithm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659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14600" y="279400"/>
            <a:ext cx="4263283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FF0000"/>
                </a:solidFill>
                <a:latin typeface="Calibri"/>
              </a:rPr>
              <a:t>Dijkstra's algorithm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3101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14600" y="279400"/>
            <a:ext cx="4263283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FF0000"/>
                </a:solidFill>
                <a:latin typeface="Calibri"/>
              </a:rPr>
              <a:t>Dijkstra's algorithm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8282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14600" y="279400"/>
            <a:ext cx="4263283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FF0000"/>
                </a:solidFill>
                <a:latin typeface="Calibri"/>
              </a:rPr>
              <a:t>Dijkstra's algorithm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0060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14600" y="279400"/>
            <a:ext cx="4263283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FF0000"/>
                </a:solidFill>
                <a:latin typeface="Calibri"/>
              </a:rPr>
              <a:t>Dijkstra's algorithm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2154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14600" y="279400"/>
            <a:ext cx="4263283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FF0000"/>
                </a:solidFill>
                <a:latin typeface="Calibri"/>
              </a:rPr>
              <a:t>Dijkstra's algorithm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9716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14600" y="279400"/>
            <a:ext cx="4263283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FF0000"/>
                </a:solidFill>
                <a:latin typeface="Calibri"/>
              </a:rPr>
              <a:t>Dijkstra's algorithm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4300" y="1079500"/>
            <a:ext cx="6912470" cy="82073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sz="2820">
                <a:solidFill>
                  <a:srgbClr val="000000"/>
                </a:solidFill>
                <a:latin typeface="Calibri"/>
              </a:rPr>
              <a:t>&lt;void&gt; </a:t>
            </a:r>
            <a:r>
              <a:rPr lang="en-US" sz="2820" b="1">
                <a:solidFill>
                  <a:srgbClr val="FF0000"/>
                </a:solidFill>
                <a:latin typeface="Calibri"/>
              </a:rPr>
              <a:t>ShortestPath</a:t>
            </a:r>
            <a:r>
              <a:rPr lang="en-US" sz="2820">
                <a:solidFill>
                  <a:srgbClr val="000000"/>
                </a:solidFill>
                <a:latin typeface="Calibri"/>
              </a:rPr>
              <a:t> (val</a:t>
            </a:r>
            <a:r>
              <a:rPr lang="en-US" sz="2820">
                <a:solidFill>
                  <a:srgbClr val="0000CC"/>
                </a:solidFill>
                <a:latin typeface="Calibri"/>
              </a:rPr>
              <a:t> source</a:t>
            </a:r>
            <a:r>
              <a:rPr lang="en-US" sz="2820">
                <a:solidFill>
                  <a:srgbClr val="000000"/>
                </a:solidFill>
                <a:latin typeface="Calibri"/>
              </a:rPr>
              <a:t> &lt;VertexType&gt;, </a:t>
            </a:r>
          </a:p>
          <a:p>
            <a:pPr>
              <a:lnSpc>
                <a:spcPts val="3200"/>
              </a:lnSpc>
            </a:pPr>
            <a:endParaRPr lang="en-US" sz="2820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93900" y="1587500"/>
            <a:ext cx="7160358" cy="82073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sz="2820">
                <a:solidFill>
                  <a:srgbClr val="000000"/>
                </a:solidFill>
                <a:latin typeface="Calibri"/>
              </a:rPr>
              <a:t>ref </a:t>
            </a:r>
            <a:r>
              <a:rPr lang="en-US" sz="2820">
                <a:solidFill>
                  <a:srgbClr val="4742C4"/>
                </a:solidFill>
                <a:latin typeface="Calibri"/>
              </a:rPr>
              <a:t>listOfShortestPath</a:t>
            </a:r>
            <a:r>
              <a:rPr lang="en-US" sz="2820">
                <a:solidFill>
                  <a:srgbClr val="000000"/>
                </a:solidFill>
                <a:latin typeface="Calibri"/>
              </a:rPr>
              <a:t> &lt;List of &lt;DistanceNode&gt;&gt;) </a:t>
            </a:r>
          </a:p>
          <a:p>
            <a:pPr>
              <a:lnSpc>
                <a:spcPts val="3200"/>
              </a:lnSpc>
            </a:pPr>
            <a:endParaRPr lang="en-US" sz="2820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" y="2095500"/>
            <a:ext cx="8616590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2">
                <a:solidFill>
                  <a:srgbClr val="000000"/>
                </a:solidFill>
                <a:latin typeface="Calibri"/>
              </a:rPr>
              <a:t>Finds the shortest paths from source to all other vertices in digraph.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194300" y="5359400"/>
            <a:ext cx="1702389" cy="57708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sz="2026">
                <a:solidFill>
                  <a:srgbClr val="000000"/>
                </a:solidFill>
                <a:latin typeface="Arial"/>
              </a:rPr>
              <a:t>DistanceNode </a:t>
            </a:r>
          </a:p>
          <a:p>
            <a:pPr>
              <a:lnSpc>
                <a:spcPts val="2300"/>
              </a:lnSpc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108700" y="5664200"/>
            <a:ext cx="3002553" cy="108189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900"/>
              </a:lnSpc>
            </a:pPr>
            <a:r>
              <a:rPr lang="en-US" sz="2026">
                <a:solidFill>
                  <a:srgbClr val="FF0000"/>
                </a:solidFill>
                <a:latin typeface="Arial"/>
              </a:rPr>
              <a:t>destination</a:t>
            </a:r>
            <a:r>
              <a:rPr lang="en-US" sz="2026">
                <a:solidFill>
                  <a:srgbClr val="000000"/>
                </a:solidFill>
                <a:latin typeface="Arial"/>
              </a:rPr>
              <a:t> &lt;VertexType&gt; </a:t>
            </a:r>
            <a:br>
              <a:rPr lang="en-US" sz="2026">
                <a:solidFill>
                  <a:srgbClr val="FF0000"/>
                </a:solidFill>
                <a:latin typeface="Arial"/>
              </a:rPr>
            </a:br>
            <a:r>
              <a:rPr lang="en-US" sz="2026">
                <a:solidFill>
                  <a:srgbClr val="FF0000"/>
                </a:solidFill>
                <a:latin typeface="Arial"/>
              </a:rPr>
              <a:t>distance</a:t>
            </a:r>
            <a:r>
              <a:rPr lang="en-US" sz="2026">
                <a:solidFill>
                  <a:srgbClr val="000000"/>
                </a:solidFill>
                <a:latin typeface="Arial"/>
              </a:rPr>
              <a:t> &lt;int&gt; </a:t>
            </a:r>
          </a:p>
          <a:p>
            <a:pPr>
              <a:lnSpc>
                <a:spcPts val="2900"/>
              </a:lnSpc>
            </a:pPr>
            <a:endParaRPr lang="en-US" sz="2026">
              <a:solidFill>
                <a:srgbClr val="FF0000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94300" y="6489700"/>
            <a:ext cx="2236190" cy="51296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2028">
                <a:solidFill>
                  <a:srgbClr val="000000"/>
                </a:solidFill>
                <a:latin typeface="Arial"/>
              </a:rPr>
              <a:t>End DistanceNode </a:t>
            </a:r>
          </a:p>
          <a:p>
            <a:pPr>
              <a:lnSpc>
                <a:spcPts val="2000"/>
              </a:lnSpc>
            </a:pPr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82" y="2895601"/>
            <a:ext cx="8577508" cy="848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40921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" y="139700"/>
            <a:ext cx="2070888" cy="55335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US" sz="2424" b="1">
                <a:solidFill>
                  <a:srgbClr val="A6A6A6"/>
                </a:solidFill>
                <a:latin typeface="Calibri"/>
              </a:rPr>
              <a:t>// </a:t>
            </a:r>
            <a:r>
              <a:rPr lang="en-US" sz="2424" b="1" i="1">
                <a:solidFill>
                  <a:srgbClr val="A6A6A6"/>
                </a:solidFill>
                <a:latin typeface="Calibri"/>
              </a:rPr>
              <a:t>ShortestPath </a:t>
            </a:r>
          </a:p>
          <a:p>
            <a:pPr>
              <a:lnSpc>
                <a:spcPts val="2100"/>
              </a:lnSpc>
            </a:pPr>
            <a:endParaRPr lang="en-US" sz="2424" b="1">
              <a:solidFill>
                <a:srgbClr val="A6A6A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" y="520700"/>
            <a:ext cx="3620607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4">
                <a:solidFill>
                  <a:srgbClr val="4742C4"/>
                </a:solidFill>
                <a:latin typeface="Calibri"/>
              </a:rPr>
              <a:t>  listOfShortestPath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.clear()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" y="952500"/>
            <a:ext cx="2860142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2.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 Add </a:t>
            </a:r>
            <a:r>
              <a:rPr lang="en-US" sz="2424">
                <a:solidFill>
                  <a:srgbClr val="0000CC"/>
                </a:solidFill>
                <a:latin typeface="Calibri"/>
              </a:rPr>
              <a:t>source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to set S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" y="1409700"/>
            <a:ext cx="8937960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lang="en-US" sz="2424" b="1">
                <a:solidFill>
                  <a:srgbClr val="0000CC"/>
                </a:solidFill>
                <a:latin typeface="Calibri"/>
              </a:rPr>
              <a:t>3.</a:t>
            </a:r>
            <a:r>
              <a:rPr lang="en-US" sz="2424" b="1">
                <a:solidFill>
                  <a:srgbClr val="000000"/>
                </a:solidFill>
                <a:latin typeface="Calibri"/>
              </a:rPr>
              <a:t>  loop 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(more vertex v in </a:t>
            </a:r>
            <a:r>
              <a:rPr lang="en-US" sz="2424">
                <a:solidFill>
                  <a:srgbClr val="FF3399"/>
                </a:solidFill>
                <a:latin typeface="Calibri"/>
              </a:rPr>
              <a:t>digraph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) </a:t>
            </a:r>
            <a:r>
              <a:rPr lang="en-US" sz="2208">
                <a:solidFill>
                  <a:srgbClr val="E36C09"/>
                </a:solidFill>
                <a:latin typeface="Calibri"/>
              </a:rPr>
              <a:t>// </a:t>
            </a:r>
            <a:r>
              <a:rPr lang="en-US" sz="2208" i="1">
                <a:solidFill>
                  <a:srgbClr val="E36C09"/>
                </a:solidFill>
                <a:latin typeface="Calibri"/>
              </a:rPr>
              <a:t>Initiate all distances from source to v </a:t>
            </a:r>
          </a:p>
          <a:p>
            <a:pPr>
              <a:lnSpc>
                <a:spcPts val="2600"/>
              </a:lnSpc>
            </a:pPr>
            <a:endParaRPr lang="en-US" sz="2208">
              <a:solidFill>
                <a:srgbClr val="E36C09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0700" y="1841500"/>
            <a:ext cx="4122154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 distanceNode.destination = v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0700" y="2286000"/>
            <a:ext cx="8366008" cy="68069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2.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 distanceNode.distance = weight of edge(source, v) </a:t>
            </a:r>
            <a:r>
              <a:rPr lang="en-US" sz="2208">
                <a:solidFill>
                  <a:srgbClr val="E36C09"/>
                </a:solidFill>
                <a:latin typeface="Calibri"/>
              </a:rPr>
              <a:t>// =</a:t>
            </a:r>
            <a:r>
              <a:rPr lang="en-US" sz="2208" i="1">
                <a:solidFill>
                  <a:srgbClr val="E36C09"/>
                </a:solidFill>
                <a:latin typeface="Calibri"/>
              </a:rPr>
              <a:t> infinity if </a:t>
            </a:r>
          </a:p>
          <a:p>
            <a:pPr>
              <a:lnSpc>
                <a:spcPts val="2700"/>
              </a:lnSpc>
            </a:pPr>
            <a:endParaRPr lang="en-US" sz="2208">
              <a:solidFill>
                <a:srgbClr val="E36C09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68900" y="2743200"/>
            <a:ext cx="3882986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sz="2206">
                <a:solidFill>
                  <a:srgbClr val="E36C09"/>
                </a:solidFill>
                <a:latin typeface="Calibri"/>
              </a:rPr>
              <a:t>// </a:t>
            </a:r>
            <a:r>
              <a:rPr lang="en-US" sz="2206" i="1">
                <a:solidFill>
                  <a:srgbClr val="E36C09"/>
                </a:solidFill>
                <a:latin typeface="Calibri"/>
              </a:rPr>
              <a:t>edge(source,v) isn't in digraph. </a:t>
            </a:r>
          </a:p>
          <a:p>
            <a:pPr>
              <a:lnSpc>
                <a:spcPts val="2500"/>
              </a:lnSpc>
            </a:pPr>
            <a:endParaRPr lang="en-US" sz="2206">
              <a:solidFill>
                <a:srgbClr val="E36C09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0700" y="3149600"/>
            <a:ext cx="5469639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3.</a:t>
            </a:r>
            <a:r>
              <a:rPr lang="en-US" sz="2424">
                <a:solidFill>
                  <a:srgbClr val="4742C4"/>
                </a:solidFill>
                <a:latin typeface="Calibri"/>
              </a:rPr>
              <a:t>  listOfShortestPath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.Insert(distanceNode)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" y="3606800"/>
            <a:ext cx="8287012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lang="en-US" sz="2422" b="1">
                <a:solidFill>
                  <a:srgbClr val="0000CC"/>
                </a:solidFill>
                <a:latin typeface="Calibri"/>
              </a:rPr>
              <a:t>4.</a:t>
            </a:r>
            <a:r>
              <a:rPr lang="en-US" sz="2422" b="1">
                <a:solidFill>
                  <a:srgbClr val="000000"/>
                </a:solidFill>
                <a:latin typeface="Calibri"/>
              </a:rPr>
              <a:t>  loop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 (more vertex not in S)  </a:t>
            </a:r>
            <a:r>
              <a:rPr lang="en-US" sz="2206">
                <a:solidFill>
                  <a:srgbClr val="E36C09"/>
                </a:solidFill>
                <a:latin typeface="Calibri"/>
              </a:rPr>
              <a:t>// </a:t>
            </a:r>
            <a:r>
              <a:rPr lang="en-US" sz="2206" i="1">
                <a:solidFill>
                  <a:srgbClr val="E36C09"/>
                </a:solidFill>
                <a:latin typeface="Calibri"/>
              </a:rPr>
              <a:t>Add one vertex v to S on each step. </a:t>
            </a:r>
          </a:p>
          <a:p>
            <a:pPr>
              <a:lnSpc>
                <a:spcPts val="2600"/>
              </a:lnSpc>
            </a:pPr>
            <a:endParaRPr lang="en-US" sz="2206">
              <a:solidFill>
                <a:srgbClr val="E36C09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0700" y="4013200"/>
            <a:ext cx="2931893" cy="37273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422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  minWeight = infinity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3500" y="4038600"/>
            <a:ext cx="4787464" cy="3394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6">
                <a:solidFill>
                  <a:srgbClr val="E36C09"/>
                </a:solidFill>
                <a:latin typeface="Calibri"/>
              </a:rPr>
              <a:t>// </a:t>
            </a:r>
            <a:r>
              <a:rPr lang="en-US" sz="2206" i="1">
                <a:solidFill>
                  <a:srgbClr val="E36C09"/>
                </a:solidFill>
                <a:latin typeface="Calibri"/>
              </a:rPr>
              <a:t>Choose vertex v with smallest distance.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700" y="4457700"/>
            <a:ext cx="4131965" cy="37273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422" b="1">
                <a:solidFill>
                  <a:srgbClr val="0000CC"/>
                </a:solidFill>
                <a:latin typeface="Calibri"/>
              </a:rPr>
              <a:t>2.</a:t>
            </a:r>
            <a:r>
              <a:rPr lang="en-US" sz="2422" b="1">
                <a:solidFill>
                  <a:srgbClr val="000000"/>
                </a:solidFill>
                <a:latin typeface="Calibri"/>
              </a:rPr>
              <a:t>  loop 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(more vertex w not in 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64100"/>
            <a:ext cx="7616316" cy="37273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422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  Find the distance x from source to w in </a:t>
            </a:r>
            <a:r>
              <a:rPr lang="en-US" sz="2422">
                <a:solidFill>
                  <a:srgbClr val="4742C4"/>
                </a:solidFill>
                <a:latin typeface="Calibri"/>
              </a:rPr>
              <a:t>listOfShortestPath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70500"/>
            <a:ext cx="2679067" cy="37273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422" b="1">
                <a:solidFill>
                  <a:srgbClr val="0000CC"/>
                </a:solidFill>
                <a:latin typeface="Calibri"/>
              </a:rPr>
              <a:t>2.</a:t>
            </a:r>
            <a:r>
              <a:rPr lang="en-US" sz="2422" b="1">
                <a:solidFill>
                  <a:srgbClr val="000000"/>
                </a:solidFill>
                <a:latin typeface="Calibri"/>
              </a:rPr>
              <a:t>  if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 (x &lt; minWeight)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4300" y="5346700"/>
            <a:ext cx="1630254" cy="3117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026">
                <a:solidFill>
                  <a:srgbClr val="000000"/>
                </a:solidFill>
                <a:latin typeface="Arial"/>
              </a:rPr>
              <a:t>DistanceNode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676900"/>
            <a:ext cx="1037143" cy="37273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422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  v = 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700" y="5715000"/>
            <a:ext cx="2930418" cy="3117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026">
                <a:solidFill>
                  <a:srgbClr val="FF0000"/>
                </a:solidFill>
                <a:latin typeface="Arial"/>
              </a:rPr>
              <a:t>destination</a:t>
            </a:r>
            <a:r>
              <a:rPr lang="en-US" sz="2026">
                <a:solidFill>
                  <a:srgbClr val="000000"/>
                </a:solidFill>
                <a:latin typeface="Arial"/>
              </a:rPr>
              <a:t> &lt;VertexType&gt;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6070600"/>
            <a:ext cx="2194640" cy="37305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424">
                <a:solidFill>
                  <a:srgbClr val="0000CC"/>
                </a:solidFill>
                <a:latin typeface="Calibri"/>
              </a:rPr>
              <a:t>2.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 minWeight = 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700" y="6083300"/>
            <a:ext cx="1617430" cy="31175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026">
                <a:solidFill>
                  <a:srgbClr val="FF0000"/>
                </a:solidFill>
                <a:latin typeface="Arial"/>
              </a:rPr>
              <a:t>distance</a:t>
            </a:r>
            <a:r>
              <a:rPr lang="en-US" sz="2026">
                <a:solidFill>
                  <a:srgbClr val="000000"/>
                </a:solidFill>
                <a:latin typeface="Arial"/>
              </a:rPr>
              <a:t> &lt;int&gt;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4300" y="6451600"/>
            <a:ext cx="2164054" cy="3120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028">
                <a:solidFill>
                  <a:srgbClr val="000000"/>
                </a:solidFill>
                <a:latin typeface="Arial"/>
              </a:rPr>
              <a:t>End DistanceNode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700" y="6502400"/>
            <a:ext cx="1721818" cy="37305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424">
                <a:solidFill>
                  <a:srgbClr val="0000CC"/>
                </a:solidFill>
                <a:latin typeface="Calibri"/>
              </a:rPr>
              <a:t>3.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 Add v to S.</a:t>
            </a:r>
          </a:p>
        </p:txBody>
      </p:sp>
    </p:spTree>
    <p:extLst>
      <p:ext uri="{BB962C8B-B14F-4D97-AF65-F5344CB8AC3E}">
        <p14:creationId xmlns:p14="http://schemas.microsoft.com/office/powerpoint/2010/main" val="17349389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" y="139700"/>
            <a:ext cx="3467488" cy="55335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US" sz="2424" b="1">
                <a:solidFill>
                  <a:srgbClr val="A6A6A6"/>
                </a:solidFill>
                <a:latin typeface="Calibri"/>
              </a:rPr>
              <a:t>// </a:t>
            </a:r>
            <a:r>
              <a:rPr lang="en-US" sz="2424" b="1" i="1">
                <a:solidFill>
                  <a:srgbClr val="A6A6A6"/>
                </a:solidFill>
                <a:latin typeface="Calibri"/>
              </a:rPr>
              <a:t>ShortestPath (continue) </a:t>
            </a:r>
          </a:p>
          <a:p>
            <a:pPr>
              <a:lnSpc>
                <a:spcPts val="2100"/>
              </a:lnSpc>
            </a:pPr>
            <a:endParaRPr lang="en-US" sz="2424" b="1">
              <a:solidFill>
                <a:srgbClr val="A6A6A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0700" y="876300"/>
            <a:ext cx="8249374" cy="131638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defTabSz="914400" eaLnBrk="1" fontAlgn="auto" latinLnBrk="0" hangingPunct="1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4165600" algn="l"/>
              </a:tabLst>
              <a:defRPr/>
            </a:pPr>
            <a:r>
              <a:rPr lang="en-US" sz="2424" b="1">
                <a:solidFill>
                  <a:srgbClr val="0000CC"/>
                </a:solidFill>
                <a:latin typeface="Calibri"/>
              </a:rPr>
              <a:t>4.</a:t>
            </a:r>
            <a:r>
              <a:rPr lang="en-US" sz="2424" b="1">
                <a:solidFill>
                  <a:srgbClr val="000000"/>
                </a:solidFill>
                <a:latin typeface="Calibri"/>
              </a:rPr>
              <a:t>  loop 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(more vertex w not in S) </a:t>
            </a:r>
            <a:r>
              <a:rPr lang="en-US" sz="2424">
                <a:solidFill>
                  <a:srgbClr val="E36C09"/>
                </a:solidFill>
                <a:latin typeface="Calibri"/>
              </a:rPr>
              <a:t>// </a:t>
            </a:r>
            <a:r>
              <a:rPr lang="en-US" sz="2424" i="1">
                <a:solidFill>
                  <a:srgbClr val="E36C09"/>
                </a:solidFill>
                <a:latin typeface="Calibri"/>
              </a:rPr>
              <a:t>Update distances from source </a:t>
            </a:r>
            <a:br>
              <a:rPr lang="en-US" sz="2424">
                <a:solidFill>
                  <a:srgbClr val="E36C09"/>
                </a:solidFill>
                <a:latin typeface="Calibri"/>
              </a:rPr>
            </a:br>
            <a:r>
              <a:rPr lang="en-US" sz="2424">
                <a:solidFill>
                  <a:srgbClr val="E36C09"/>
                </a:solidFill>
                <a:latin typeface="Calibri"/>
              </a:rPr>
              <a:t>	// </a:t>
            </a:r>
            <a:r>
              <a:rPr lang="en-US" sz="2424" i="1">
                <a:solidFill>
                  <a:srgbClr val="E36C09"/>
                </a:solidFill>
                <a:latin typeface="Calibri"/>
              </a:rPr>
              <a:t>to all w not in S </a:t>
            </a:r>
          </a:p>
          <a:p>
            <a:pPr marL="0" marR="0" lvl="0" indent="0" defTabSz="914400" eaLnBrk="1" fontAlgn="auto" latinLnBrk="0" hangingPunct="1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4165600" algn="l"/>
              </a:tabLst>
              <a:defRPr/>
            </a:pPr>
            <a:endParaRPr lang="en-US" sz="2424">
              <a:solidFill>
                <a:srgbClr val="E36C09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03400"/>
            <a:ext cx="7694863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 Find the distance x from source to w in </a:t>
            </a:r>
            <a:r>
              <a:rPr lang="en-US" sz="2424">
                <a:solidFill>
                  <a:srgbClr val="4742C4"/>
                </a:solidFill>
                <a:latin typeface="Calibri"/>
              </a:rPr>
              <a:t>listOfShortestPath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209800"/>
            <a:ext cx="6988516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2" b="1">
                <a:solidFill>
                  <a:srgbClr val="0000CC"/>
                </a:solidFill>
                <a:latin typeface="Calibri"/>
              </a:rPr>
              <a:t>2.</a:t>
            </a:r>
            <a:r>
              <a:rPr lang="en-US" sz="2422" b="1">
                <a:solidFill>
                  <a:srgbClr val="000000"/>
                </a:solidFill>
                <a:latin typeface="Calibri"/>
              </a:rPr>
              <a:t>  if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 ( (minWeight + weight of edge from v to w)  &lt;  x ) </a:t>
            </a:r>
          </a:p>
          <a:p>
            <a:pPr>
              <a:lnSpc>
                <a:spcPts val="2700"/>
              </a:lnSpc>
            </a:pPr>
            <a:endParaRPr lang="en-US" sz="2422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" y="2565400"/>
            <a:ext cx="8646278" cy="16208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1257859" defTabSz="91440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1778000" algn="l"/>
              </a:tabLst>
              <a:defRPr/>
            </a:pPr>
            <a:r>
              <a:rPr lang="en-US" sz="2422" dirty="0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2" dirty="0">
                <a:solidFill>
                  <a:srgbClr val="000000"/>
                </a:solidFill>
                <a:latin typeface="Calibri"/>
              </a:rPr>
              <a:t>  Update distance from source to w in </a:t>
            </a:r>
            <a:r>
              <a:rPr lang="en-US" sz="2422" dirty="0" err="1">
                <a:solidFill>
                  <a:srgbClr val="4742C4"/>
                </a:solidFill>
                <a:latin typeface="Calibri"/>
              </a:rPr>
              <a:t>listOfShortestPath</a:t>
            </a:r>
            <a:r>
              <a:rPr lang="en-US" sz="2422" dirty="0">
                <a:solidFill>
                  <a:srgbClr val="4742C4"/>
                </a:solidFill>
                <a:latin typeface="Calibri"/>
              </a:rPr>
              <a:t> </a:t>
            </a:r>
            <a:br>
              <a:rPr lang="en-US" sz="2422" dirty="0">
                <a:solidFill>
                  <a:srgbClr val="000000"/>
                </a:solidFill>
                <a:latin typeface="Calibri"/>
              </a:rPr>
            </a:br>
            <a:r>
              <a:rPr lang="en-US" sz="2422" dirty="0">
                <a:solidFill>
                  <a:srgbClr val="000000"/>
                </a:solidFill>
                <a:latin typeface="Calibri"/>
              </a:rPr>
              <a:t>	to (</a:t>
            </a:r>
            <a:r>
              <a:rPr lang="en-US" sz="2422" dirty="0" err="1">
                <a:solidFill>
                  <a:srgbClr val="000000"/>
                </a:solidFill>
                <a:latin typeface="Calibri"/>
              </a:rPr>
              <a:t>minWeight</a:t>
            </a:r>
            <a:r>
              <a:rPr lang="en-US" sz="2422" dirty="0">
                <a:solidFill>
                  <a:srgbClr val="000000"/>
                </a:solidFill>
                <a:latin typeface="Calibri"/>
              </a:rPr>
              <a:t> + weight of edge from v to w) </a:t>
            </a:r>
            <a:br>
              <a:rPr lang="en-US" sz="2422" dirty="0">
                <a:solidFill>
                  <a:srgbClr val="000000"/>
                </a:solidFill>
                <a:latin typeface="Calibri"/>
              </a:rPr>
            </a:br>
            <a:r>
              <a:rPr lang="en-US" sz="2422" dirty="0">
                <a:solidFill>
                  <a:srgbClr val="000000"/>
                </a:solidFill>
                <a:latin typeface="Calibri"/>
              </a:rPr>
              <a:t>	End </a:t>
            </a:r>
            <a:r>
              <a:rPr lang="en-US" sz="2422" dirty="0" err="1">
                <a:solidFill>
                  <a:srgbClr val="000000"/>
                </a:solidFill>
                <a:latin typeface="Calibri"/>
              </a:rPr>
              <a:t>ShortestPath</a:t>
            </a:r>
            <a:r>
              <a:rPr lang="en-US" sz="2422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0" marR="0" lvl="0" indent="1257859" defTabSz="91440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1778000" algn="l"/>
              </a:tabLst>
              <a:defRPr/>
            </a:pPr>
            <a:endParaRPr lang="en-US" sz="2422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94300" y="5359400"/>
            <a:ext cx="1702389" cy="57708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sz="2026">
                <a:solidFill>
                  <a:srgbClr val="000000"/>
                </a:solidFill>
                <a:latin typeface="Arial"/>
              </a:rPr>
              <a:t>DistanceNode </a:t>
            </a:r>
          </a:p>
          <a:p>
            <a:pPr>
              <a:lnSpc>
                <a:spcPts val="2300"/>
              </a:lnSpc>
            </a:pP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108700" y="5664200"/>
            <a:ext cx="3002553" cy="108189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900"/>
              </a:lnSpc>
            </a:pPr>
            <a:r>
              <a:rPr lang="en-US" sz="2026">
                <a:solidFill>
                  <a:srgbClr val="FF0000"/>
                </a:solidFill>
                <a:latin typeface="Arial"/>
              </a:rPr>
              <a:t>destination</a:t>
            </a:r>
            <a:r>
              <a:rPr lang="en-US" sz="2026">
                <a:solidFill>
                  <a:srgbClr val="000000"/>
                </a:solidFill>
                <a:latin typeface="Arial"/>
              </a:rPr>
              <a:t> &lt;VertexType&gt; </a:t>
            </a:r>
            <a:br>
              <a:rPr lang="en-US" sz="2026">
                <a:solidFill>
                  <a:srgbClr val="FF0000"/>
                </a:solidFill>
                <a:latin typeface="Arial"/>
              </a:rPr>
            </a:br>
            <a:r>
              <a:rPr lang="en-US" sz="2026">
                <a:solidFill>
                  <a:srgbClr val="FF0000"/>
                </a:solidFill>
                <a:latin typeface="Arial"/>
              </a:rPr>
              <a:t>distance</a:t>
            </a:r>
            <a:r>
              <a:rPr lang="en-US" sz="2026">
                <a:solidFill>
                  <a:srgbClr val="000000"/>
                </a:solidFill>
                <a:latin typeface="Arial"/>
              </a:rPr>
              <a:t> &lt;int&gt; </a:t>
            </a:r>
          </a:p>
          <a:p>
            <a:pPr>
              <a:lnSpc>
                <a:spcPts val="2900"/>
              </a:lnSpc>
            </a:pPr>
            <a:endParaRPr lang="en-US" sz="2026">
              <a:solidFill>
                <a:srgbClr val="FF0000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94300" y="6489700"/>
            <a:ext cx="2236190" cy="51296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2028">
                <a:solidFill>
                  <a:srgbClr val="000000"/>
                </a:solidFill>
                <a:latin typeface="Arial"/>
              </a:rPr>
              <a:t>End DistanceNode </a:t>
            </a:r>
          </a:p>
          <a:p>
            <a:pPr>
              <a:lnSpc>
                <a:spcPts val="2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807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89000" y="279400"/>
            <a:ext cx="7558544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000000"/>
                </a:solidFill>
                <a:latin typeface="Calibri"/>
              </a:rPr>
              <a:t>Another example of Shortest Paths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2400" y="6172200"/>
            <a:ext cx="9082615" cy="64440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lang="en-US" sz="2314" i="1">
                <a:solidFill>
                  <a:srgbClr val="0000CC"/>
                </a:solidFill>
                <a:latin typeface="Arial"/>
              </a:rPr>
              <a:t>Select the adjacent vertex having minimum path to the source vertex </a:t>
            </a:r>
          </a:p>
          <a:p>
            <a:pPr>
              <a:lnSpc>
                <a:spcPts val="2600"/>
              </a:lnSpc>
            </a:pPr>
            <a:endParaRPr lang="en-US"/>
          </a:p>
        </p:txBody>
      </p:sp>
      <p:pic>
        <p:nvPicPr>
          <p:cNvPr id="2050" name="Picture 2" descr="Dijkstra's algorithm runtime">
            <a:extLst>
              <a:ext uri="{FF2B5EF4-FFF2-40B4-BE49-F238E27FC236}">
                <a16:creationId xmlns:a16="http://schemas.microsoft.com/office/drawing/2014/main" id="{DC785F29-2E52-4894-A4F7-9F85A1FCD72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092472"/>
            <a:ext cx="5957094" cy="4673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89253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upload.wikimedia.org/wikipedia/commons/2/23/Dijkstras_progress_animation.gif">
            <a:extLst>
              <a:ext uri="{FF2B5EF4-FFF2-40B4-BE49-F238E27FC236}">
                <a16:creationId xmlns:a16="http://schemas.microsoft.com/office/drawing/2014/main" id="{AD0A4ACD-049F-4DCE-9EDF-76CD020CA56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04800"/>
            <a:ext cx="6019800" cy="601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73717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32000" y="279400"/>
            <a:ext cx="5247270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FF0000"/>
                </a:solidFill>
                <a:latin typeface="Calibri"/>
              </a:rPr>
              <a:t>Minimum spanning tree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4300" y="1079500"/>
            <a:ext cx="1942840" cy="77905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sz="2820" b="1">
                <a:solidFill>
                  <a:srgbClr val="0000CC"/>
                </a:solidFill>
                <a:latin typeface="Calibri"/>
              </a:rPr>
              <a:t>DEFINITION: </a:t>
            </a:r>
          </a:p>
          <a:p>
            <a:pPr>
              <a:lnSpc>
                <a:spcPts val="3200"/>
              </a:lnSpc>
            </a:pP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4300" y="1816100"/>
            <a:ext cx="8104911" cy="150605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4000"/>
              </a:lnSpc>
            </a:pPr>
            <a:r>
              <a:rPr lang="en-US" sz="2818" dirty="0">
                <a:solidFill>
                  <a:srgbClr val="FF0000"/>
                </a:solidFill>
                <a:latin typeface="Calibri"/>
              </a:rPr>
              <a:t>Spanning tree</a:t>
            </a:r>
            <a:r>
              <a:rPr lang="en-US" sz="2818" dirty="0">
                <a:solidFill>
                  <a:srgbClr val="000000"/>
                </a:solidFill>
                <a:latin typeface="Calibri"/>
              </a:rPr>
              <a:t>: tree that contains all of the vertices in a </a:t>
            </a:r>
            <a:br>
              <a:rPr lang="en-US" sz="2820" dirty="0">
                <a:solidFill>
                  <a:srgbClr val="000000"/>
                </a:solidFill>
                <a:latin typeface="Calibri"/>
              </a:rPr>
            </a:br>
            <a:r>
              <a:rPr lang="en-US" sz="2820" dirty="0">
                <a:solidFill>
                  <a:srgbClr val="000000"/>
                </a:solidFill>
                <a:latin typeface="Calibri"/>
              </a:rPr>
              <a:t>connected graph. </a:t>
            </a:r>
          </a:p>
          <a:p>
            <a:pPr>
              <a:lnSpc>
                <a:spcPts val="4000"/>
              </a:lnSpc>
            </a:pPr>
            <a:endParaRPr lang="en-US" sz="2818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" y="3136900"/>
            <a:ext cx="8883842" cy="154131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4100"/>
              </a:lnSpc>
            </a:pPr>
            <a:r>
              <a:rPr lang="en-US" sz="2818" dirty="0">
                <a:solidFill>
                  <a:srgbClr val="FF0000"/>
                </a:solidFill>
                <a:latin typeface="Calibri"/>
              </a:rPr>
              <a:t>Minimum spanning tree</a:t>
            </a:r>
            <a:r>
              <a:rPr lang="en-US" sz="2818" dirty="0">
                <a:solidFill>
                  <a:srgbClr val="000000"/>
                </a:solidFill>
                <a:latin typeface="Calibri"/>
              </a:rPr>
              <a:t>: spanning tree such that the sum of </a:t>
            </a:r>
            <a:br>
              <a:rPr lang="en-US" sz="2820" dirty="0">
                <a:solidFill>
                  <a:srgbClr val="000000"/>
                </a:solidFill>
                <a:latin typeface="Calibri"/>
              </a:rPr>
            </a:br>
            <a:r>
              <a:rPr lang="en-US" sz="2820" dirty="0">
                <a:solidFill>
                  <a:srgbClr val="000000"/>
                </a:solidFill>
                <a:latin typeface="Calibri"/>
              </a:rPr>
              <a:t>the weights of its edges is minimal. </a:t>
            </a:r>
          </a:p>
          <a:p>
            <a:pPr>
              <a:lnSpc>
                <a:spcPts val="4100"/>
              </a:lnSpc>
            </a:pPr>
            <a:endParaRPr lang="en-US" sz="2818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76592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71800" y="279400"/>
            <a:ext cx="3334182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000000"/>
                </a:solidFill>
                <a:latin typeface="Calibri"/>
              </a:rPr>
              <a:t>Spanning Trees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943100" y="5981700"/>
            <a:ext cx="4834978" cy="77905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sz="2818">
                <a:solidFill>
                  <a:srgbClr val="0000CC"/>
                </a:solidFill>
                <a:latin typeface="Calibri"/>
              </a:rPr>
              <a:t>Two spanning trees in a network </a:t>
            </a:r>
          </a:p>
          <a:p>
            <a:pPr>
              <a:lnSpc>
                <a:spcPts val="32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1013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9400" y="292100"/>
            <a:ext cx="8758616" cy="82394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400"/>
              </a:lnSpc>
            </a:pPr>
            <a:r>
              <a:rPr lang="en-US" sz="3612" b="1">
                <a:solidFill>
                  <a:srgbClr val="000000"/>
                </a:solidFill>
                <a:latin typeface="Calibri"/>
              </a:rPr>
              <a:t>A greedy Algorithm: Minimum Spanning Tree </a:t>
            </a:r>
          </a:p>
          <a:p>
            <a:pPr>
              <a:lnSpc>
                <a:spcPts val="34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4300" y="990600"/>
            <a:ext cx="8820876" cy="154138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4100"/>
              </a:lnSpc>
            </a:pPr>
            <a:r>
              <a:rPr lang="en-US">
                <a:sym typeface="Wingdings"/>
              </a:rPr>
              <a:t></a:t>
            </a:r>
            <a:r>
              <a:rPr lang="en-US" sz="2820">
                <a:solidFill>
                  <a:srgbClr val="000000"/>
                </a:solidFill>
                <a:latin typeface="Calibri"/>
                <a:sym typeface="Wingdings"/>
              </a:rPr>
              <a:t> Shortest path algorithm in a connected graph found an its </a:t>
            </a:r>
            <a:br>
              <a:rPr lang="en-US" sz="2820">
                <a:solidFill>
                  <a:srgbClr val="0000CC"/>
                </a:solidFill>
                <a:latin typeface="Calibri"/>
                <a:sym typeface="Wingdings"/>
              </a:rPr>
            </a:br>
            <a:r>
              <a:rPr lang="en-US" sz="2820">
                <a:solidFill>
                  <a:srgbClr val="0000CC"/>
                </a:solidFill>
                <a:latin typeface="Calibri"/>
                <a:sym typeface="Wingdings"/>
              </a:rPr>
              <a:t>spanning tree</a:t>
            </a:r>
            <a:r>
              <a:rPr lang="en-US" sz="2820">
                <a:solidFill>
                  <a:srgbClr val="000000"/>
                </a:solidFill>
                <a:latin typeface="Calibri"/>
                <a:sym typeface="Wingdings"/>
              </a:rPr>
              <a:t>. </a:t>
            </a:r>
          </a:p>
          <a:p>
            <a:pPr>
              <a:lnSpc>
                <a:spcPts val="4100"/>
              </a:lnSpc>
            </a:pPr>
            <a:endParaRPr lang="en-US" sz="2820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" y="2413000"/>
            <a:ext cx="8951810" cy="82073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>
                <a:sym typeface="Wingdings"/>
              </a:rPr>
              <a:t></a:t>
            </a:r>
            <a:r>
              <a:rPr lang="en-US" sz="2818">
                <a:solidFill>
                  <a:srgbClr val="000000"/>
                </a:solidFill>
                <a:latin typeface="Calibri"/>
                <a:sym typeface="Wingdings"/>
              </a:rPr>
              <a:t> What is the algorithm finding the </a:t>
            </a:r>
            <a:r>
              <a:rPr lang="en-US" sz="2818">
                <a:solidFill>
                  <a:srgbClr val="0000CC"/>
                </a:solidFill>
                <a:latin typeface="Calibri"/>
                <a:sym typeface="Wingdings"/>
              </a:rPr>
              <a:t>minimum spanning tree</a:t>
            </a:r>
            <a:r>
              <a:rPr lang="en-US" sz="2818">
                <a:solidFill>
                  <a:srgbClr val="000000"/>
                </a:solidFill>
                <a:latin typeface="Calibri"/>
                <a:sym typeface="Wingdings"/>
              </a:rPr>
              <a:t>? </a:t>
            </a:r>
          </a:p>
          <a:p>
            <a:pPr>
              <a:lnSpc>
                <a:spcPts val="3200"/>
              </a:lnSpc>
            </a:pPr>
            <a:endParaRPr lang="en-US" sz="2818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" y="3136900"/>
            <a:ext cx="8291437" cy="201907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4000"/>
              </a:lnSpc>
            </a:pPr>
            <a:r>
              <a:rPr lang="en-US">
                <a:sym typeface="Wingdings"/>
              </a:rPr>
              <a:t></a:t>
            </a:r>
            <a:r>
              <a:rPr lang="en-US" sz="2818">
                <a:solidFill>
                  <a:srgbClr val="000000"/>
                </a:solidFill>
                <a:latin typeface="Calibri"/>
                <a:sym typeface="Wingdings"/>
              </a:rPr>
              <a:t> A small change to shortest path algorithm can find the </a:t>
            </a:r>
            <a:br>
              <a:rPr lang="en-US" sz="2820">
                <a:solidFill>
                  <a:srgbClr val="000000"/>
                </a:solidFill>
                <a:latin typeface="Calibri"/>
                <a:sym typeface="Wingdings"/>
              </a:rPr>
            </a:br>
            <a:r>
              <a:rPr lang="en-US" sz="2820">
                <a:solidFill>
                  <a:srgbClr val="000000"/>
                </a:solidFill>
                <a:latin typeface="Calibri"/>
                <a:sym typeface="Wingdings"/>
              </a:rPr>
              <a:t>minimum spanning tree, that is </a:t>
            </a:r>
            <a:r>
              <a:rPr lang="en-US" sz="2820">
                <a:solidFill>
                  <a:srgbClr val="FF0000"/>
                </a:solidFill>
                <a:latin typeface="Calibri"/>
                <a:sym typeface="Wingdings"/>
              </a:rPr>
              <a:t>Prim's algorithm</a:t>
            </a:r>
            <a:r>
              <a:rPr lang="en-US" sz="2820">
                <a:solidFill>
                  <a:srgbClr val="000000"/>
                </a:solidFill>
                <a:latin typeface="Calibri"/>
                <a:sym typeface="Wingdings"/>
              </a:rPr>
              <a:t> since </a:t>
            </a:r>
            <a:br>
              <a:rPr lang="en-US" sz="2820">
                <a:solidFill>
                  <a:srgbClr val="000000"/>
                </a:solidFill>
                <a:latin typeface="Calibri"/>
                <a:sym typeface="Wingdings"/>
              </a:rPr>
            </a:br>
            <a:r>
              <a:rPr lang="en-US" sz="2820">
                <a:solidFill>
                  <a:srgbClr val="000000"/>
                </a:solidFill>
                <a:latin typeface="Calibri"/>
                <a:sym typeface="Wingdings"/>
              </a:rPr>
              <a:t>1957. </a:t>
            </a:r>
          </a:p>
          <a:p>
            <a:pPr>
              <a:lnSpc>
                <a:spcPts val="4000"/>
              </a:lnSpc>
            </a:pPr>
            <a:endParaRPr lang="en-US" sz="282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39518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97200" y="292100"/>
            <a:ext cx="3273588" cy="82394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400"/>
              </a:lnSpc>
            </a:pPr>
            <a:r>
              <a:rPr lang="en-US" sz="3612" b="1">
                <a:solidFill>
                  <a:srgbClr val="FF0000"/>
                </a:solidFill>
                <a:latin typeface="Calibri"/>
              </a:rPr>
              <a:t>Prim's algorithm </a:t>
            </a:r>
          </a:p>
          <a:p>
            <a:pPr>
              <a:lnSpc>
                <a:spcPts val="34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03200" y="800100"/>
            <a:ext cx="5513304" cy="273305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5500"/>
              </a:lnSpc>
            </a:pPr>
            <a:r>
              <a:rPr lang="en-US">
                <a:sym typeface="Wingdings"/>
              </a:rPr>
              <a:t></a:t>
            </a:r>
            <a:r>
              <a:rPr lang="en-US" sz="2604">
                <a:solidFill>
                  <a:srgbClr val="000000"/>
                </a:solidFill>
                <a:latin typeface="Calibri"/>
                <a:sym typeface="Wingdings"/>
              </a:rPr>
              <a:t> Let tree is the minimum spanning tree. </a:t>
            </a:r>
            <a:br>
              <a:rPr lang="en-US" sz="2604">
                <a:solidFill>
                  <a:srgbClr val="000000"/>
                </a:solidFill>
                <a:latin typeface="Calibri"/>
                <a:sym typeface="Wingdings"/>
              </a:rPr>
            </a:br>
            <a:r>
              <a:rPr lang="en-US" sz="2604">
                <a:solidFill>
                  <a:srgbClr val="000000"/>
                </a:solidFill>
                <a:latin typeface="Calibri"/>
                <a:sym typeface="Wingdings"/>
              </a:rPr>
              <a:t></a:t>
            </a:r>
            <a:r>
              <a:rPr lang="en-US" sz="2602">
                <a:solidFill>
                  <a:srgbClr val="000000"/>
                </a:solidFill>
                <a:latin typeface="Calibri"/>
                <a:sym typeface="Wingdings"/>
              </a:rPr>
              <a:t> At first, add one vertex to the tree. </a:t>
            </a:r>
            <a:br>
              <a:rPr lang="en-US" sz="2602">
                <a:solidFill>
                  <a:srgbClr val="000000"/>
                </a:solidFill>
                <a:latin typeface="Calibri"/>
                <a:sym typeface="Wingdings"/>
              </a:rPr>
            </a:br>
            <a:r>
              <a:rPr lang="en-US" sz="2602">
                <a:solidFill>
                  <a:srgbClr val="000000"/>
                </a:solidFill>
                <a:latin typeface="Calibri"/>
                <a:sym typeface="Wingdings"/>
              </a:rPr>
              <a:t></a:t>
            </a:r>
            <a:r>
              <a:rPr lang="en-US" sz="2604">
                <a:solidFill>
                  <a:srgbClr val="000000"/>
                </a:solidFill>
                <a:latin typeface="Calibri"/>
                <a:sym typeface="Wingdings"/>
              </a:rPr>
              <a:t> Loop until all vertices are in the tree: </a:t>
            </a:r>
          </a:p>
          <a:p>
            <a:pPr>
              <a:lnSpc>
                <a:spcPts val="5500"/>
              </a:lnSpc>
            </a:pPr>
            <a:endParaRPr lang="en-US" sz="2602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2600" y="3098800"/>
            <a:ext cx="7653185" cy="64120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206">
                <a:solidFill>
                  <a:srgbClr val="000000"/>
                </a:solidFill>
                <a:latin typeface="Calibri"/>
                <a:cs typeface="Arial"/>
              </a:rPr>
              <a:t> Consider the </a:t>
            </a:r>
            <a:r>
              <a:rPr lang="en-US" sz="2206">
                <a:solidFill>
                  <a:srgbClr val="0000CC"/>
                </a:solidFill>
                <a:latin typeface="Calibri"/>
                <a:cs typeface="Arial"/>
              </a:rPr>
              <a:t>adjacent vertices </a:t>
            </a:r>
            <a:r>
              <a:rPr lang="en-US" sz="2206">
                <a:solidFill>
                  <a:srgbClr val="000000"/>
                </a:solidFill>
                <a:latin typeface="Calibri"/>
                <a:cs typeface="Arial"/>
              </a:rPr>
              <a:t>of the vertices already in the tree. </a:t>
            </a:r>
          </a:p>
          <a:p>
            <a:pPr>
              <a:lnSpc>
                <a:spcPts val="2500"/>
              </a:lnSpc>
            </a:pPr>
            <a:endParaRPr lang="en-US" sz="2206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2600" y="3517900"/>
            <a:ext cx="8240782" cy="12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dirty="0">
                <a:latin typeface="Arial"/>
                <a:cs typeface="Arial"/>
              </a:rPr>
              <a:t>•</a:t>
            </a:r>
            <a:r>
              <a:rPr lang="en-US" sz="2206" dirty="0">
                <a:solidFill>
                  <a:srgbClr val="000000"/>
                </a:solidFill>
                <a:latin typeface="Calibri"/>
                <a:cs typeface="Arial"/>
              </a:rPr>
              <a:t> </a:t>
            </a:r>
            <a:r>
              <a:rPr lang="en-US" sz="2206" b="1" dirty="0">
                <a:solidFill>
                  <a:srgbClr val="000000"/>
                </a:solidFill>
                <a:latin typeface="Calibri"/>
                <a:cs typeface="Arial"/>
              </a:rPr>
              <a:t>Examine all the edges </a:t>
            </a:r>
            <a:r>
              <a:rPr lang="en-US" sz="2206" b="1" dirty="0">
                <a:solidFill>
                  <a:srgbClr val="0000CC"/>
                </a:solidFill>
                <a:latin typeface="Calibri"/>
                <a:cs typeface="Arial"/>
              </a:rPr>
              <a:t>from each vertices already in the tree to those </a:t>
            </a:r>
            <a:br>
              <a:rPr lang="en-US" sz="2206" b="1" dirty="0">
                <a:solidFill>
                  <a:srgbClr val="0000CC"/>
                </a:solidFill>
                <a:latin typeface="Calibri"/>
                <a:cs typeface="Arial"/>
              </a:rPr>
            </a:br>
            <a:r>
              <a:rPr lang="en-US" sz="2206" b="1" dirty="0">
                <a:solidFill>
                  <a:srgbClr val="0000CC"/>
                </a:solidFill>
                <a:latin typeface="Calibri"/>
                <a:cs typeface="Arial"/>
              </a:rPr>
              <a:t>adjacent vertices. </a:t>
            </a:r>
          </a:p>
          <a:p>
            <a:pPr>
              <a:lnSpc>
                <a:spcPts val="3200"/>
              </a:lnSpc>
            </a:pPr>
            <a:endParaRPr lang="en-US" sz="2206" dirty="0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2600" y="4381500"/>
            <a:ext cx="8216673" cy="123848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3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206">
                <a:solidFill>
                  <a:srgbClr val="000000"/>
                </a:solidFill>
                <a:latin typeface="Calibri"/>
                <a:cs typeface="Arial"/>
              </a:rPr>
              <a:t> Select the </a:t>
            </a:r>
            <a:r>
              <a:rPr lang="en-US" sz="2206">
                <a:solidFill>
                  <a:srgbClr val="0000CC"/>
                </a:solidFill>
                <a:latin typeface="Calibri"/>
                <a:cs typeface="Arial"/>
              </a:rPr>
              <a:t>smallest edge</a:t>
            </a:r>
            <a:r>
              <a:rPr lang="en-US" sz="2206">
                <a:solidFill>
                  <a:srgbClr val="000000"/>
                </a:solidFill>
                <a:latin typeface="Calibri"/>
                <a:cs typeface="Arial"/>
              </a:rPr>
              <a:t> and insert the corresponding adjacent vertex </a:t>
            </a:r>
            <a:br>
              <a:rPr lang="en-US" sz="2206">
                <a:solidFill>
                  <a:srgbClr val="000000"/>
                </a:solidFill>
                <a:latin typeface="Calibri"/>
                <a:cs typeface="Arial"/>
              </a:rPr>
            </a:br>
            <a:r>
              <a:rPr lang="en-US" sz="2206">
                <a:solidFill>
                  <a:srgbClr val="000000"/>
                </a:solidFill>
                <a:latin typeface="Calibri"/>
                <a:cs typeface="Arial"/>
              </a:rPr>
              <a:t>into the tree</a:t>
            </a:r>
            <a:r>
              <a:rPr lang="en-US" sz="2422">
                <a:solidFill>
                  <a:srgbClr val="000000"/>
                </a:solidFill>
                <a:latin typeface="Calibri"/>
                <a:cs typeface="Arial"/>
              </a:rPr>
              <a:t>. </a:t>
            </a:r>
          </a:p>
          <a:p>
            <a:pPr>
              <a:lnSpc>
                <a:spcPts val="3300"/>
              </a:lnSpc>
            </a:pPr>
            <a:endParaRPr lang="en-US" sz="2206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95588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71700" y="114300"/>
            <a:ext cx="4934621" cy="77905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sz="3612" b="1">
                <a:solidFill>
                  <a:srgbClr val="FF0000"/>
                </a:solidFill>
                <a:latin typeface="Calibri"/>
              </a:rPr>
              <a:t>Prim's algorithm in detail </a:t>
            </a:r>
          </a:p>
          <a:p>
            <a:pPr>
              <a:lnSpc>
                <a:spcPts val="32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03200" y="914400"/>
            <a:ext cx="8380371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424">
                <a:solidFill>
                  <a:srgbClr val="000000"/>
                </a:solidFill>
                <a:latin typeface="Calibri"/>
                <a:cs typeface="Arial"/>
              </a:rPr>
              <a:t> Let S is the set of vertices already in the minimum spanning tree.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03200" y="1587500"/>
            <a:ext cx="3718710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424">
                <a:solidFill>
                  <a:srgbClr val="000000"/>
                </a:solidFill>
                <a:latin typeface="Calibri"/>
                <a:cs typeface="Arial"/>
              </a:rPr>
              <a:t> At first, add one vertex to S.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03200" y="2184400"/>
            <a:ext cx="8822736" cy="215309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4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422">
                <a:solidFill>
                  <a:srgbClr val="000000"/>
                </a:solidFill>
                <a:latin typeface="Calibri"/>
                <a:cs typeface="Arial"/>
              </a:rPr>
              <a:t> For each vertex v not in S, maintain the distance from a vertex x to v, </a:t>
            </a:r>
            <a:br>
              <a:rPr lang="en-US" sz="2422">
                <a:solidFill>
                  <a:srgbClr val="000000"/>
                </a:solidFill>
                <a:latin typeface="Calibri"/>
                <a:cs typeface="Arial"/>
              </a:rPr>
            </a:br>
            <a:r>
              <a:rPr lang="en-US" sz="2422">
                <a:solidFill>
                  <a:srgbClr val="000000"/>
                </a:solidFill>
                <a:latin typeface="Calibri"/>
                <a:cs typeface="Arial"/>
              </a:rPr>
              <a:t>where x is a vertex in S and the edge(x,v) is the smallest in all edges </a:t>
            </a:r>
            <a:br>
              <a:rPr lang="en-US" sz="2422">
                <a:solidFill>
                  <a:srgbClr val="000000"/>
                </a:solidFill>
                <a:latin typeface="Calibri"/>
                <a:cs typeface="Arial"/>
              </a:rPr>
            </a:br>
            <a:r>
              <a:rPr lang="en-US" sz="2422">
                <a:solidFill>
                  <a:srgbClr val="000000"/>
                </a:solidFill>
                <a:latin typeface="Calibri"/>
                <a:cs typeface="Arial"/>
              </a:rPr>
              <a:t>from another vertices in S to v (</a:t>
            </a:r>
            <a:r>
              <a:rPr lang="en-US" sz="2422">
                <a:solidFill>
                  <a:srgbClr val="0000CC"/>
                </a:solidFill>
                <a:latin typeface="Calibri"/>
                <a:cs typeface="Arial"/>
              </a:rPr>
              <a:t>this edge(x,v) is called the distance </a:t>
            </a:r>
            <a:br>
              <a:rPr lang="en-US" sz="2422">
                <a:solidFill>
                  <a:srgbClr val="0000CC"/>
                </a:solidFill>
                <a:latin typeface="Calibri"/>
                <a:cs typeface="Arial"/>
              </a:rPr>
            </a:br>
            <a:r>
              <a:rPr lang="en-US" sz="2422">
                <a:solidFill>
                  <a:srgbClr val="0000CC"/>
                </a:solidFill>
                <a:latin typeface="Calibri"/>
                <a:cs typeface="Arial"/>
              </a:rPr>
              <a:t>from S to v</a:t>
            </a:r>
            <a:r>
              <a:rPr lang="en-US" sz="2422">
                <a:solidFill>
                  <a:srgbClr val="000000"/>
                </a:solidFill>
                <a:latin typeface="Calibri"/>
                <a:cs typeface="Arial"/>
              </a:rPr>
              <a:t>). As usual, all edges not being in graph have infinity value. </a:t>
            </a:r>
          </a:p>
          <a:p>
            <a:pPr>
              <a:lnSpc>
                <a:spcPts val="3400"/>
              </a:lnSpc>
            </a:pPr>
            <a:endParaRPr lang="en-US" sz="2422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3200" y="4178300"/>
            <a:ext cx="8748549" cy="128112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4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424">
                <a:solidFill>
                  <a:srgbClr val="000000"/>
                </a:solidFill>
                <a:latin typeface="Calibri"/>
                <a:cs typeface="Arial"/>
              </a:rPr>
              <a:t> To determine what vertex to add to S at each step, apply the </a:t>
            </a:r>
            <a:r>
              <a:rPr lang="en-US" sz="2424">
                <a:solidFill>
                  <a:srgbClr val="0000CC"/>
                </a:solidFill>
                <a:latin typeface="Calibri"/>
                <a:cs typeface="Arial"/>
              </a:rPr>
              <a:t>greedy </a:t>
            </a:r>
            <a:br>
              <a:rPr lang="en-US" sz="2424">
                <a:solidFill>
                  <a:srgbClr val="0000CC"/>
                </a:solidFill>
                <a:latin typeface="Calibri"/>
                <a:cs typeface="Arial"/>
              </a:rPr>
            </a:br>
            <a:r>
              <a:rPr lang="en-US" sz="2424">
                <a:solidFill>
                  <a:srgbClr val="0000CC"/>
                </a:solidFill>
                <a:latin typeface="Calibri"/>
                <a:cs typeface="Arial"/>
              </a:rPr>
              <a:t>criterion </a:t>
            </a:r>
            <a:r>
              <a:rPr lang="en-US" sz="2424">
                <a:solidFill>
                  <a:srgbClr val="000000"/>
                </a:solidFill>
                <a:latin typeface="Calibri"/>
                <a:cs typeface="Arial"/>
              </a:rPr>
              <a:t>of choosing the vertex v with the</a:t>
            </a:r>
            <a:r>
              <a:rPr lang="en-US" sz="2424">
                <a:solidFill>
                  <a:srgbClr val="0000CC"/>
                </a:solidFill>
                <a:latin typeface="Calibri"/>
                <a:cs typeface="Arial"/>
              </a:rPr>
              <a:t> smallest distance from S. </a:t>
            </a:r>
          </a:p>
          <a:p>
            <a:pPr>
              <a:lnSpc>
                <a:spcPts val="3400"/>
              </a:lnSpc>
            </a:pPr>
            <a:endParaRPr lang="en-US" sz="2424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3200" y="5346700"/>
            <a:ext cx="1566326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424">
                <a:solidFill>
                  <a:srgbClr val="000000"/>
                </a:solidFill>
                <a:latin typeface="Calibri"/>
                <a:cs typeface="Arial"/>
              </a:rPr>
              <a:t> Add v to S.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03200" y="6019800"/>
            <a:ext cx="8604791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422">
                <a:solidFill>
                  <a:srgbClr val="0000CC"/>
                </a:solidFill>
                <a:latin typeface="Calibri"/>
                <a:cs typeface="Arial"/>
              </a:rPr>
              <a:t> Update distances from S to all vertices v not in S </a:t>
            </a:r>
            <a:r>
              <a:rPr lang="en-US" sz="2422">
                <a:solidFill>
                  <a:srgbClr val="000000"/>
                </a:solidFill>
                <a:latin typeface="Calibri"/>
                <a:cs typeface="Arial"/>
              </a:rPr>
              <a:t>if they are smaller </a:t>
            </a:r>
          </a:p>
          <a:p>
            <a:pPr>
              <a:lnSpc>
                <a:spcPts val="2700"/>
              </a:lnSpc>
            </a:pPr>
            <a:endParaRPr lang="en-US" sz="2422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3700" y="6438900"/>
            <a:ext cx="4969566" cy="37305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424">
                <a:solidFill>
                  <a:srgbClr val="000000"/>
                </a:solidFill>
                <a:latin typeface="Calibri"/>
              </a:rPr>
              <a:t>than the previously recorded distances.</a:t>
            </a:r>
          </a:p>
        </p:txBody>
      </p:sp>
    </p:spTree>
    <p:extLst>
      <p:ext uri="{BB962C8B-B14F-4D97-AF65-F5344CB8AC3E}">
        <p14:creationId xmlns:p14="http://schemas.microsoft.com/office/powerpoint/2010/main" val="2790025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97200" y="292100"/>
            <a:ext cx="3273588" cy="82394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400"/>
              </a:lnSpc>
            </a:pPr>
            <a:r>
              <a:rPr lang="en-US" sz="3612" b="1">
                <a:solidFill>
                  <a:srgbClr val="FF0000"/>
                </a:solidFill>
                <a:latin typeface="Calibri"/>
              </a:rPr>
              <a:t>Prim's algorithm </a:t>
            </a:r>
          </a:p>
          <a:p>
            <a:pPr>
              <a:lnSpc>
                <a:spcPts val="34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41300" y="6070600"/>
            <a:ext cx="8824532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 i="1">
                <a:solidFill>
                  <a:srgbClr val="0000CC"/>
                </a:solidFill>
                <a:latin typeface="Arial"/>
              </a:rPr>
              <a:t>Select the adjacent vertex having minimum edge to the vertices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41300" y="6426200"/>
            <a:ext cx="2579232" cy="37305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424" i="1">
                <a:solidFill>
                  <a:srgbClr val="0000CC"/>
                </a:solidFill>
                <a:latin typeface="Arial"/>
              </a:rPr>
              <a:t>already in the tree.</a:t>
            </a:r>
          </a:p>
        </p:txBody>
      </p:sp>
    </p:spTree>
    <p:extLst>
      <p:ext uri="{BB962C8B-B14F-4D97-AF65-F5344CB8AC3E}">
        <p14:creationId xmlns:p14="http://schemas.microsoft.com/office/powerpoint/2010/main" val="308217973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97200" y="292100"/>
            <a:ext cx="3273588" cy="82394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400"/>
              </a:lnSpc>
            </a:pPr>
            <a:r>
              <a:rPr lang="en-US" sz="3612" b="1">
                <a:solidFill>
                  <a:srgbClr val="FF0000"/>
                </a:solidFill>
                <a:latin typeface="Calibri"/>
              </a:rPr>
              <a:t>Prim's algorithm </a:t>
            </a:r>
          </a:p>
          <a:p>
            <a:pPr>
              <a:lnSpc>
                <a:spcPts val="3400"/>
              </a:lnSpc>
            </a:pP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4300" y="990600"/>
            <a:ext cx="8482900" cy="154138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defTabSz="914400" eaLnBrk="1" fontAlgn="auto" latinLnBrk="0" hangingPunct="1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4660900" algn="l"/>
              </a:tabLst>
              <a:defRPr/>
            </a:pPr>
            <a:r>
              <a:rPr lang="en-US" sz="2820">
                <a:solidFill>
                  <a:srgbClr val="000000"/>
                </a:solidFill>
                <a:latin typeface="Calibri"/>
              </a:rPr>
              <a:t>&lt;void&gt; </a:t>
            </a:r>
            <a:r>
              <a:rPr lang="en-US" sz="2820" b="1">
                <a:solidFill>
                  <a:srgbClr val="FF0000"/>
                </a:solidFill>
                <a:latin typeface="Calibri"/>
              </a:rPr>
              <a:t>MinimumSpanningTree</a:t>
            </a:r>
            <a:r>
              <a:rPr lang="en-US" sz="2820">
                <a:solidFill>
                  <a:srgbClr val="000000"/>
                </a:solidFill>
                <a:latin typeface="Calibri"/>
              </a:rPr>
              <a:t> (val</a:t>
            </a:r>
            <a:r>
              <a:rPr lang="en-US" sz="2820">
                <a:solidFill>
                  <a:srgbClr val="0000CC"/>
                </a:solidFill>
                <a:latin typeface="Calibri"/>
              </a:rPr>
              <a:t> source</a:t>
            </a:r>
            <a:r>
              <a:rPr lang="en-US" sz="2820">
                <a:solidFill>
                  <a:srgbClr val="000000"/>
                </a:solidFill>
                <a:latin typeface="Calibri"/>
              </a:rPr>
              <a:t> &lt;VertexType&gt;, </a:t>
            </a:r>
            <a:br>
              <a:rPr lang="en-US" sz="2820">
                <a:solidFill>
                  <a:srgbClr val="000000"/>
                </a:solidFill>
                <a:latin typeface="Calibri"/>
              </a:rPr>
            </a:br>
            <a:r>
              <a:rPr lang="en-US" sz="2820">
                <a:solidFill>
                  <a:srgbClr val="000000"/>
                </a:solidFill>
                <a:latin typeface="Calibri"/>
              </a:rPr>
              <a:t>	ref </a:t>
            </a:r>
            <a:r>
              <a:rPr lang="en-US" sz="2820">
                <a:solidFill>
                  <a:srgbClr val="4742C4"/>
                </a:solidFill>
                <a:latin typeface="Calibri"/>
              </a:rPr>
              <a:t>tree </a:t>
            </a:r>
            <a:r>
              <a:rPr lang="en-US" sz="2820">
                <a:solidFill>
                  <a:srgbClr val="000000"/>
                </a:solidFill>
                <a:latin typeface="Calibri"/>
              </a:rPr>
              <a:t>&lt;Graph&gt;) </a:t>
            </a:r>
          </a:p>
          <a:p>
            <a:pPr marL="0" marR="0" lvl="0" indent="0" defTabSz="914400" eaLnBrk="1" fontAlgn="auto" latinLnBrk="0" hangingPunct="1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4660900" algn="l"/>
              </a:tabLst>
              <a:defRPr/>
            </a:pPr>
            <a:endParaRPr lang="en-US" sz="2820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" y="2032000"/>
            <a:ext cx="8591070" cy="128105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defTabSz="914400" eaLnBrk="1" fontAlgn="auto" latinLnBrk="0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42900" algn="l"/>
              </a:tabLst>
              <a:defRPr/>
            </a:pPr>
            <a:r>
              <a:rPr lang="en-US" sz="2422">
                <a:solidFill>
                  <a:srgbClr val="000000"/>
                </a:solidFill>
                <a:latin typeface="Calibri"/>
              </a:rPr>
              <a:t>Finds the minimum spanning tree of a connected component of the </a:t>
            </a:r>
            <a:br>
              <a:rPr lang="en-US" sz="2422">
                <a:solidFill>
                  <a:srgbClr val="000000"/>
                </a:solidFill>
                <a:latin typeface="Calibri"/>
              </a:rPr>
            </a:br>
            <a:r>
              <a:rPr lang="en-US" sz="2422">
                <a:solidFill>
                  <a:srgbClr val="000000"/>
                </a:solidFill>
                <a:latin typeface="Calibri"/>
              </a:rPr>
              <a:t>	original graph that contains vertex </a:t>
            </a:r>
            <a:r>
              <a:rPr lang="en-US" sz="2422">
                <a:solidFill>
                  <a:srgbClr val="0000CC"/>
                </a:solidFill>
                <a:latin typeface="Calibri"/>
              </a:rPr>
              <a:t>source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. </a:t>
            </a:r>
          </a:p>
          <a:p>
            <a:pPr marL="0" marR="0" lvl="0" indent="0" defTabSz="914400" eaLnBrk="1" fontAlgn="auto" latinLnBrk="0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42900" algn="l"/>
              </a:tabLst>
              <a:defRPr/>
            </a:pPr>
            <a:endParaRPr lang="en-US" sz="2422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" y="4724400"/>
            <a:ext cx="2604174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00"/>
                </a:solidFill>
                <a:latin typeface="Calibri"/>
              </a:rPr>
              <a:t>Uses local variables: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14300" y="5168900"/>
            <a:ext cx="833498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424">
                <a:solidFill>
                  <a:srgbClr val="000000"/>
                </a:solidFill>
                <a:latin typeface="Calibri"/>
                <a:cs typeface="Arial"/>
              </a:rPr>
              <a:t> Set S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" y="5613400"/>
            <a:ext cx="2648674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424">
                <a:solidFill>
                  <a:srgbClr val="000000"/>
                </a:solidFill>
                <a:latin typeface="Calibri"/>
                <a:cs typeface="Arial"/>
              </a:rPr>
              <a:t> listOfDistanceNode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4300" y="6045200"/>
            <a:ext cx="2742097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sz="2424">
                <a:solidFill>
                  <a:srgbClr val="000000"/>
                </a:solidFill>
                <a:latin typeface="Calibri"/>
                <a:cs typeface="Arial"/>
              </a:rPr>
              <a:t> continue &lt;boolean&gt;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118100" y="5041900"/>
            <a:ext cx="1702389" cy="4648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2028">
                <a:solidFill>
                  <a:srgbClr val="000000"/>
                </a:solidFill>
                <a:latin typeface="Arial"/>
              </a:rPr>
              <a:t>DistanceNode </a:t>
            </a:r>
          </a:p>
          <a:p>
            <a:pPr>
              <a:lnSpc>
                <a:spcPts val="1800"/>
              </a:lnSpc>
            </a:pPr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118100" y="5295900"/>
            <a:ext cx="3984232" cy="18256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915035" defTabSz="914400" eaLnBrk="1" fontAlgn="auto" latinLnBrk="0" hangingPunct="1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914400" algn="l"/>
              </a:tabLst>
              <a:defRPr/>
            </a:pPr>
            <a:r>
              <a:rPr lang="en-US" sz="2028">
                <a:solidFill>
                  <a:srgbClr val="FF0000"/>
                </a:solidFill>
                <a:latin typeface="Arial"/>
              </a:rPr>
              <a:t>vertexFrom</a:t>
            </a:r>
            <a:r>
              <a:rPr lang="en-US" sz="2028">
                <a:solidFill>
                  <a:srgbClr val="000000"/>
                </a:solidFill>
                <a:latin typeface="Arial"/>
              </a:rPr>
              <a:t> &lt;VertexType&gt; </a:t>
            </a:r>
            <a:br>
              <a:rPr lang="en-US" sz="2028">
                <a:solidFill>
                  <a:srgbClr val="FF0000"/>
                </a:solidFill>
                <a:latin typeface="Arial"/>
              </a:rPr>
            </a:br>
            <a:r>
              <a:rPr lang="en-US" sz="2028">
                <a:solidFill>
                  <a:srgbClr val="FF0000"/>
                </a:solidFill>
                <a:latin typeface="Arial"/>
              </a:rPr>
              <a:t>	vertexTo</a:t>
            </a:r>
            <a:r>
              <a:rPr lang="en-US" sz="2028">
                <a:solidFill>
                  <a:srgbClr val="000000"/>
                </a:solidFill>
                <a:latin typeface="Arial"/>
              </a:rPr>
              <a:t> &lt;VertexType&gt; </a:t>
            </a:r>
            <a:br>
              <a:rPr lang="en-US" sz="2026">
                <a:solidFill>
                  <a:srgbClr val="FF0000"/>
                </a:solidFill>
                <a:latin typeface="Arial"/>
              </a:rPr>
            </a:br>
            <a:r>
              <a:rPr lang="en-US" sz="2026">
                <a:solidFill>
                  <a:srgbClr val="FF0000"/>
                </a:solidFill>
                <a:latin typeface="Arial"/>
              </a:rPr>
              <a:t>	distance</a:t>
            </a:r>
            <a:r>
              <a:rPr lang="en-US" sz="2026">
                <a:solidFill>
                  <a:srgbClr val="000000"/>
                </a:solidFill>
                <a:latin typeface="Arial"/>
              </a:rPr>
              <a:t> &lt;WeightType&gt; </a:t>
            </a:r>
            <a:br>
              <a:rPr lang="en-US" sz="2026">
                <a:solidFill>
                  <a:srgbClr val="000000"/>
                </a:solidFill>
                <a:latin typeface="Arial"/>
              </a:rPr>
            </a:br>
            <a:r>
              <a:rPr lang="en-US" sz="2026">
                <a:solidFill>
                  <a:srgbClr val="000000"/>
                </a:solidFill>
                <a:latin typeface="Arial"/>
              </a:rPr>
              <a:t>End DistanceNode </a:t>
            </a:r>
          </a:p>
          <a:p>
            <a:pPr marL="0" marR="0" lvl="0" indent="915035" defTabSz="914400" eaLnBrk="1" fontAlgn="auto" latinLnBrk="0" hangingPunct="1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914400" algn="l"/>
              </a:tabLst>
              <a:defRPr/>
            </a:pPr>
            <a:endParaRPr lang="en-US" sz="2026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177" y="3361547"/>
            <a:ext cx="7973378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92534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" y="139700"/>
            <a:ext cx="1847365" cy="55335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4">
                <a:solidFill>
                  <a:srgbClr val="4742C4"/>
                </a:solidFill>
                <a:latin typeface="Calibri"/>
              </a:rPr>
              <a:t>  tree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.clear() </a:t>
            </a:r>
          </a:p>
          <a:p>
            <a:pPr>
              <a:lnSpc>
                <a:spcPts val="2100"/>
              </a:lnSpc>
            </a:pPr>
            <a:endParaRPr lang="en-US" sz="2424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" y="520700"/>
            <a:ext cx="3609899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2.</a:t>
            </a:r>
            <a:r>
              <a:rPr lang="en-US" sz="2424">
                <a:solidFill>
                  <a:srgbClr val="4742C4"/>
                </a:solidFill>
                <a:latin typeface="Calibri"/>
              </a:rPr>
              <a:t>  tree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.InsertVertex(</a:t>
            </a:r>
            <a:r>
              <a:rPr lang="en-US" sz="2424">
                <a:solidFill>
                  <a:srgbClr val="0000CC"/>
                </a:solidFill>
                <a:latin typeface="Calibri"/>
              </a:rPr>
              <a:t>source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)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" y="952500"/>
            <a:ext cx="2860142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3.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 Add </a:t>
            </a:r>
            <a:r>
              <a:rPr lang="en-US" sz="2424">
                <a:solidFill>
                  <a:srgbClr val="0000CC"/>
                </a:solidFill>
                <a:latin typeface="Calibri"/>
              </a:rPr>
              <a:t>source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to set S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" y="1397000"/>
            <a:ext cx="3757952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4.</a:t>
            </a:r>
            <a:r>
              <a:rPr lang="en-US" sz="2424">
                <a:solidFill>
                  <a:srgbClr val="4742C4"/>
                </a:solidFill>
                <a:latin typeface="Calibri"/>
              </a:rPr>
              <a:t>  listOfDistanceNode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.clear()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" y="1841500"/>
            <a:ext cx="4827219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5.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 distanceNode.vertexFrom = </a:t>
            </a:r>
            <a:r>
              <a:rPr lang="en-US" sz="2424">
                <a:solidFill>
                  <a:srgbClr val="0000CC"/>
                </a:solidFill>
                <a:latin typeface="Calibri"/>
              </a:rPr>
              <a:t>source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" y="2273300"/>
            <a:ext cx="9006248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 b="1">
                <a:solidFill>
                  <a:srgbClr val="0000CC"/>
                </a:solidFill>
                <a:latin typeface="Calibri"/>
              </a:rPr>
              <a:t>6.</a:t>
            </a:r>
            <a:r>
              <a:rPr lang="en-US" sz="2424" b="1">
                <a:solidFill>
                  <a:srgbClr val="000000"/>
                </a:solidFill>
                <a:latin typeface="Calibri"/>
              </a:rPr>
              <a:t>  loop 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(more vertex v in </a:t>
            </a:r>
            <a:r>
              <a:rPr lang="en-US" sz="2424">
                <a:solidFill>
                  <a:srgbClr val="FF3399"/>
                </a:solidFill>
                <a:latin typeface="Calibri"/>
              </a:rPr>
              <a:t>graph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)</a:t>
            </a:r>
            <a:r>
              <a:rPr lang="en-US" sz="2424">
                <a:solidFill>
                  <a:srgbClr val="E36C09"/>
                </a:solidFill>
                <a:latin typeface="Calibri"/>
              </a:rPr>
              <a:t>//</a:t>
            </a:r>
            <a:r>
              <a:rPr lang="en-US" sz="2424" i="1">
                <a:solidFill>
                  <a:srgbClr val="E36C09"/>
                </a:solidFill>
                <a:latin typeface="Calibri"/>
              </a:rPr>
              <a:t>Initiate all distances from source to v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E36C09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0700" y="2717800"/>
            <a:ext cx="3757567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 distanceNode.vertexTo = v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0700" y="3073400"/>
            <a:ext cx="8515152" cy="13163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5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2.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 distanceNode.distance = weight of edge(source, v) </a:t>
            </a:r>
            <a:r>
              <a:rPr lang="en-US" sz="2424">
                <a:solidFill>
                  <a:srgbClr val="E36C09"/>
                </a:solidFill>
                <a:latin typeface="Calibri"/>
              </a:rPr>
              <a:t>// =</a:t>
            </a:r>
            <a:r>
              <a:rPr lang="en-US" sz="2424" i="1">
                <a:solidFill>
                  <a:srgbClr val="E36C09"/>
                </a:solidFill>
                <a:latin typeface="Calibri"/>
              </a:rPr>
              <a:t> infinity if </a:t>
            </a:r>
            <a:br>
              <a:rPr lang="en-US" sz="2422">
                <a:solidFill>
                  <a:srgbClr val="E36C09"/>
                </a:solidFill>
                <a:latin typeface="Calibri"/>
              </a:rPr>
            </a:br>
            <a:r>
              <a:rPr lang="en-US" sz="2422">
                <a:solidFill>
                  <a:srgbClr val="E36C09"/>
                </a:solidFill>
                <a:latin typeface="Calibri"/>
              </a:rPr>
              <a:t>// </a:t>
            </a:r>
            <a:r>
              <a:rPr lang="en-US" sz="2422" i="1">
                <a:solidFill>
                  <a:srgbClr val="E36C09"/>
                </a:solidFill>
                <a:latin typeface="Calibri"/>
              </a:rPr>
              <a:t>edge(source,v) isn't in graph. </a:t>
            </a:r>
          </a:p>
          <a:p>
            <a:pPr>
              <a:lnSpc>
                <a:spcPts val="3500"/>
              </a:lnSpc>
            </a:pPr>
            <a:endParaRPr lang="en-US" sz="2422">
              <a:solidFill>
                <a:srgbClr val="E36C09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0700" y="4025900"/>
            <a:ext cx="5600572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2">
                <a:solidFill>
                  <a:srgbClr val="0000CC"/>
                </a:solidFill>
                <a:latin typeface="Calibri"/>
              </a:rPr>
              <a:t>3.</a:t>
            </a:r>
            <a:r>
              <a:rPr lang="en-US" sz="2422">
                <a:solidFill>
                  <a:srgbClr val="4742C4"/>
                </a:solidFill>
                <a:latin typeface="Calibri"/>
              </a:rPr>
              <a:t>  listOfDistanceNode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.Insert(distanceNode) </a:t>
            </a:r>
          </a:p>
          <a:p>
            <a:pPr>
              <a:lnSpc>
                <a:spcPts val="2700"/>
              </a:lnSpc>
            </a:pPr>
            <a:endParaRPr lang="en-US" sz="2422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18100" y="4991100"/>
            <a:ext cx="1702389" cy="57708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sz="2028">
                <a:solidFill>
                  <a:srgbClr val="000000"/>
                </a:solidFill>
                <a:latin typeface="Arial"/>
              </a:rPr>
              <a:t>DistanceNode </a:t>
            </a:r>
          </a:p>
          <a:p>
            <a:pPr>
              <a:lnSpc>
                <a:spcPts val="2300"/>
              </a:lnSpc>
            </a:pPr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118100" y="5295900"/>
            <a:ext cx="3984232" cy="18256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915035" defTabSz="914400" eaLnBrk="1" fontAlgn="auto" latinLnBrk="0" hangingPunct="1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914400" algn="l"/>
              </a:tabLst>
              <a:defRPr/>
            </a:pPr>
            <a:r>
              <a:rPr lang="en-US" sz="2028">
                <a:solidFill>
                  <a:srgbClr val="FF0000"/>
                </a:solidFill>
                <a:latin typeface="Arial"/>
              </a:rPr>
              <a:t>vertexFrom</a:t>
            </a:r>
            <a:r>
              <a:rPr lang="en-US" sz="2028">
                <a:solidFill>
                  <a:srgbClr val="000000"/>
                </a:solidFill>
                <a:latin typeface="Arial"/>
              </a:rPr>
              <a:t> &lt;VertexType&gt; </a:t>
            </a:r>
            <a:br>
              <a:rPr lang="en-US" sz="2028">
                <a:solidFill>
                  <a:srgbClr val="FF0000"/>
                </a:solidFill>
                <a:latin typeface="Arial"/>
              </a:rPr>
            </a:br>
            <a:r>
              <a:rPr lang="en-US" sz="2028">
                <a:solidFill>
                  <a:srgbClr val="FF0000"/>
                </a:solidFill>
                <a:latin typeface="Arial"/>
              </a:rPr>
              <a:t>	vertexTo</a:t>
            </a:r>
            <a:r>
              <a:rPr lang="en-US" sz="2028">
                <a:solidFill>
                  <a:srgbClr val="000000"/>
                </a:solidFill>
                <a:latin typeface="Arial"/>
              </a:rPr>
              <a:t> &lt;VertexType&gt; </a:t>
            </a:r>
            <a:br>
              <a:rPr lang="en-US" sz="2026">
                <a:solidFill>
                  <a:srgbClr val="FF0000"/>
                </a:solidFill>
                <a:latin typeface="Arial"/>
              </a:rPr>
            </a:br>
            <a:r>
              <a:rPr lang="en-US" sz="2026">
                <a:solidFill>
                  <a:srgbClr val="FF0000"/>
                </a:solidFill>
                <a:latin typeface="Arial"/>
              </a:rPr>
              <a:t>	distance</a:t>
            </a:r>
            <a:r>
              <a:rPr lang="en-US" sz="2026">
                <a:solidFill>
                  <a:srgbClr val="000000"/>
                </a:solidFill>
                <a:latin typeface="Arial"/>
              </a:rPr>
              <a:t> &lt;WeightType&gt; </a:t>
            </a:r>
            <a:br>
              <a:rPr lang="en-US" sz="2026">
                <a:solidFill>
                  <a:srgbClr val="000000"/>
                </a:solidFill>
                <a:latin typeface="Arial"/>
              </a:rPr>
            </a:br>
            <a:r>
              <a:rPr lang="en-US" sz="2026">
                <a:solidFill>
                  <a:srgbClr val="000000"/>
                </a:solidFill>
                <a:latin typeface="Arial"/>
              </a:rPr>
              <a:t>	End DistanceNode </a:t>
            </a:r>
          </a:p>
          <a:p>
            <a:pPr marL="0" marR="0" lvl="0" indent="915035" defTabSz="914400" eaLnBrk="1" fontAlgn="auto" latinLnBrk="0" hangingPunct="1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914400" algn="l"/>
              </a:tabLst>
              <a:defRPr/>
            </a:pPr>
            <a:endParaRPr lang="en-US" sz="2026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355616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8900" y="139700"/>
            <a:ext cx="2524089" cy="55335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7.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 continue = TRUE </a:t>
            </a:r>
          </a:p>
          <a:p>
            <a:pPr>
              <a:lnSpc>
                <a:spcPts val="2100"/>
              </a:lnSpc>
            </a:pPr>
            <a:endParaRPr lang="en-US" sz="2424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8900" y="457200"/>
            <a:ext cx="8880252" cy="128112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defTabSz="914400" eaLnBrk="1" fontAlgn="auto" latinLnBrk="0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5753100" algn="l"/>
              </a:tabLst>
              <a:defRPr/>
            </a:pPr>
            <a:r>
              <a:rPr lang="en-US" sz="2424" b="1">
                <a:solidFill>
                  <a:srgbClr val="0000CC"/>
                </a:solidFill>
                <a:latin typeface="Calibri"/>
              </a:rPr>
              <a:t>8.</a:t>
            </a:r>
            <a:r>
              <a:rPr lang="en-US" sz="2424" b="1">
                <a:solidFill>
                  <a:srgbClr val="000000"/>
                </a:solidFill>
                <a:latin typeface="Calibri"/>
              </a:rPr>
              <a:t>  loop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(more vertex not in S) and (continue) </a:t>
            </a:r>
            <a:r>
              <a:rPr lang="en-US" sz="2424">
                <a:solidFill>
                  <a:srgbClr val="E36C09"/>
                </a:solidFill>
                <a:latin typeface="Calibri"/>
              </a:rPr>
              <a:t>//</a:t>
            </a:r>
            <a:r>
              <a:rPr lang="en-US" sz="2424" i="1">
                <a:solidFill>
                  <a:srgbClr val="E36C09"/>
                </a:solidFill>
                <a:latin typeface="Calibri"/>
              </a:rPr>
              <a:t>Add one vertex to S on </a:t>
            </a:r>
            <a:br>
              <a:rPr lang="en-US" sz="2424">
                <a:solidFill>
                  <a:srgbClr val="E36C09"/>
                </a:solidFill>
                <a:latin typeface="Calibri"/>
              </a:rPr>
            </a:br>
            <a:r>
              <a:rPr lang="en-US" sz="2424">
                <a:solidFill>
                  <a:srgbClr val="E36C09"/>
                </a:solidFill>
                <a:latin typeface="Calibri"/>
              </a:rPr>
              <a:t>	// </a:t>
            </a:r>
            <a:r>
              <a:rPr lang="en-US" sz="2424" i="1">
                <a:solidFill>
                  <a:srgbClr val="E36C09"/>
                </a:solidFill>
                <a:latin typeface="Calibri"/>
              </a:rPr>
              <a:t>each step </a:t>
            </a:r>
          </a:p>
          <a:p>
            <a:pPr marL="0" marR="0" lvl="0" indent="0" defTabSz="914400" eaLnBrk="1" fontAlgn="auto" latinLnBrk="0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5753100" algn="l"/>
              </a:tabLst>
              <a:defRPr/>
            </a:pPr>
            <a:endParaRPr lang="en-US" sz="2424">
              <a:solidFill>
                <a:srgbClr val="E36C09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2600" y="1397000"/>
            <a:ext cx="8666668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 minWeight = infinity </a:t>
            </a:r>
            <a:r>
              <a:rPr lang="en-US" sz="2424">
                <a:solidFill>
                  <a:srgbClr val="E36C09"/>
                </a:solidFill>
                <a:latin typeface="Calibri"/>
              </a:rPr>
              <a:t>//</a:t>
            </a:r>
            <a:r>
              <a:rPr lang="en-US" sz="2424" i="1">
                <a:solidFill>
                  <a:srgbClr val="E36C09"/>
                </a:solidFill>
                <a:latin typeface="Calibri"/>
              </a:rPr>
              <a:t>Choose vertex v with smallest distance toS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E36C09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2600" y="1841500"/>
            <a:ext cx="4202497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 b="1">
                <a:solidFill>
                  <a:srgbClr val="0000CC"/>
                </a:solidFill>
                <a:latin typeface="Calibri"/>
              </a:rPr>
              <a:t>2.</a:t>
            </a:r>
            <a:r>
              <a:rPr lang="en-US" sz="2424" b="1">
                <a:solidFill>
                  <a:srgbClr val="000000"/>
                </a:solidFill>
                <a:latin typeface="Calibri"/>
              </a:rPr>
              <a:t>  loop 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(more vertex w not in S) </a:t>
            </a:r>
          </a:p>
          <a:p>
            <a:pPr>
              <a:lnSpc>
                <a:spcPts val="2700"/>
              </a:lnSpc>
            </a:pPr>
            <a:endParaRPr lang="en-US" sz="2424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9000" y="2247900"/>
            <a:ext cx="7334059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 Find the node in </a:t>
            </a:r>
            <a:r>
              <a:rPr lang="en-US" sz="2424">
                <a:solidFill>
                  <a:srgbClr val="4742C4"/>
                </a:solidFill>
                <a:latin typeface="Calibri"/>
              </a:rPr>
              <a:t>listOfDistanceNode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with vertexTo is w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9000" y="2654300"/>
            <a:ext cx="4423070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2" b="1">
                <a:solidFill>
                  <a:srgbClr val="0000CC"/>
                </a:solidFill>
                <a:latin typeface="Calibri"/>
              </a:rPr>
              <a:t>2.</a:t>
            </a:r>
            <a:r>
              <a:rPr lang="en-US" sz="2422" b="1">
                <a:solidFill>
                  <a:srgbClr val="000000"/>
                </a:solidFill>
                <a:latin typeface="Calibri"/>
              </a:rPr>
              <a:t>  if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 (node.distance &lt; minWeight) </a:t>
            </a:r>
          </a:p>
          <a:p>
            <a:pPr>
              <a:lnSpc>
                <a:spcPts val="2700"/>
              </a:lnSpc>
            </a:pPr>
            <a:endParaRPr lang="en-US" sz="2422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46200" y="3048000"/>
            <a:ext cx="1107676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2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  v = w </a:t>
            </a:r>
          </a:p>
          <a:p>
            <a:pPr>
              <a:lnSpc>
                <a:spcPts val="2700"/>
              </a:lnSpc>
            </a:pPr>
            <a:endParaRPr lang="en-US" sz="2422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46200" y="3454400"/>
            <a:ext cx="3899465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2">
                <a:solidFill>
                  <a:srgbClr val="0000CC"/>
                </a:solidFill>
                <a:latin typeface="Calibri"/>
              </a:rPr>
              <a:t>2.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  minWeight = node.distance </a:t>
            </a:r>
          </a:p>
          <a:p>
            <a:pPr>
              <a:lnSpc>
                <a:spcPts val="2700"/>
              </a:lnSpc>
            </a:pPr>
            <a:endParaRPr lang="en-US" sz="2422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18100" y="4991100"/>
            <a:ext cx="1702389" cy="57708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sz="2028">
                <a:solidFill>
                  <a:srgbClr val="000000"/>
                </a:solidFill>
                <a:latin typeface="Arial"/>
              </a:rPr>
              <a:t>DistanceNode </a:t>
            </a:r>
          </a:p>
          <a:p>
            <a:pPr>
              <a:lnSpc>
                <a:spcPts val="2300"/>
              </a:lnSpc>
            </a:pPr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118100" y="5295900"/>
            <a:ext cx="3984232" cy="18256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915035" defTabSz="914400" eaLnBrk="1" fontAlgn="auto" latinLnBrk="0" hangingPunct="1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914400" algn="l"/>
              </a:tabLst>
              <a:defRPr/>
            </a:pPr>
            <a:r>
              <a:rPr lang="en-US" sz="2028">
                <a:solidFill>
                  <a:srgbClr val="FF0000"/>
                </a:solidFill>
                <a:latin typeface="Arial"/>
              </a:rPr>
              <a:t>vertexFrom</a:t>
            </a:r>
            <a:r>
              <a:rPr lang="en-US" sz="2028">
                <a:solidFill>
                  <a:srgbClr val="000000"/>
                </a:solidFill>
                <a:latin typeface="Arial"/>
              </a:rPr>
              <a:t> &lt;VertexType&gt; </a:t>
            </a:r>
            <a:br>
              <a:rPr lang="en-US" sz="2028">
                <a:solidFill>
                  <a:srgbClr val="FF0000"/>
                </a:solidFill>
                <a:latin typeface="Arial"/>
              </a:rPr>
            </a:br>
            <a:r>
              <a:rPr lang="en-US" sz="2028">
                <a:solidFill>
                  <a:srgbClr val="FF0000"/>
                </a:solidFill>
                <a:latin typeface="Arial"/>
              </a:rPr>
              <a:t>	vertexTo</a:t>
            </a:r>
            <a:r>
              <a:rPr lang="en-US" sz="2028">
                <a:solidFill>
                  <a:srgbClr val="000000"/>
                </a:solidFill>
                <a:latin typeface="Arial"/>
              </a:rPr>
              <a:t> &lt;VertexType&gt; </a:t>
            </a:r>
            <a:br>
              <a:rPr lang="en-US" sz="2026">
                <a:solidFill>
                  <a:srgbClr val="FF0000"/>
                </a:solidFill>
                <a:latin typeface="Arial"/>
              </a:rPr>
            </a:br>
            <a:r>
              <a:rPr lang="en-US" sz="2026">
                <a:solidFill>
                  <a:srgbClr val="FF0000"/>
                </a:solidFill>
                <a:latin typeface="Arial"/>
              </a:rPr>
              <a:t>	distance</a:t>
            </a:r>
            <a:r>
              <a:rPr lang="en-US" sz="2026">
                <a:solidFill>
                  <a:srgbClr val="000000"/>
                </a:solidFill>
                <a:latin typeface="Arial"/>
              </a:rPr>
              <a:t> &lt;WeightType&gt; </a:t>
            </a:r>
            <a:br>
              <a:rPr lang="en-US" sz="2026">
                <a:solidFill>
                  <a:srgbClr val="000000"/>
                </a:solidFill>
                <a:latin typeface="Arial"/>
              </a:rPr>
            </a:br>
            <a:r>
              <a:rPr lang="en-US" sz="2026">
                <a:solidFill>
                  <a:srgbClr val="000000"/>
                </a:solidFill>
                <a:latin typeface="Arial"/>
              </a:rPr>
              <a:t>	End DistanceNode </a:t>
            </a:r>
          </a:p>
          <a:p>
            <a:pPr marL="0" marR="0" lvl="0" indent="915035" defTabSz="914400" eaLnBrk="1" fontAlgn="auto" latinLnBrk="0" hangingPunct="1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914400" algn="l"/>
              </a:tabLst>
              <a:defRPr/>
            </a:pPr>
            <a:endParaRPr lang="en-US" sz="2026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04467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0700" y="139700"/>
            <a:ext cx="3522183" cy="55335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US" sz="2424" b="1">
                <a:solidFill>
                  <a:srgbClr val="0000CC"/>
                </a:solidFill>
                <a:latin typeface="Calibri"/>
              </a:rPr>
              <a:t>3.</a:t>
            </a:r>
            <a:r>
              <a:rPr lang="en-US" sz="2424" b="1">
                <a:solidFill>
                  <a:srgbClr val="000000"/>
                </a:solidFill>
                <a:latin typeface="Calibri"/>
              </a:rPr>
              <a:t>  if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(minWeight &lt; infinity) </a:t>
            </a:r>
          </a:p>
          <a:p>
            <a:pPr>
              <a:lnSpc>
                <a:spcPts val="2100"/>
              </a:lnSpc>
            </a:pPr>
            <a:endParaRPr lang="en-US" sz="2424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95300"/>
            <a:ext cx="1792350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 Add v to S.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889000"/>
            <a:ext cx="2912336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2.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 tree.InsertVertex(v)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295400"/>
            <a:ext cx="2987934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2">
                <a:solidFill>
                  <a:srgbClr val="0000CC"/>
                </a:solidFill>
                <a:latin typeface="Calibri"/>
              </a:rPr>
              <a:t>3.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  tree.InsertEdge(v,w) </a:t>
            </a:r>
          </a:p>
          <a:p>
            <a:pPr>
              <a:lnSpc>
                <a:spcPts val="2700"/>
              </a:lnSpc>
            </a:pPr>
            <a:endParaRPr lang="en-US" sz="2422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663700"/>
            <a:ext cx="7888506" cy="117525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defTabSz="914400" eaLnBrk="1" fontAlgn="auto" latinLnBrk="0" hangingPunct="1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1028700" algn="l"/>
              </a:tabLst>
              <a:defRPr/>
            </a:pPr>
            <a:r>
              <a:rPr lang="en-US" sz="2422" b="1" dirty="0">
                <a:solidFill>
                  <a:srgbClr val="0000CC"/>
                </a:solidFill>
                <a:latin typeface="Calibri"/>
              </a:rPr>
              <a:t>4.</a:t>
            </a:r>
            <a:r>
              <a:rPr lang="en-US" sz="2422" b="1" dirty="0">
                <a:solidFill>
                  <a:srgbClr val="000000"/>
                </a:solidFill>
                <a:latin typeface="Calibri"/>
              </a:rPr>
              <a:t>  loop </a:t>
            </a:r>
            <a:r>
              <a:rPr lang="en-US" sz="2422" dirty="0">
                <a:solidFill>
                  <a:srgbClr val="000000"/>
                </a:solidFill>
                <a:latin typeface="Calibri"/>
              </a:rPr>
              <a:t>(more vertex w not in S) </a:t>
            </a:r>
            <a:r>
              <a:rPr lang="en-US" sz="2422" dirty="0">
                <a:solidFill>
                  <a:srgbClr val="E36C09"/>
                </a:solidFill>
                <a:latin typeface="Calibri"/>
              </a:rPr>
              <a:t>// </a:t>
            </a:r>
            <a:r>
              <a:rPr lang="en-US" sz="2422" i="1" dirty="0">
                <a:solidFill>
                  <a:srgbClr val="E36C09"/>
                </a:solidFill>
                <a:latin typeface="Calibri"/>
              </a:rPr>
              <a:t>Update distances from v to </a:t>
            </a:r>
            <a:br>
              <a:rPr lang="en-US" sz="2422" dirty="0">
                <a:solidFill>
                  <a:srgbClr val="E36C09"/>
                </a:solidFill>
                <a:latin typeface="Calibri"/>
              </a:rPr>
            </a:br>
            <a:r>
              <a:rPr lang="en-US" sz="2422" dirty="0">
                <a:solidFill>
                  <a:srgbClr val="E36C09"/>
                </a:solidFill>
                <a:latin typeface="Calibri"/>
              </a:rPr>
              <a:t>	// </a:t>
            </a:r>
            <a:r>
              <a:rPr lang="en-US" sz="2422" i="1" dirty="0">
                <a:solidFill>
                  <a:srgbClr val="E36C09"/>
                </a:solidFill>
                <a:latin typeface="Calibri"/>
              </a:rPr>
              <a:t>all w not in S if they are smaller than the </a:t>
            </a:r>
          </a:p>
          <a:p>
            <a:pPr marL="0" marR="0" lvl="0" indent="0" defTabSz="914400" eaLnBrk="1" fontAlgn="auto" latinLnBrk="0" hangingPunct="1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1028700" algn="l"/>
              </a:tabLst>
              <a:defRPr/>
            </a:pPr>
            <a:endParaRPr lang="en-US" sz="2422" dirty="0">
              <a:solidFill>
                <a:srgbClr val="E36C09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68500" y="2501900"/>
            <a:ext cx="6922536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2" dirty="0">
                <a:solidFill>
                  <a:srgbClr val="E36C09"/>
                </a:solidFill>
                <a:latin typeface="Calibri"/>
              </a:rPr>
              <a:t>// </a:t>
            </a:r>
            <a:r>
              <a:rPr lang="en-US" sz="2422" i="1" dirty="0">
                <a:solidFill>
                  <a:srgbClr val="E36C09"/>
                </a:solidFill>
                <a:latin typeface="Calibri"/>
              </a:rPr>
              <a:t>previously recorded distances in </a:t>
            </a:r>
            <a:r>
              <a:rPr lang="en-US" sz="2422" i="1" dirty="0" err="1">
                <a:solidFill>
                  <a:srgbClr val="E36C09"/>
                </a:solidFill>
                <a:latin typeface="Calibri"/>
              </a:rPr>
              <a:t>listOfDistanceNode</a:t>
            </a:r>
            <a:r>
              <a:rPr lang="en-US" sz="2422" i="1" dirty="0">
                <a:solidFill>
                  <a:srgbClr val="E36C09"/>
                </a:solidFill>
                <a:latin typeface="Calibri"/>
              </a:rPr>
              <a:t> </a:t>
            </a:r>
          </a:p>
          <a:p>
            <a:pPr>
              <a:lnSpc>
                <a:spcPts val="2700"/>
              </a:lnSpc>
            </a:pPr>
            <a:endParaRPr lang="en-US" sz="2422" dirty="0">
              <a:solidFill>
                <a:srgbClr val="E36C09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1600" y="2908300"/>
            <a:ext cx="7334059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 Find the node in </a:t>
            </a:r>
            <a:r>
              <a:rPr lang="en-US" sz="2424">
                <a:solidFill>
                  <a:srgbClr val="4742C4"/>
                </a:solidFill>
                <a:latin typeface="Calibri"/>
              </a:rPr>
              <a:t>listOfDistanceNode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with vertexTo is w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4742C4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71600" y="3314700"/>
            <a:ext cx="5687647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 b="1" dirty="0">
                <a:solidFill>
                  <a:srgbClr val="0000CC"/>
                </a:solidFill>
                <a:latin typeface="Calibri"/>
              </a:rPr>
              <a:t>2.</a:t>
            </a:r>
            <a:r>
              <a:rPr lang="en-US" sz="2424" b="1" dirty="0">
                <a:solidFill>
                  <a:srgbClr val="000000"/>
                </a:solidFill>
                <a:latin typeface="Calibri"/>
              </a:rPr>
              <a:t>  if</a:t>
            </a:r>
            <a:r>
              <a:rPr lang="en-US" sz="2424" dirty="0">
                <a:solidFill>
                  <a:srgbClr val="000000"/>
                </a:solidFill>
                <a:latin typeface="Calibri"/>
              </a:rPr>
              <a:t> ( </a:t>
            </a:r>
            <a:r>
              <a:rPr lang="en-US" sz="2424" dirty="0" err="1">
                <a:solidFill>
                  <a:srgbClr val="000000"/>
                </a:solidFill>
                <a:latin typeface="Calibri"/>
              </a:rPr>
              <a:t>node.distance</a:t>
            </a:r>
            <a:r>
              <a:rPr lang="en-US" sz="2424" dirty="0">
                <a:solidFill>
                  <a:srgbClr val="000000"/>
                </a:solidFill>
                <a:latin typeface="Calibri"/>
              </a:rPr>
              <a:t> &gt; weight of edge(</a:t>
            </a:r>
            <a:r>
              <a:rPr lang="en-US" sz="2424" dirty="0" err="1">
                <a:solidFill>
                  <a:srgbClr val="000000"/>
                </a:solidFill>
                <a:latin typeface="Calibri"/>
              </a:rPr>
              <a:t>v,w</a:t>
            </a:r>
            <a:r>
              <a:rPr lang="en-US" sz="2424" dirty="0">
                <a:solidFill>
                  <a:srgbClr val="000000"/>
                </a:solidFill>
                <a:latin typeface="Calibri"/>
              </a:rPr>
              <a:t>) ) </a:t>
            </a:r>
          </a:p>
          <a:p>
            <a:pPr>
              <a:lnSpc>
                <a:spcPts val="2700"/>
              </a:lnSpc>
            </a:pPr>
            <a:endParaRPr lang="en-US" sz="2424" b="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28800" y="3708400"/>
            <a:ext cx="3040448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4">
                <a:solidFill>
                  <a:srgbClr val="000000"/>
                </a:solidFill>
                <a:latin typeface="Calibri"/>
              </a:rPr>
              <a:t>  node.vertexFrom = v </a:t>
            </a:r>
          </a:p>
          <a:p>
            <a:pPr>
              <a:lnSpc>
                <a:spcPts val="2700"/>
              </a:lnSpc>
            </a:pPr>
            <a:endParaRPr lang="en-US" sz="2424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28800" y="4114800"/>
            <a:ext cx="5160580" cy="6924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4" dirty="0">
                <a:solidFill>
                  <a:srgbClr val="0000CC"/>
                </a:solidFill>
                <a:latin typeface="Calibri"/>
              </a:rPr>
              <a:t>2.</a:t>
            </a:r>
            <a:r>
              <a:rPr lang="en-US" sz="2424" dirty="0">
                <a:solidFill>
                  <a:srgbClr val="000000"/>
                </a:solidFill>
                <a:latin typeface="Calibri"/>
              </a:rPr>
              <a:t>  </a:t>
            </a:r>
            <a:r>
              <a:rPr lang="en-US" sz="2424" dirty="0" err="1">
                <a:solidFill>
                  <a:srgbClr val="000000"/>
                </a:solidFill>
                <a:latin typeface="Calibri"/>
              </a:rPr>
              <a:t>node.distance</a:t>
            </a:r>
            <a:r>
              <a:rPr lang="en-US" sz="2424" dirty="0">
                <a:solidFill>
                  <a:srgbClr val="000000"/>
                </a:solidFill>
                <a:latin typeface="Calibri"/>
              </a:rPr>
              <a:t> = weight of edge(</a:t>
            </a:r>
            <a:r>
              <a:rPr lang="en-US" sz="2424" dirty="0" err="1">
                <a:solidFill>
                  <a:srgbClr val="000000"/>
                </a:solidFill>
                <a:latin typeface="Calibri"/>
              </a:rPr>
              <a:t>v,w</a:t>
            </a:r>
            <a:r>
              <a:rPr lang="en-US" sz="2424" dirty="0">
                <a:solidFill>
                  <a:srgbClr val="000000"/>
                </a:solidFill>
                <a:latin typeface="Calibri"/>
              </a:rPr>
              <a:t>) ) </a:t>
            </a:r>
          </a:p>
          <a:p>
            <a:pPr>
              <a:lnSpc>
                <a:spcPts val="2700"/>
              </a:lnSpc>
            </a:pPr>
            <a:endParaRPr lang="en-US" sz="2424" dirty="0">
              <a:solidFill>
                <a:srgbClr val="0000CC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28800" y="4495800"/>
            <a:ext cx="235642" cy="37305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424">
                <a:solidFill>
                  <a:srgbClr val="0000CC"/>
                </a:solidFill>
                <a:latin typeface="Calibri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3000" y="4495800"/>
            <a:ext cx="6543330" cy="37305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424">
                <a:solidFill>
                  <a:srgbClr val="000000"/>
                </a:solidFill>
                <a:latin typeface="Calibri"/>
              </a:rPr>
              <a:t>Replace this node with its old node in </a:t>
            </a:r>
            <a:r>
              <a:rPr lang="en-US" sz="2424">
                <a:solidFill>
                  <a:srgbClr val="4742C4"/>
                </a:solidFill>
                <a:latin typeface="Calibri"/>
              </a:rPr>
              <a:t>listOfDistance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700" y="4927600"/>
            <a:ext cx="896079" cy="37273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422" b="1">
                <a:solidFill>
                  <a:srgbClr val="0000CC"/>
                </a:solidFill>
                <a:latin typeface="Calibri"/>
              </a:rPr>
              <a:t>4.</a:t>
            </a:r>
            <a:r>
              <a:rPr lang="en-US" sz="2422" b="1">
                <a:solidFill>
                  <a:srgbClr val="000000"/>
                </a:solidFill>
                <a:latin typeface="Calibri"/>
              </a:rPr>
              <a:t>  else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8100" y="4978400"/>
            <a:ext cx="1630254" cy="3120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028">
                <a:solidFill>
                  <a:srgbClr val="000000"/>
                </a:solidFill>
                <a:latin typeface="Arial"/>
              </a:rPr>
              <a:t>DistanceNode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46700"/>
            <a:ext cx="2511457" cy="37273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422">
                <a:solidFill>
                  <a:srgbClr val="0000CC"/>
                </a:solidFill>
                <a:latin typeface="Calibri"/>
              </a:rPr>
              <a:t>1.</a:t>
            </a:r>
            <a:r>
              <a:rPr lang="en-US" sz="2422">
                <a:solidFill>
                  <a:srgbClr val="000000"/>
                </a:solidFill>
                <a:latin typeface="Calibri"/>
              </a:rPr>
              <a:t>  continue = FALSE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2500" y="5346700"/>
            <a:ext cx="2988126" cy="3120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028">
                <a:solidFill>
                  <a:srgbClr val="FF0000"/>
                </a:solidFill>
                <a:latin typeface="Arial"/>
              </a:rPr>
              <a:t>vertexFrom</a:t>
            </a:r>
            <a:r>
              <a:rPr lang="en-US" sz="2028">
                <a:solidFill>
                  <a:srgbClr val="000000"/>
                </a:solidFill>
                <a:latin typeface="Arial"/>
              </a:rPr>
              <a:t> &lt;VertexType&gt;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" y="5791200"/>
            <a:ext cx="3557769" cy="6668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2422">
                <a:solidFill>
                  <a:srgbClr val="000000"/>
                </a:solidFill>
                <a:latin typeface="Calibri"/>
              </a:rPr>
              <a:t>End MinimumSpanningTree </a:t>
            </a:r>
          </a:p>
          <a:p>
            <a:pPr>
              <a:lnSpc>
                <a:spcPts val="2700"/>
              </a:lnSpc>
            </a:pPr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032500" y="5676900"/>
            <a:ext cx="2781402" cy="10466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800"/>
              </a:lnSpc>
            </a:pPr>
            <a:r>
              <a:rPr lang="en-US" sz="2028">
                <a:solidFill>
                  <a:srgbClr val="FF0000"/>
                </a:solidFill>
                <a:latin typeface="Arial"/>
              </a:rPr>
              <a:t>vertexTo</a:t>
            </a:r>
            <a:r>
              <a:rPr lang="en-US" sz="2028">
                <a:solidFill>
                  <a:srgbClr val="000000"/>
                </a:solidFill>
                <a:latin typeface="Arial"/>
              </a:rPr>
              <a:t> &lt;VertexType&gt; </a:t>
            </a:r>
            <a:br>
              <a:rPr lang="en-US" sz="2026">
                <a:solidFill>
                  <a:srgbClr val="FF0000"/>
                </a:solidFill>
                <a:latin typeface="Arial"/>
              </a:rPr>
            </a:br>
            <a:r>
              <a:rPr lang="en-US" sz="2026">
                <a:solidFill>
                  <a:srgbClr val="FF0000"/>
                </a:solidFill>
                <a:latin typeface="Arial"/>
              </a:rPr>
              <a:t>distance</a:t>
            </a:r>
            <a:r>
              <a:rPr lang="en-US" sz="2026">
                <a:solidFill>
                  <a:srgbClr val="000000"/>
                </a:solidFill>
                <a:latin typeface="Arial"/>
              </a:rPr>
              <a:t> &lt;WeightType&gt; </a:t>
            </a:r>
          </a:p>
          <a:p>
            <a:pPr>
              <a:lnSpc>
                <a:spcPts val="2800"/>
              </a:lnSpc>
            </a:pPr>
            <a:endParaRPr lang="en-US" sz="2026">
              <a:solidFill>
                <a:srgbClr val="FF000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18100" y="6489700"/>
            <a:ext cx="2236190" cy="51296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2026">
                <a:solidFill>
                  <a:srgbClr val="000000"/>
                </a:solidFill>
                <a:latin typeface="Arial"/>
              </a:rPr>
              <a:t>End DistanceNode </a:t>
            </a:r>
          </a:p>
          <a:p>
            <a:pPr>
              <a:lnSpc>
                <a:spcPts val="2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82041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57500" y="279400"/>
            <a:ext cx="3557641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FF0000"/>
                </a:solidFill>
                <a:latin typeface="Calibri"/>
              </a:rPr>
              <a:t>Maximum flows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13006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57500" y="279400"/>
            <a:ext cx="3557641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FF0000"/>
                </a:solidFill>
                <a:latin typeface="Calibri"/>
              </a:rPr>
              <a:t>Maximum flows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6942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57500" y="279400"/>
            <a:ext cx="3557641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FF0000"/>
                </a:solidFill>
                <a:latin typeface="Calibri"/>
              </a:rPr>
              <a:t>Maximum flows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40342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57500" y="279400"/>
            <a:ext cx="3557641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FF0000"/>
                </a:solidFill>
                <a:latin typeface="Calibri"/>
              </a:rPr>
              <a:t>Maximum flows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48888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57500" y="279400"/>
            <a:ext cx="3557641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 dirty="0">
                <a:solidFill>
                  <a:srgbClr val="FF0000"/>
                </a:solidFill>
                <a:latin typeface="Calibri"/>
              </a:rPr>
              <a:t>Maximum flows </a:t>
            </a:r>
          </a:p>
          <a:p>
            <a:pPr>
              <a:lnSpc>
                <a:spcPts val="36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55452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68700" y="279400"/>
            <a:ext cx="2122056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FF0000"/>
                </a:solidFill>
                <a:latin typeface="Calibri"/>
              </a:rPr>
              <a:t>Matching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13259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68700" y="279400"/>
            <a:ext cx="2122056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 dirty="0">
                <a:solidFill>
                  <a:srgbClr val="FF0000"/>
                </a:solidFill>
                <a:latin typeface="Calibri"/>
              </a:rPr>
              <a:t>Matching </a:t>
            </a:r>
          </a:p>
          <a:p>
            <a:pPr>
              <a:lnSpc>
                <a:spcPts val="36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09663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68700" y="279400"/>
            <a:ext cx="2122056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 dirty="0">
                <a:solidFill>
                  <a:srgbClr val="FF0000"/>
                </a:solidFill>
                <a:latin typeface="Calibri"/>
              </a:rPr>
              <a:t>Matching </a:t>
            </a:r>
          </a:p>
          <a:p>
            <a:pPr>
              <a:lnSpc>
                <a:spcPts val="36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66368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68700" y="279400"/>
            <a:ext cx="2122056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FF0000"/>
                </a:solidFill>
                <a:latin typeface="Calibri"/>
              </a:rPr>
              <a:t>Matching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0983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68700" y="279400"/>
            <a:ext cx="2122056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 dirty="0">
                <a:solidFill>
                  <a:srgbClr val="FF0000"/>
                </a:solidFill>
                <a:latin typeface="Calibri"/>
              </a:rPr>
              <a:t>Matching </a:t>
            </a:r>
          </a:p>
          <a:p>
            <a:pPr>
              <a:lnSpc>
                <a:spcPts val="36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86750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09900" y="279400"/>
            <a:ext cx="3259547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FF0000"/>
                </a:solidFill>
                <a:latin typeface="Calibri"/>
              </a:rPr>
              <a:t>Graph coloring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19622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09900" y="279400"/>
            <a:ext cx="3259547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FF0000"/>
                </a:solidFill>
                <a:latin typeface="Calibri"/>
              </a:rPr>
              <a:t>Graph coloring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78330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09900" y="279400"/>
            <a:ext cx="3259547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FF0000"/>
                </a:solidFill>
                <a:latin typeface="Calibri"/>
              </a:rPr>
              <a:t>Graph coloring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452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09900" y="279400"/>
            <a:ext cx="3259547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>
                <a:solidFill>
                  <a:srgbClr val="FF0000"/>
                </a:solidFill>
                <a:latin typeface="Calibri"/>
              </a:rPr>
              <a:t>Graph coloring </a:t>
            </a:r>
          </a:p>
          <a:p>
            <a:pPr>
              <a:lnSpc>
                <a:spcPts val="36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9936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09900" y="279400"/>
            <a:ext cx="3259547" cy="86882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4011" b="1" dirty="0">
                <a:solidFill>
                  <a:srgbClr val="FF0000"/>
                </a:solidFill>
                <a:latin typeface="Calibri"/>
              </a:rPr>
              <a:t>Graph coloring </a:t>
            </a:r>
          </a:p>
          <a:p>
            <a:pPr>
              <a:lnSpc>
                <a:spcPts val="36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9569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6&quot;/&gt;&lt;/object&gt;&lt;object type=&quot;3&quot; unique_id=&quot;10004&quot;&gt;&lt;property id=&quot;20148&quot; value=&quot;5&quot;/&gt;&lt;property id=&quot;20300&quot; value=&quot;Slide 2&quot;/&gt;&lt;property id=&quot;20307&quot; value=&quot;257&quot;/&gt;&lt;/object&gt;&lt;object type=&quot;3&quot; unique_id=&quot;10005&quot;&gt;&lt;property id=&quot;20148&quot; value=&quot;5&quot;/&gt;&lt;property id=&quot;20300&quot; value=&quot;Slide 3&quot;/&gt;&lt;property id=&quot;20307&quot; value=&quot;259&quot;/&gt;&lt;/object&gt;&lt;object type=&quot;3&quot; unique_id=&quot;10006&quot;&gt;&lt;property id=&quot;20148&quot; value=&quot;5&quot;/&gt;&lt;property id=&quot;20300&quot; value=&quot;Slide 4&quot;/&gt;&lt;property id=&quot;20307&quot; value=&quot;261&quot;/&gt;&lt;/object&gt;&lt;object type=&quot;3&quot; unique_id=&quot;10007&quot;&gt;&lt;property id=&quot;20148&quot; value=&quot;5&quot;/&gt;&lt;property id=&quot;20300&quot; value=&quot;Slide 5&quot;/&gt;&lt;property id=&quot;20307&quot; value=&quot;262&quot;/&gt;&lt;/object&gt;&lt;object type=&quot;3&quot; unique_id=&quot;10008&quot;&gt;&lt;property id=&quot;20148&quot; value=&quot;5&quot;/&gt;&lt;property id=&quot;20300&quot; value=&quot;Slide 6&quot;/&gt;&lt;property id=&quot;20307&quot; value=&quot;263&quot;/&gt;&lt;/object&gt;&lt;object type=&quot;3&quot; unique_id=&quot;10009&quot;&gt;&lt;property id=&quot;20148&quot; value=&quot;5&quot;/&gt;&lt;property id=&quot;20300&quot; value=&quot;Slide 7&quot;/&gt;&lt;property id=&quot;20307&quot; value=&quot;264&quot;/&gt;&lt;/object&gt;&lt;object type=&quot;3&quot; unique_id=&quot;10010&quot;&gt;&lt;property id=&quot;20148&quot; value=&quot;5&quot;/&gt;&lt;property id=&quot;20300&quot; value=&quot;Slide 8&quot;/&gt;&lt;property id=&quot;20307&quot; value=&quot;265&quot;/&gt;&lt;/object&gt;&lt;object type=&quot;3&quot; unique_id=&quot;10011&quot;&gt;&lt;property id=&quot;20148&quot; value=&quot;5&quot;/&gt;&lt;property id=&quot;20300&quot; value=&quot;Slide 9&quot;/&gt;&lt;property id=&quot;20307&quot; value=&quot;266&quot;/&gt;&lt;/object&gt;&lt;object type=&quot;3&quot; unique_id=&quot;10012&quot;&gt;&lt;property id=&quot;20148&quot; value=&quot;5&quot;/&gt;&lt;property id=&quot;20300&quot; value=&quot;Slide 10&quot;/&gt;&lt;property id=&quot;20307&quot; value=&quot;267&quot;/&gt;&lt;/object&gt;&lt;object type=&quot;3&quot; unique_id=&quot;10013&quot;&gt;&lt;property id=&quot;20148&quot; value=&quot;5&quot;/&gt;&lt;property id=&quot;20300&quot; value=&quot;Slide 11&quot;/&gt;&lt;property id=&quot;20307&quot; value=&quot;268&quot;/&gt;&lt;/object&gt;&lt;object type=&quot;3&quot; unique_id=&quot;10014&quot;&gt;&lt;property id=&quot;20148&quot; value=&quot;5&quot;/&gt;&lt;property id=&quot;20300&quot; value=&quot;Slide 12&quot;/&gt;&lt;property id=&quot;20307&quot; value=&quot;269&quot;/&gt;&lt;/object&gt;&lt;object type=&quot;3&quot; unique_id=&quot;10015&quot;&gt;&lt;property id=&quot;20148&quot; value=&quot;5&quot;/&gt;&lt;property id=&quot;20300&quot; value=&quot;Slide 13&quot;/&gt;&lt;property id=&quot;20307&quot; value=&quot;270&quot;/&gt;&lt;/object&gt;&lt;object type=&quot;3&quot; unique_id=&quot;10016&quot;&gt;&lt;property id=&quot;20148&quot; value=&quot;5&quot;/&gt;&lt;property id=&quot;20300&quot; value=&quot;Slide 14&quot;/&gt;&lt;property id=&quot;20307&quot; value=&quot;271&quot;/&gt;&lt;/object&gt;&lt;object type=&quot;3&quot; unique_id=&quot;10017&quot;&gt;&lt;property id=&quot;20148&quot; value=&quot;5&quot;/&gt;&lt;property id=&quot;20300&quot; value=&quot;Slide 15&quot;/&gt;&lt;property id=&quot;20307&quot; value=&quot;272&quot;/&gt;&lt;/object&gt;&lt;object type=&quot;3&quot; unique_id=&quot;10018&quot;&gt;&lt;property id=&quot;20148&quot; value=&quot;5&quot;/&gt;&lt;property id=&quot;20300&quot; value=&quot;Slide 16&quot;/&gt;&lt;property id=&quot;20307&quot; value=&quot;273&quot;/&gt;&lt;/object&gt;&lt;object type=&quot;3&quot; unique_id=&quot;10019&quot;&gt;&lt;property id=&quot;20148&quot; value=&quot;5&quot;/&gt;&lt;property id=&quot;20300&quot; value=&quot;Slide 17&quot;/&gt;&lt;property id=&quot;20307&quot; value=&quot;274&quot;/&gt;&lt;/object&gt;&lt;object type=&quot;3&quot; unique_id=&quot;10020&quot;&gt;&lt;property id=&quot;20148&quot; value=&quot;5&quot;/&gt;&lt;property id=&quot;20300&quot; value=&quot;Slide 18&quot;/&gt;&lt;property id=&quot;20307&quot; value=&quot;275&quot;/&gt;&lt;/object&gt;&lt;object type=&quot;3&quot; unique_id=&quot;10021&quot;&gt;&lt;property id=&quot;20148&quot; value=&quot;5&quot;/&gt;&lt;property id=&quot;20300&quot; value=&quot;Slide 19&quot;/&gt;&lt;property id=&quot;20307&quot; value=&quot;276&quot;/&gt;&lt;/object&gt;&lt;object type=&quot;3&quot; unique_id=&quot;10022&quot;&gt;&lt;property id=&quot;20148&quot; value=&quot;5&quot;/&gt;&lt;property id=&quot;20300&quot; value=&quot;Slide 20&quot;/&gt;&lt;property id=&quot;20307&quot; value=&quot;277&quot;/&gt;&lt;/object&gt;&lt;object type=&quot;3&quot; unique_id=&quot;10023&quot;&gt;&lt;property id=&quot;20148&quot; value=&quot;5&quot;/&gt;&lt;property id=&quot;20300&quot; value=&quot;Slide 21&quot;/&gt;&lt;property id=&quot;20307&quot; value=&quot;278&quot;/&gt;&lt;/object&gt;&lt;object type=&quot;3&quot; unique_id=&quot;10024&quot;&gt;&lt;property id=&quot;20148&quot; value=&quot;5&quot;/&gt;&lt;property id=&quot;20300&quot; value=&quot;Slide 22&quot;/&gt;&lt;property id=&quot;20307&quot; value=&quot;279&quot;/&gt;&lt;/object&gt;&lt;object type=&quot;3&quot; unique_id=&quot;10025&quot;&gt;&lt;property id=&quot;20148&quot; value=&quot;5&quot;/&gt;&lt;property id=&quot;20300&quot; value=&quot;Slide 23&quot;/&gt;&lt;property id=&quot;20307&quot; value=&quot;280&quot;/&gt;&lt;/object&gt;&lt;object type=&quot;3&quot; unique_id=&quot;10026&quot;&gt;&lt;property id=&quot;20148&quot; value=&quot;5&quot;/&gt;&lt;property id=&quot;20300&quot; value=&quot;Slide 24&quot;/&gt;&lt;property id=&quot;20307&quot; value=&quot;281&quot;/&gt;&lt;/object&gt;&lt;object type=&quot;3&quot; unique_id=&quot;10027&quot;&gt;&lt;property id=&quot;20148&quot; value=&quot;5&quot;/&gt;&lt;property id=&quot;20300&quot; value=&quot;Slide 25&quot;/&gt;&lt;property id=&quot;20307&quot; value=&quot;282&quot;/&gt;&lt;/object&gt;&lt;object type=&quot;3&quot; unique_id=&quot;10028&quot;&gt;&lt;property id=&quot;20148&quot; value=&quot;5&quot;/&gt;&lt;property id=&quot;20300&quot; value=&quot;Slide 26&quot;/&gt;&lt;property id=&quot;20307&quot; value=&quot;283&quot;/&gt;&lt;/object&gt;&lt;object type=&quot;3&quot; unique_id=&quot;10029&quot;&gt;&lt;property id=&quot;20148&quot; value=&quot;5&quot;/&gt;&lt;property id=&quot;20300&quot; value=&quot;Slide 27&quot;/&gt;&lt;property id=&quot;20307&quot; value=&quot;284&quot;/&gt;&lt;/object&gt;&lt;object type=&quot;3&quot; unique_id=&quot;10030&quot;&gt;&lt;property id=&quot;20148&quot; value=&quot;5&quot;/&gt;&lt;property id=&quot;20300&quot; value=&quot;Slide 28&quot;/&gt;&lt;property id=&quot;20307&quot; value=&quot;285&quot;/&gt;&lt;/object&gt;&lt;object type=&quot;3&quot; unique_id=&quot;10031&quot;&gt;&lt;property id=&quot;20148&quot; value=&quot;5&quot;/&gt;&lt;property id=&quot;20300&quot; value=&quot;Slide 29&quot;/&gt;&lt;property id=&quot;20307&quot; value=&quot;286&quot;/&gt;&lt;/object&gt;&lt;object type=&quot;3&quot; unique_id=&quot;10032&quot;&gt;&lt;property id=&quot;20148&quot; value=&quot;5&quot;/&gt;&lt;property id=&quot;20300&quot; value=&quot;Slide 30&quot;/&gt;&lt;property id=&quot;20307&quot; value=&quot;287&quot;/&gt;&lt;/object&gt;&lt;object type=&quot;3&quot; unique_id=&quot;10033&quot;&gt;&lt;property id=&quot;20148&quot; value=&quot;5&quot;/&gt;&lt;property id=&quot;20300&quot; value=&quot;Slide 31&quot;/&gt;&lt;property id=&quot;20307&quot; value=&quot;288&quot;/&gt;&lt;/object&gt;&lt;object type=&quot;3&quot; unique_id=&quot;10034&quot;&gt;&lt;property id=&quot;20148&quot; value=&quot;5&quot;/&gt;&lt;property id=&quot;20300&quot; value=&quot;Slide 32&quot;/&gt;&lt;property id=&quot;20307&quot; value=&quot;289&quot;/&gt;&lt;/object&gt;&lt;object type=&quot;3&quot; unique_id=&quot;10035&quot;&gt;&lt;property id=&quot;20148&quot; value=&quot;5&quot;/&gt;&lt;property id=&quot;20300&quot; value=&quot;Slide 33&quot;/&gt;&lt;property id=&quot;20307&quot; value=&quot;290&quot;/&gt;&lt;/object&gt;&lt;object type=&quot;3&quot; unique_id=&quot;10036&quot;&gt;&lt;property id=&quot;20148&quot; value=&quot;5&quot;/&gt;&lt;property id=&quot;20300&quot; value=&quot;Slide 34&quot;/&gt;&lt;property id=&quot;20307&quot; value=&quot;291&quot;/&gt;&lt;/object&gt;&lt;object type=&quot;3&quot; unique_id=&quot;10037&quot;&gt;&lt;property id=&quot;20148&quot; value=&quot;5&quot;/&gt;&lt;property id=&quot;20300&quot; value=&quot;Slide 35&quot;/&gt;&lt;property id=&quot;20307&quot; value=&quot;292&quot;/&gt;&lt;/object&gt;&lt;object type=&quot;3&quot; unique_id=&quot;10038&quot;&gt;&lt;property id=&quot;20148&quot; value=&quot;5&quot;/&gt;&lt;property id=&quot;20300&quot; value=&quot;Slide 36&quot;/&gt;&lt;property id=&quot;20307&quot; value=&quot;293&quot;/&gt;&lt;/object&gt;&lt;object type=&quot;3&quot; unique_id=&quot;10039&quot;&gt;&lt;property id=&quot;20148&quot; value=&quot;5&quot;/&gt;&lt;property id=&quot;20300&quot; value=&quot;Slide 37&quot;/&gt;&lt;property id=&quot;20307&quot; value=&quot;294&quot;/&gt;&lt;/object&gt;&lt;object type=&quot;3&quot; unique_id=&quot;10040&quot;&gt;&lt;property id=&quot;20148&quot; value=&quot;5&quot;/&gt;&lt;property id=&quot;20300&quot; value=&quot;Slide 38&quot;/&gt;&lt;property id=&quot;20307&quot; value=&quot;295&quot;/&gt;&lt;/object&gt;&lt;object type=&quot;3&quot; unique_id=&quot;10041&quot;&gt;&lt;property id=&quot;20148&quot; value=&quot;5&quot;/&gt;&lt;property id=&quot;20300&quot; value=&quot;Slide 39&quot;/&gt;&lt;property id=&quot;20307&quot; value=&quot;296&quot;/&gt;&lt;/object&gt;&lt;object type=&quot;3&quot; unique_id=&quot;10042&quot;&gt;&lt;property id=&quot;20148&quot; value=&quot;5&quot;/&gt;&lt;property id=&quot;20300&quot; value=&quot;Slide 40&quot;/&gt;&lt;property id=&quot;20307&quot; value=&quot;297&quot;/&gt;&lt;/object&gt;&lt;object type=&quot;3&quot; unique_id=&quot;10043&quot;&gt;&lt;property id=&quot;20148&quot; value=&quot;5&quot;/&gt;&lt;property id=&quot;20300&quot; value=&quot;Slide 41&quot;/&gt;&lt;property id=&quot;20307&quot; value=&quot;298&quot;/&gt;&lt;/object&gt;&lt;object type=&quot;3&quot; unique_id=&quot;10044&quot;&gt;&lt;property id=&quot;20148&quot; value=&quot;5&quot;/&gt;&lt;property id=&quot;20300&quot; value=&quot;Slide 42&quot;/&gt;&lt;property id=&quot;20307&quot; value=&quot;299&quot;/&gt;&lt;/object&gt;&lt;object type=&quot;3&quot; unique_id=&quot;10045&quot;&gt;&lt;property id=&quot;20148&quot; value=&quot;5&quot;/&gt;&lt;property id=&quot;20300&quot; value=&quot;Slide 43&quot;/&gt;&lt;property id=&quot;20307&quot; value=&quot;300&quot;/&gt;&lt;/object&gt;&lt;object type=&quot;3&quot; unique_id=&quot;10046&quot;&gt;&lt;property id=&quot;20148&quot; value=&quot;5&quot;/&gt;&lt;property id=&quot;20300&quot; value=&quot;Slide 44&quot;/&gt;&lt;property id=&quot;20307&quot; value=&quot;301&quot;/&gt;&lt;/object&gt;&lt;object type=&quot;3&quot; unique_id=&quot;10047&quot;&gt;&lt;property id=&quot;20148&quot; value=&quot;5&quot;/&gt;&lt;property id=&quot;20300&quot; value=&quot;Slide 45&quot;/&gt;&lt;property id=&quot;20307&quot; value=&quot;302&quot;/&gt;&lt;/object&gt;&lt;object type=&quot;3&quot; unique_id=&quot;10048&quot;&gt;&lt;property id=&quot;20148&quot; value=&quot;5&quot;/&gt;&lt;property id=&quot;20300&quot; value=&quot;Slide 46&quot;/&gt;&lt;property id=&quot;20307&quot; value=&quot;303&quot;/&gt;&lt;/object&gt;&lt;object type=&quot;3&quot; unique_id=&quot;10049&quot;&gt;&lt;property id=&quot;20148&quot; value=&quot;5&quot;/&gt;&lt;property id=&quot;20300&quot; value=&quot;Slide 47&quot;/&gt;&lt;property id=&quot;20307&quot; value=&quot;304&quot;/&gt;&lt;/object&gt;&lt;object type=&quot;3&quot; unique_id=&quot;10050&quot;&gt;&lt;property id=&quot;20148&quot; value=&quot;5&quot;/&gt;&lt;property id=&quot;20300&quot; value=&quot;Slide 48&quot;/&gt;&lt;property id=&quot;20307&quot; value=&quot;305&quot;/&gt;&lt;/object&gt;&lt;object type=&quot;3&quot; unique_id=&quot;10051&quot;&gt;&lt;property id=&quot;20148&quot; value=&quot;5&quot;/&gt;&lt;property id=&quot;20300&quot; value=&quot;Slide 49&quot;/&gt;&lt;property id=&quot;20307&quot; value=&quot;306&quot;/&gt;&lt;/object&gt;&lt;object type=&quot;3&quot; unique_id=&quot;10052&quot;&gt;&lt;property id=&quot;20148&quot; value=&quot;5&quot;/&gt;&lt;property id=&quot;20300&quot; value=&quot;Slide 50&quot;/&gt;&lt;property id=&quot;20307&quot; value=&quot;307&quot;/&gt;&lt;/object&gt;&lt;object type=&quot;3&quot; unique_id=&quot;10053&quot;&gt;&lt;property id=&quot;20148&quot; value=&quot;5&quot;/&gt;&lt;property id=&quot;20300&quot; value=&quot;Slide 51&quot;/&gt;&lt;property id=&quot;20307&quot; value=&quot;308&quot;/&gt;&lt;/object&gt;&lt;object type=&quot;3&quot; unique_id=&quot;10054&quot;&gt;&lt;property id=&quot;20148&quot; value=&quot;5&quot;/&gt;&lt;property id=&quot;20300&quot; value=&quot;Slide 52&quot;/&gt;&lt;property id=&quot;20307&quot; value=&quot;309&quot;/&gt;&lt;/object&gt;&lt;object type=&quot;3&quot; unique_id=&quot;10055&quot;&gt;&lt;property id=&quot;20148&quot; value=&quot;5&quot;/&gt;&lt;property id=&quot;20300&quot; value=&quot;Slide 53&quot;/&gt;&lt;property id=&quot;20307&quot; value=&quot;310&quot;/&gt;&lt;/object&gt;&lt;object type=&quot;3&quot; unique_id=&quot;10056&quot;&gt;&lt;property id=&quot;20148&quot; value=&quot;5&quot;/&gt;&lt;property id=&quot;20300&quot; value=&quot;Slide 54&quot;/&gt;&lt;property id=&quot;20307&quot; value=&quot;311&quot;/&gt;&lt;/object&gt;&lt;object type=&quot;3&quot; unique_id=&quot;10057&quot;&gt;&lt;property id=&quot;20148&quot; value=&quot;5&quot;/&gt;&lt;property id=&quot;20300&quot; value=&quot;Slide 55&quot;/&gt;&lt;property id=&quot;20307&quot; value=&quot;312&quot;/&gt;&lt;/object&gt;&lt;object type=&quot;3&quot; unique_id=&quot;10058&quot;&gt;&lt;property id=&quot;20148&quot; value=&quot;5&quot;/&gt;&lt;property id=&quot;20300&quot; value=&quot;Slide 56&quot;/&gt;&lt;property id=&quot;20307&quot; value=&quot;313&quot;/&gt;&lt;/object&gt;&lt;object type=&quot;3&quot; unique_id=&quot;10059&quot;&gt;&lt;property id=&quot;20148&quot; value=&quot;5&quot;/&gt;&lt;property id=&quot;20300&quot; value=&quot;Slide 57&quot;/&gt;&lt;property id=&quot;20307&quot; value=&quot;314&quot;/&gt;&lt;/object&gt;&lt;object type=&quot;3&quot; unique_id=&quot;10060&quot;&gt;&lt;property id=&quot;20148&quot; value=&quot;5&quot;/&gt;&lt;property id=&quot;20300&quot; value=&quot;Slide 58&quot;/&gt;&lt;property id=&quot;20307&quot; value=&quot;315&quot;/&gt;&lt;/object&gt;&lt;object type=&quot;3&quot; unique_id=&quot;10061&quot;&gt;&lt;property id=&quot;20148&quot; value=&quot;5&quot;/&gt;&lt;property id=&quot;20300&quot; value=&quot;Slide 60&quot;/&gt;&lt;property id=&quot;20307&quot; value=&quot;316&quot;/&gt;&lt;/object&gt;&lt;object type=&quot;3&quot; unique_id=&quot;10062&quot;&gt;&lt;property id=&quot;20148&quot; value=&quot;5&quot;/&gt;&lt;property id=&quot;20300&quot; value=&quot;Slide 61&quot;/&gt;&lt;property id=&quot;20307&quot; value=&quot;317&quot;/&gt;&lt;/object&gt;&lt;object type=&quot;3&quot; unique_id=&quot;10063&quot;&gt;&lt;property id=&quot;20148&quot; value=&quot;5&quot;/&gt;&lt;property id=&quot;20300&quot; value=&quot;Slide 62&quot;/&gt;&lt;property id=&quot;20307&quot; value=&quot;318&quot;/&gt;&lt;/object&gt;&lt;object type=&quot;3&quot; unique_id=&quot;10064&quot;&gt;&lt;property id=&quot;20148&quot; value=&quot;5&quot;/&gt;&lt;property id=&quot;20300&quot; value=&quot;Slide 63&quot;/&gt;&lt;property id=&quot;20307&quot; value=&quot;319&quot;/&gt;&lt;/object&gt;&lt;object type=&quot;3&quot; unique_id=&quot;10065&quot;&gt;&lt;property id=&quot;20148&quot; value=&quot;5&quot;/&gt;&lt;property id=&quot;20300&quot; value=&quot;Slide 64&quot;/&gt;&lt;property id=&quot;20307&quot; value=&quot;320&quot;/&gt;&lt;/object&gt;&lt;object type=&quot;3&quot; unique_id=&quot;10066&quot;&gt;&lt;property id=&quot;20148&quot; value=&quot;5&quot;/&gt;&lt;property id=&quot;20300&quot; value=&quot;Slide 65&quot;/&gt;&lt;property id=&quot;20307&quot; value=&quot;321&quot;/&gt;&lt;/object&gt;&lt;object type=&quot;3&quot; unique_id=&quot;10067&quot;&gt;&lt;property id=&quot;20148&quot; value=&quot;5&quot;/&gt;&lt;property id=&quot;20300&quot; value=&quot;Slide 66&quot;/&gt;&lt;property id=&quot;20307&quot; value=&quot;322&quot;/&gt;&lt;/object&gt;&lt;object type=&quot;3&quot; unique_id=&quot;10068&quot;&gt;&lt;property id=&quot;20148&quot; value=&quot;5&quot;/&gt;&lt;property id=&quot;20300&quot; value=&quot;Slide 67&quot;/&gt;&lt;property id=&quot;20307&quot; value=&quot;323&quot;/&gt;&lt;/object&gt;&lt;object type=&quot;3&quot; unique_id=&quot;10069&quot;&gt;&lt;property id=&quot;20148&quot; value=&quot;5&quot;/&gt;&lt;property id=&quot;20300&quot; value=&quot;Slide 68&quot;/&gt;&lt;property id=&quot;20307&quot; value=&quot;324&quot;/&gt;&lt;/object&gt;&lt;object type=&quot;3&quot; unique_id=&quot;10070&quot;&gt;&lt;property id=&quot;20148&quot; value=&quot;5&quot;/&gt;&lt;property id=&quot;20300&quot; value=&quot;Slide 69&quot;/&gt;&lt;property id=&quot;20307&quot; value=&quot;325&quot;/&gt;&lt;/object&gt;&lt;object type=&quot;3&quot; unique_id=&quot;10071&quot;&gt;&lt;property id=&quot;20148&quot; value=&quot;5&quot;/&gt;&lt;property id=&quot;20300&quot; value=&quot;Slide 70&quot;/&gt;&lt;property id=&quot;20307&quot; value=&quot;326&quot;/&gt;&lt;/object&gt;&lt;object type=&quot;3&quot; unique_id=&quot;10072&quot;&gt;&lt;property id=&quot;20148&quot; value=&quot;5&quot;/&gt;&lt;property id=&quot;20300&quot; value=&quot;Slide 71&quot;/&gt;&lt;property id=&quot;20307&quot; value=&quot;327&quot;/&gt;&lt;/object&gt;&lt;object type=&quot;3&quot; unique_id=&quot;10073&quot;&gt;&lt;property id=&quot;20148&quot; value=&quot;5&quot;/&gt;&lt;property id=&quot;20300&quot; value=&quot;Slide 72&quot;/&gt;&lt;property id=&quot;20307&quot; value=&quot;328&quot;/&gt;&lt;/object&gt;&lt;object type=&quot;3&quot; unique_id=&quot;10074&quot;&gt;&lt;property id=&quot;20148&quot; value=&quot;5&quot;/&gt;&lt;property id=&quot;20300&quot; value=&quot;Slide 73&quot;/&gt;&lt;property id=&quot;20307&quot; value=&quot;329&quot;/&gt;&lt;/object&gt;&lt;object type=&quot;3&quot; unique_id=&quot;10075&quot;&gt;&lt;property id=&quot;20148&quot; value=&quot;5&quot;/&gt;&lt;property id=&quot;20300&quot; value=&quot;Slide 74&quot;/&gt;&lt;property id=&quot;20307&quot; value=&quot;330&quot;/&gt;&lt;/object&gt;&lt;object type=&quot;3&quot; unique_id=&quot;10076&quot;&gt;&lt;property id=&quot;20148&quot; value=&quot;5&quot;/&gt;&lt;property id=&quot;20300&quot; value=&quot;Slide 75&quot;/&gt;&lt;property id=&quot;20307&quot; value=&quot;331&quot;/&gt;&lt;/object&gt;&lt;object type=&quot;3&quot; unique_id=&quot;10077&quot;&gt;&lt;property id=&quot;20148&quot; value=&quot;5&quot;/&gt;&lt;property id=&quot;20300&quot; value=&quot;Slide 76&quot;/&gt;&lt;property id=&quot;20307&quot; value=&quot;332&quot;/&gt;&lt;/object&gt;&lt;object type=&quot;3&quot; unique_id=&quot;10078&quot;&gt;&lt;property id=&quot;20148&quot; value=&quot;5&quot;/&gt;&lt;property id=&quot;20300&quot; value=&quot;Slide 77&quot;/&gt;&lt;property id=&quot;20307&quot; value=&quot;333&quot;/&gt;&lt;/object&gt;&lt;object type=&quot;3&quot; unique_id=&quot;10079&quot;&gt;&lt;property id=&quot;20148&quot; value=&quot;5&quot;/&gt;&lt;property id=&quot;20300&quot; value=&quot;Slide 78&quot;/&gt;&lt;property id=&quot;20307&quot; value=&quot;334&quot;/&gt;&lt;/object&gt;&lt;object type=&quot;3&quot; unique_id=&quot;10080&quot;&gt;&lt;property id=&quot;20148&quot; value=&quot;5&quot;/&gt;&lt;property id=&quot;20300&quot; value=&quot;Slide 79&quot;/&gt;&lt;property id=&quot;20307&quot; value=&quot;335&quot;/&gt;&lt;/object&gt;&lt;object type=&quot;3&quot; unique_id=&quot;10081&quot;&gt;&lt;property id=&quot;20148&quot; value=&quot;5&quot;/&gt;&lt;property id=&quot;20300&quot; value=&quot;Slide 80&quot;/&gt;&lt;property id=&quot;20307&quot; value=&quot;336&quot;/&gt;&lt;/object&gt;&lt;object type=&quot;3&quot; unique_id=&quot;10082&quot;&gt;&lt;property id=&quot;20148&quot; value=&quot;5&quot;/&gt;&lt;property id=&quot;20300&quot; value=&quot;Slide 81&quot;/&gt;&lt;property id=&quot;20307&quot; value=&quot;337&quot;/&gt;&lt;/object&gt;&lt;object type=&quot;3&quot; unique_id=&quot;10083&quot;&gt;&lt;property id=&quot;20148&quot; value=&quot;5&quot;/&gt;&lt;property id=&quot;20300&quot; value=&quot;Slide 82&quot;/&gt;&lt;property id=&quot;20307&quot; value=&quot;338&quot;/&gt;&lt;/object&gt;&lt;object type=&quot;3&quot; unique_id=&quot;10084&quot;&gt;&lt;property id=&quot;20148&quot; value=&quot;5&quot;/&gt;&lt;property id=&quot;20300&quot; value=&quot;Slide 83&quot;/&gt;&lt;property id=&quot;20307&quot; value=&quot;339&quot;/&gt;&lt;/object&gt;&lt;object type=&quot;3&quot; unique_id=&quot;10085&quot;&gt;&lt;property id=&quot;20148&quot; value=&quot;5&quot;/&gt;&lt;property id=&quot;20300&quot; value=&quot;Slide 84&quot;/&gt;&lt;property id=&quot;20307&quot; value=&quot;340&quot;/&gt;&lt;/object&gt;&lt;object type=&quot;3&quot; unique_id=&quot;10681&quot;&gt;&lt;property id=&quot;20148&quot; value=&quot;5&quot;/&gt;&lt;property id=&quot;20300&quot; value=&quot;Slide 59&quot;/&gt;&lt;property id=&quot;20307&quot; value=&quot;341&quot;/&gt;&lt;/object&gt;&lt;/object&gt;&lt;object type=&quot;8&quot; unique_id=&quot;10170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3302</Words>
  <Application>Microsoft Office PowerPoint</Application>
  <PresentationFormat>On-screen Show (4:3)</PresentationFormat>
  <Paragraphs>513</Paragraphs>
  <Slides>84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9" baseType="lpstr">
      <vt:lpstr>Arial</vt:lpstr>
      <vt:lpstr>Calibri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VLBT</dc:creator>
  <cp:lastModifiedBy>Rang</cp:lastModifiedBy>
  <cp:revision>31</cp:revision>
  <cp:lastPrinted>2015-10-25T16:36:18Z</cp:lastPrinted>
  <dcterms:created xsi:type="dcterms:W3CDTF">2012-09-07T16:43:40Z</dcterms:created>
  <dcterms:modified xsi:type="dcterms:W3CDTF">2018-12-03T03:59:11Z</dcterms:modified>
</cp:coreProperties>
</file>